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7"/>
  </p:notesMasterIdLst>
  <p:sldIdLst>
    <p:sldId id="432" r:id="rId2"/>
    <p:sldId id="257" r:id="rId3"/>
    <p:sldId id="634" r:id="rId4"/>
    <p:sldId id="608" r:id="rId5"/>
    <p:sldId id="598" r:id="rId6"/>
    <p:sldId id="599" r:id="rId7"/>
    <p:sldId id="601" r:id="rId8"/>
    <p:sldId id="594" r:id="rId9"/>
    <p:sldId id="571" r:id="rId10"/>
    <p:sldId id="636" r:id="rId11"/>
    <p:sldId id="613" r:id="rId12"/>
    <p:sldId id="595" r:id="rId13"/>
    <p:sldId id="630" r:id="rId14"/>
    <p:sldId id="633" r:id="rId15"/>
    <p:sldId id="618" r:id="rId16"/>
    <p:sldId id="295" r:id="rId17"/>
    <p:sldId id="296" r:id="rId18"/>
    <p:sldId id="325" r:id="rId19"/>
    <p:sldId id="310" r:id="rId20"/>
    <p:sldId id="631" r:id="rId21"/>
    <p:sldId id="622" r:id="rId22"/>
    <p:sldId id="623" r:id="rId23"/>
    <p:sldId id="291" r:id="rId24"/>
    <p:sldId id="632" r:id="rId25"/>
    <p:sldId id="624" r:id="rId26"/>
    <p:sldId id="635" r:id="rId27"/>
    <p:sldId id="600" r:id="rId28"/>
    <p:sldId id="621" r:id="rId29"/>
    <p:sldId id="614" r:id="rId30"/>
    <p:sldId id="615" r:id="rId31"/>
    <p:sldId id="539" r:id="rId32"/>
    <p:sldId id="605" r:id="rId33"/>
    <p:sldId id="606" r:id="rId34"/>
    <p:sldId id="607" r:id="rId35"/>
    <p:sldId id="321" r:id="rId36"/>
    <p:sldId id="619" r:id="rId37"/>
    <p:sldId id="309" r:id="rId38"/>
    <p:sldId id="308" r:id="rId39"/>
    <p:sldId id="322" r:id="rId40"/>
    <p:sldId id="326" r:id="rId41"/>
    <p:sldId id="311" r:id="rId42"/>
    <p:sldId id="620" r:id="rId43"/>
    <p:sldId id="302" r:id="rId44"/>
    <p:sldId id="301" r:id="rId45"/>
    <p:sldId id="294" r:id="rId46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aiki" initials="T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4B7E"/>
    <a:srgbClr val="E46C0B"/>
    <a:srgbClr val="D9E2F0"/>
    <a:srgbClr val="C00100"/>
    <a:srgbClr val="A6A6A6"/>
    <a:srgbClr val="880B25"/>
    <a:srgbClr val="D8D0E2"/>
    <a:srgbClr val="FEEADB"/>
    <a:srgbClr val="EFA66A"/>
    <a:srgbClr val="3760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間スタイル 4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淡色スタイル 1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10" autoAdjust="0"/>
    <p:restoredTop sz="97193" autoAdjust="0"/>
  </p:normalViewPr>
  <p:slideViewPr>
    <p:cSldViewPr snapToGrid="0">
      <p:cViewPr varScale="1">
        <p:scale>
          <a:sx n="124" d="100"/>
          <a:sy n="124" d="100"/>
        </p:scale>
        <p:origin x="584" y="168"/>
      </p:cViewPr>
      <p:guideLst>
        <p:guide orient="horz" pos="867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250D9F-D4E5-8448-843E-70A12EB8AA09}" type="datetimeFigureOut">
              <a:rPr kumimoji="1" lang="ja-JP" altLang="en-US" smtClean="0"/>
              <a:t>2023/5/18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E5F588-9779-D047-BF3B-43D391AF66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380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eaLnBrk="1" fontAlgn="t" latinLnBrk="0" hangingPunct="1"/>
            <a:r>
              <a:rPr kumimoji="1" lang="en-US" altLang="ja-JP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am</a:t>
            </a:r>
          </a:p>
          <a:p>
            <a:pPr rtl="0" eaLnBrk="1" fontAlgn="t" latinLnBrk="0" hangingPunct="1"/>
            <a:r>
              <a:rPr kumimoji="1" lang="en-US" altLang="ja-JP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title</a:t>
            </a:r>
            <a:endParaRPr kumimoji="1" lang="ja-JP" altLang="ja-JP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5F588-9779-D047-BF3B-43D391AF661D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10635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This slide is the table of contents for my presentation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E5F588-9779-D047-BF3B-43D391AF661D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84269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4554F-8F37-344C-8EB2-8966B0F98BCF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32944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4554F-8F37-344C-8EB2-8966B0F98BCF}" type="slidenum">
              <a:rPr kumimoji="1" lang="ja-JP" altLang="en-US" smtClean="0"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82445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4554F-8F37-344C-8EB2-8966B0F98BCF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28397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4554F-8F37-344C-8EB2-8966B0F98BCF}" type="slidenum">
              <a:rPr kumimoji="1" lang="ja-JP" altLang="en-US" smtClean="0"/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39126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4554F-8F37-344C-8EB2-8966B0F98BCF}" type="slidenum">
              <a:rPr kumimoji="1" lang="ja-JP" altLang="en-US" smtClean="0"/>
              <a:t>23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71538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B2405-803A-B845-83EB-D80E60CFD36E}" type="slidenum">
              <a:rPr kumimoji="1" lang="ja-JP" altLang="en-US" smtClean="0"/>
              <a:t>31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59378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9A4AA4-A6FC-6848-8EAF-34142A7AE15D}" type="slidenum">
              <a:rPr kumimoji="1" lang="ja-JP" altLang="en-US" smtClean="0"/>
              <a:t>32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12220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4554F-8F37-344C-8EB2-8966B0F98BCF}" type="slidenum">
              <a:rPr kumimoji="1" lang="ja-JP" altLang="en-US" smtClean="0"/>
              <a:t>37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13835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4554F-8F37-344C-8EB2-8966B0F98BCF}" type="slidenum">
              <a:rPr kumimoji="1" lang="ja-JP" altLang="en-US" smtClean="0"/>
              <a:t>43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51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4554F-8F37-344C-8EB2-8966B0F98BCF}" type="slidenum">
              <a:rPr kumimoji="1" lang="ja-JP" altLang="en-US" smtClean="0"/>
              <a:t>45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5793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1"/>
          <p:cNvSpPr>
            <a:spLocks noGrp="1"/>
          </p:cNvSpPr>
          <p:nvPr>
            <p:ph type="ctrTitle" hasCustomPrompt="1"/>
          </p:nvPr>
        </p:nvSpPr>
        <p:spPr>
          <a:xfrm>
            <a:off x="2202982" y="1145513"/>
            <a:ext cx="6255217" cy="283072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000" b="1">
                <a:latin typeface="+mj-ea"/>
                <a:ea typeface="+mj-ea"/>
              </a:defRPr>
            </a:lvl1pPr>
          </a:lstStyle>
          <a:p>
            <a:r>
              <a:rPr kumimoji="1" lang="ja-JP" altLang="en-US" dirty="0"/>
              <a:t>プレゼンのタイトル</a:t>
            </a:r>
          </a:p>
        </p:txBody>
      </p:sp>
      <p:sp>
        <p:nvSpPr>
          <p:cNvPr id="8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2202981" y="4261982"/>
            <a:ext cx="6255217" cy="1752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aseline="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学校</a:t>
            </a:r>
            <a:r>
              <a:rPr kumimoji="1" lang="en-US" altLang="ja-JP" dirty="0"/>
              <a:t> </a:t>
            </a:r>
            <a:r>
              <a:rPr kumimoji="1" lang="ja-JP" altLang="en-US" dirty="0"/>
              <a:t>学部</a:t>
            </a:r>
            <a:r>
              <a:rPr kumimoji="1" lang="en-US" altLang="ja-JP" dirty="0"/>
              <a:t> </a:t>
            </a:r>
            <a:r>
              <a:rPr kumimoji="1" lang="ja-JP" altLang="en-US" dirty="0"/>
              <a:t>学科</a:t>
            </a:r>
            <a:r>
              <a:rPr kumimoji="1" lang="en-US" altLang="ja-JP" dirty="0"/>
              <a:t> </a:t>
            </a:r>
            <a:r>
              <a:rPr kumimoji="1" lang="ja-JP" altLang="en-US" dirty="0"/>
              <a:t>研究室</a:t>
            </a:r>
            <a:r>
              <a:rPr kumimoji="1" lang="en-US" altLang="ja-JP" dirty="0"/>
              <a:t> </a:t>
            </a:r>
            <a:r>
              <a:rPr kumimoji="1" lang="ja-JP" altLang="en-US" dirty="0"/>
              <a:t>学籍番号</a:t>
            </a:r>
            <a:r>
              <a:rPr kumimoji="1" lang="en-US" altLang="ja-JP" dirty="0"/>
              <a:t> </a:t>
            </a:r>
            <a:r>
              <a:rPr kumimoji="1" lang="ja-JP" altLang="en-US" dirty="0"/>
              <a:t>氏名など</a:t>
            </a:r>
            <a:endParaRPr kumimoji="1" lang="en-US" altLang="ja-JP" dirty="0"/>
          </a:p>
        </p:txBody>
      </p:sp>
      <p:cxnSp>
        <p:nvCxnSpPr>
          <p:cNvPr id="9" name="直線コネクタ 8"/>
          <p:cNvCxnSpPr/>
          <p:nvPr/>
        </p:nvCxnSpPr>
        <p:spPr>
          <a:xfrm>
            <a:off x="2202983" y="4123116"/>
            <a:ext cx="6941017" cy="0"/>
          </a:xfrm>
          <a:prstGeom prst="line">
            <a:avLst/>
          </a:prstGeom>
          <a:ln w="76200" cmpd="sng"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/>
          <p:cNvCxnSpPr/>
          <p:nvPr/>
        </p:nvCxnSpPr>
        <p:spPr>
          <a:xfrm>
            <a:off x="0" y="4123116"/>
            <a:ext cx="2202983" cy="0"/>
          </a:xfrm>
          <a:prstGeom prst="line">
            <a:avLst/>
          </a:prstGeom>
          <a:ln w="76200" cmpd="sng"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/>
          <p:cNvCxnSpPr/>
          <p:nvPr/>
        </p:nvCxnSpPr>
        <p:spPr>
          <a:xfrm>
            <a:off x="2202983" y="4123116"/>
            <a:ext cx="6941017" cy="0"/>
          </a:xfrm>
          <a:prstGeom prst="line">
            <a:avLst/>
          </a:prstGeom>
          <a:ln w="76200" cmpd="sng"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/>
          <p:cNvCxnSpPr/>
          <p:nvPr/>
        </p:nvCxnSpPr>
        <p:spPr>
          <a:xfrm>
            <a:off x="0" y="4123116"/>
            <a:ext cx="2202983" cy="0"/>
          </a:xfrm>
          <a:prstGeom prst="line">
            <a:avLst/>
          </a:prstGeom>
          <a:ln w="76200" cmpd="sng"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テキスト プレースホルダー 14"/>
          <p:cNvSpPr>
            <a:spLocks noGrp="1"/>
          </p:cNvSpPr>
          <p:nvPr>
            <p:ph type="body" sz="quarter" idx="10" hasCustomPrompt="1"/>
          </p:nvPr>
        </p:nvSpPr>
        <p:spPr>
          <a:xfrm>
            <a:off x="2202981" y="2200873"/>
            <a:ext cx="1164163" cy="360000"/>
          </a:xfrm>
          <a:prstGeom prst="rect">
            <a:avLst/>
          </a:prstGeom>
          <a:ln w="12700">
            <a:solidFill>
              <a:srgbClr val="FF0000"/>
            </a:solidFill>
          </a:ln>
        </p:spPr>
        <p:txBody>
          <a:bodyPr anchor="ctr"/>
          <a:lstStyle>
            <a:lvl1pPr marL="0" indent="0" algn="ctr">
              <a:lnSpc>
                <a:spcPct val="150000"/>
              </a:lnSpc>
              <a:buNone/>
              <a:defRPr sz="1800">
                <a:solidFill>
                  <a:srgbClr val="FF0000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 dirty="0"/>
              <a:t>発表名</a:t>
            </a:r>
          </a:p>
        </p:txBody>
      </p:sp>
    </p:spTree>
    <p:extLst>
      <p:ext uri="{BB962C8B-B14F-4D97-AF65-F5344CB8AC3E}">
        <p14:creationId xmlns:p14="http://schemas.microsoft.com/office/powerpoint/2010/main" val="955142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800519" y="3372880"/>
            <a:ext cx="7778250" cy="2542743"/>
          </a:xfrm>
          <a:prstGeom prst="rect">
            <a:avLst/>
          </a:prstGeom>
        </p:spPr>
        <p:txBody>
          <a:bodyPr>
            <a:normAutofit/>
          </a:bodyPr>
          <a:lstStyle>
            <a:lvl1pPr marL="342000" indent="-450000" algn="l">
              <a:buFont typeface="Wingdings" charset="2"/>
              <a:buChar char="n"/>
              <a:defRPr sz="2400" b="0">
                <a:solidFill>
                  <a:schemeClr val="tx1"/>
                </a:solidFill>
                <a:latin typeface="+mn-ea"/>
                <a:ea typeface="+mn-ea"/>
              </a:defRPr>
            </a:lvl1pPr>
            <a:lvl2pPr marL="914400" indent="-457200" algn="l">
              <a:buSzPct val="120000"/>
              <a:buFont typeface=".AppleSystemUIFont" charset="-120"/>
              <a:buChar char="−"/>
              <a:defRPr sz="2400">
                <a:solidFill>
                  <a:schemeClr val="tx1"/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発表内容（箇条書き）</a:t>
            </a:r>
            <a:endParaRPr kumimoji="1" lang="en-US" altLang="ja-JP" dirty="0"/>
          </a:p>
        </p:txBody>
      </p:sp>
      <p:cxnSp>
        <p:nvCxnSpPr>
          <p:cNvPr id="8" name="直線コネクタ 7"/>
          <p:cNvCxnSpPr/>
          <p:nvPr/>
        </p:nvCxnSpPr>
        <p:spPr>
          <a:xfrm>
            <a:off x="2202983" y="2904456"/>
            <a:ext cx="6941017" cy="0"/>
          </a:xfrm>
          <a:prstGeom prst="line">
            <a:avLst/>
          </a:prstGeom>
          <a:ln w="76200" cmpd="sng"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/>
          <p:cNvCxnSpPr/>
          <p:nvPr/>
        </p:nvCxnSpPr>
        <p:spPr>
          <a:xfrm>
            <a:off x="0" y="2904456"/>
            <a:ext cx="2202983" cy="0"/>
          </a:xfrm>
          <a:prstGeom prst="line">
            <a:avLst/>
          </a:prstGeom>
          <a:ln w="76200" cmpd="sng"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-1" y="6661915"/>
            <a:ext cx="9163693" cy="20940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/>
        </p:nvSpPr>
        <p:spPr>
          <a:xfrm>
            <a:off x="8656028" y="6456541"/>
            <a:ext cx="376755" cy="376755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9050" cmpd="sng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cxnSp>
        <p:nvCxnSpPr>
          <p:cNvPr id="13" name="直線コネクタ 12"/>
          <p:cNvCxnSpPr/>
          <p:nvPr/>
        </p:nvCxnSpPr>
        <p:spPr>
          <a:xfrm>
            <a:off x="2202983" y="2904456"/>
            <a:ext cx="6941017" cy="0"/>
          </a:xfrm>
          <a:prstGeom prst="line">
            <a:avLst/>
          </a:prstGeom>
          <a:ln w="76200" cmpd="sng"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/>
          <p:cNvCxnSpPr/>
          <p:nvPr/>
        </p:nvCxnSpPr>
        <p:spPr>
          <a:xfrm>
            <a:off x="0" y="2904456"/>
            <a:ext cx="2202983" cy="0"/>
          </a:xfrm>
          <a:prstGeom prst="line">
            <a:avLst/>
          </a:prstGeom>
          <a:ln w="76200" cmpd="sng"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正方形/長方形 14"/>
          <p:cNvSpPr/>
          <p:nvPr/>
        </p:nvSpPr>
        <p:spPr>
          <a:xfrm>
            <a:off x="-1" y="6661915"/>
            <a:ext cx="9163693" cy="20940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6" name="円/楕円 15"/>
          <p:cNvSpPr/>
          <p:nvPr/>
        </p:nvSpPr>
        <p:spPr>
          <a:xfrm>
            <a:off x="8656028" y="6456541"/>
            <a:ext cx="376755" cy="376755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9050" cmpd="sng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9" name="スライド番号プレースホルダー 5"/>
          <p:cNvSpPr>
            <a:spLocks noGrp="1"/>
          </p:cNvSpPr>
          <p:nvPr>
            <p:ph type="sldNum" sz="quarter" idx="12"/>
          </p:nvPr>
        </p:nvSpPr>
        <p:spPr>
          <a:xfrm>
            <a:off x="8602923" y="6477896"/>
            <a:ext cx="485283" cy="365125"/>
          </a:xfrm>
          <a:prstGeom prst="rect">
            <a:avLst/>
          </a:prstGeom>
        </p:spPr>
        <p:txBody>
          <a:bodyPr anchor="ctr"/>
          <a:lstStyle>
            <a:lvl1pPr algn="ctr">
              <a:defRPr sz="1400" b="0" i="0">
                <a:solidFill>
                  <a:srgbClr val="FFFFFF"/>
                </a:solidFill>
                <a:latin typeface="+mn-lt"/>
                <a:cs typeface="Helvetica Neue Light"/>
              </a:defRPr>
            </a:lvl1pPr>
          </a:lstStyle>
          <a:p>
            <a:fld id="{D21F6909-ABCB-BB45-AC56-A8377246EBB2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10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0" y="6661915"/>
            <a:ext cx="9144000" cy="198218"/>
          </a:xfrm>
          <a:prstGeom prst="rect">
            <a:avLst/>
          </a:prstGeom>
        </p:spPr>
        <p:txBody>
          <a:bodyPr anchor="ctr"/>
          <a:lstStyle>
            <a:lvl1pPr algn="ctr">
              <a:defRPr sz="1100" b="0" i="0">
                <a:solidFill>
                  <a:schemeClr val="bg1"/>
                </a:solidFill>
                <a:latin typeface="+mj-lt"/>
                <a:cs typeface="Helvetica Neue Light"/>
              </a:defRPr>
            </a:lvl1pPr>
          </a:lstStyle>
          <a:p>
            <a:r>
              <a:rPr lang="en-US" altLang="ja-JP"/>
              <a:t>Tokyo University of Science - Computational Materials Science Laboratory -</a:t>
            </a:r>
            <a:endParaRPr lang="ja-JP" altLang="en-US" dirty="0"/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1197580" y="2319681"/>
            <a:ext cx="3248390" cy="5847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kumimoji="1" lang="en-US" altLang="ja-JP" sz="3200" b="1" dirty="0"/>
              <a:t>Table of Contents</a:t>
            </a:r>
            <a:endParaRPr kumimoji="1" lang="ja-JP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900209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正方形/長方形 49"/>
          <p:cNvSpPr/>
          <p:nvPr/>
        </p:nvSpPr>
        <p:spPr>
          <a:xfrm>
            <a:off x="-1" y="6661915"/>
            <a:ext cx="9163693" cy="20940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6" name="円/楕円 45"/>
          <p:cNvSpPr/>
          <p:nvPr/>
        </p:nvSpPr>
        <p:spPr>
          <a:xfrm>
            <a:off x="8656028" y="6456541"/>
            <a:ext cx="376755" cy="376755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9050" cmpd="sng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188379" y="0"/>
            <a:ext cx="8955621" cy="663341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lnSpc>
                <a:spcPct val="150000"/>
              </a:lnSpc>
              <a:defRPr sz="3200">
                <a:latin typeface="+mj-ea"/>
                <a:ea typeface="+mj-ea"/>
              </a:defRPr>
            </a:lvl1pPr>
          </a:lstStyle>
          <a:p>
            <a:r>
              <a:rPr kumimoji="1" lang="ja-JP" altLang="en-US" dirty="0"/>
              <a:t>スライドのタイトル</a:t>
            </a:r>
          </a:p>
        </p:txBody>
      </p:sp>
      <p:cxnSp>
        <p:nvCxnSpPr>
          <p:cNvPr id="7" name="直線コネクタ 6"/>
          <p:cNvCxnSpPr/>
          <p:nvPr/>
        </p:nvCxnSpPr>
        <p:spPr>
          <a:xfrm>
            <a:off x="0" y="663341"/>
            <a:ext cx="9144000" cy="0"/>
          </a:xfrm>
          <a:prstGeom prst="line">
            <a:avLst/>
          </a:prstGeom>
          <a:ln w="50800" cmpd="sng"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円/楕円 57"/>
          <p:cNvSpPr/>
          <p:nvPr/>
        </p:nvSpPr>
        <p:spPr>
          <a:xfrm>
            <a:off x="1" y="474964"/>
            <a:ext cx="188378" cy="376756"/>
          </a:xfrm>
          <a:custGeom>
            <a:avLst/>
            <a:gdLst>
              <a:gd name="connsiteX0" fmla="*/ 0 w 376755"/>
              <a:gd name="connsiteY0" fmla="*/ 188378 h 376755"/>
              <a:gd name="connsiteX1" fmla="*/ 188378 w 376755"/>
              <a:gd name="connsiteY1" fmla="*/ 0 h 376755"/>
              <a:gd name="connsiteX2" fmla="*/ 376756 w 376755"/>
              <a:gd name="connsiteY2" fmla="*/ 188378 h 376755"/>
              <a:gd name="connsiteX3" fmla="*/ 188378 w 376755"/>
              <a:gd name="connsiteY3" fmla="*/ 376756 h 376755"/>
              <a:gd name="connsiteX4" fmla="*/ 0 w 376755"/>
              <a:gd name="connsiteY4" fmla="*/ 188378 h 376755"/>
              <a:gd name="connsiteX0" fmla="*/ 0 w 376756"/>
              <a:gd name="connsiteY0" fmla="*/ 188378 h 376756"/>
              <a:gd name="connsiteX1" fmla="*/ 188378 w 376756"/>
              <a:gd name="connsiteY1" fmla="*/ 0 h 376756"/>
              <a:gd name="connsiteX2" fmla="*/ 376756 w 376756"/>
              <a:gd name="connsiteY2" fmla="*/ 188378 h 376756"/>
              <a:gd name="connsiteX3" fmla="*/ 188378 w 376756"/>
              <a:gd name="connsiteY3" fmla="*/ 376756 h 376756"/>
              <a:gd name="connsiteX4" fmla="*/ 0 w 376756"/>
              <a:gd name="connsiteY4" fmla="*/ 188378 h 376756"/>
              <a:gd name="connsiteX0" fmla="*/ 0 w 376756"/>
              <a:gd name="connsiteY0" fmla="*/ 188378 h 376756"/>
              <a:gd name="connsiteX1" fmla="*/ 188378 w 376756"/>
              <a:gd name="connsiteY1" fmla="*/ 0 h 376756"/>
              <a:gd name="connsiteX2" fmla="*/ 376756 w 376756"/>
              <a:gd name="connsiteY2" fmla="*/ 188378 h 376756"/>
              <a:gd name="connsiteX3" fmla="*/ 188378 w 376756"/>
              <a:gd name="connsiteY3" fmla="*/ 376756 h 376756"/>
              <a:gd name="connsiteX4" fmla="*/ 0 w 376756"/>
              <a:gd name="connsiteY4" fmla="*/ 188378 h 376756"/>
              <a:gd name="connsiteX0" fmla="*/ 4165 w 190421"/>
              <a:gd name="connsiteY0" fmla="*/ 178853 h 376756"/>
              <a:gd name="connsiteX1" fmla="*/ 2043 w 190421"/>
              <a:gd name="connsiteY1" fmla="*/ 0 h 376756"/>
              <a:gd name="connsiteX2" fmla="*/ 190421 w 190421"/>
              <a:gd name="connsiteY2" fmla="*/ 188378 h 376756"/>
              <a:gd name="connsiteX3" fmla="*/ 2043 w 190421"/>
              <a:gd name="connsiteY3" fmla="*/ 376756 h 376756"/>
              <a:gd name="connsiteX4" fmla="*/ 4165 w 190421"/>
              <a:gd name="connsiteY4" fmla="*/ 178853 h 376756"/>
              <a:gd name="connsiteX0" fmla="*/ 2122 w 188378"/>
              <a:gd name="connsiteY0" fmla="*/ 178853 h 376756"/>
              <a:gd name="connsiteX1" fmla="*/ 0 w 188378"/>
              <a:gd name="connsiteY1" fmla="*/ 0 h 376756"/>
              <a:gd name="connsiteX2" fmla="*/ 188378 w 188378"/>
              <a:gd name="connsiteY2" fmla="*/ 188378 h 376756"/>
              <a:gd name="connsiteX3" fmla="*/ 0 w 188378"/>
              <a:gd name="connsiteY3" fmla="*/ 376756 h 376756"/>
              <a:gd name="connsiteX4" fmla="*/ 2122 w 188378"/>
              <a:gd name="connsiteY4" fmla="*/ 178853 h 376756"/>
              <a:gd name="connsiteX0" fmla="*/ 0 w 189431"/>
              <a:gd name="connsiteY0" fmla="*/ 178853 h 376756"/>
              <a:gd name="connsiteX1" fmla="*/ 1053 w 189431"/>
              <a:gd name="connsiteY1" fmla="*/ 0 h 376756"/>
              <a:gd name="connsiteX2" fmla="*/ 189431 w 189431"/>
              <a:gd name="connsiteY2" fmla="*/ 188378 h 376756"/>
              <a:gd name="connsiteX3" fmla="*/ 1053 w 189431"/>
              <a:gd name="connsiteY3" fmla="*/ 376756 h 376756"/>
              <a:gd name="connsiteX4" fmla="*/ 0 w 189431"/>
              <a:gd name="connsiteY4" fmla="*/ 178853 h 376756"/>
              <a:gd name="connsiteX0" fmla="*/ 2122 w 188378"/>
              <a:gd name="connsiteY0" fmla="*/ 194728 h 376756"/>
              <a:gd name="connsiteX1" fmla="*/ 0 w 188378"/>
              <a:gd name="connsiteY1" fmla="*/ 0 h 376756"/>
              <a:gd name="connsiteX2" fmla="*/ 188378 w 188378"/>
              <a:gd name="connsiteY2" fmla="*/ 188378 h 376756"/>
              <a:gd name="connsiteX3" fmla="*/ 0 w 188378"/>
              <a:gd name="connsiteY3" fmla="*/ 376756 h 376756"/>
              <a:gd name="connsiteX4" fmla="*/ 2122 w 188378"/>
              <a:gd name="connsiteY4" fmla="*/ 194728 h 376756"/>
              <a:gd name="connsiteX0" fmla="*/ 2122 w 188378"/>
              <a:gd name="connsiteY0" fmla="*/ 194728 h 376756"/>
              <a:gd name="connsiteX1" fmla="*/ 0 w 188378"/>
              <a:gd name="connsiteY1" fmla="*/ 0 h 376756"/>
              <a:gd name="connsiteX2" fmla="*/ 188378 w 188378"/>
              <a:gd name="connsiteY2" fmla="*/ 188378 h 376756"/>
              <a:gd name="connsiteX3" fmla="*/ 0 w 188378"/>
              <a:gd name="connsiteY3" fmla="*/ 376756 h 376756"/>
              <a:gd name="connsiteX4" fmla="*/ 2122 w 188378"/>
              <a:gd name="connsiteY4" fmla="*/ 194728 h 376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378" h="376756">
                <a:moveTo>
                  <a:pt x="2122" y="194728"/>
                </a:moveTo>
                <a:cubicBezTo>
                  <a:pt x="2122" y="90690"/>
                  <a:pt x="737" y="104775"/>
                  <a:pt x="0" y="0"/>
                </a:cubicBezTo>
                <a:cubicBezTo>
                  <a:pt x="104038" y="0"/>
                  <a:pt x="188378" y="84340"/>
                  <a:pt x="188378" y="188378"/>
                </a:cubicBezTo>
                <a:cubicBezTo>
                  <a:pt x="188378" y="292416"/>
                  <a:pt x="104038" y="376756"/>
                  <a:pt x="0" y="376756"/>
                </a:cubicBezTo>
                <a:cubicBezTo>
                  <a:pt x="737" y="278331"/>
                  <a:pt x="2122" y="298766"/>
                  <a:pt x="2122" y="194728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 w="19050" cmpd="sng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67" name="テキスト プレースホルダー 66"/>
          <p:cNvSpPr>
            <a:spLocks noGrp="1"/>
          </p:cNvSpPr>
          <p:nvPr>
            <p:ph type="body" sz="quarter" idx="13" hasCustomPrompt="1"/>
          </p:nvPr>
        </p:nvSpPr>
        <p:spPr>
          <a:xfrm>
            <a:off x="1282333" y="1621994"/>
            <a:ext cx="6492152" cy="3066370"/>
          </a:xfrm>
          <a:prstGeom prst="rect">
            <a:avLst/>
          </a:prstGeom>
        </p:spPr>
        <p:txBody>
          <a:bodyPr vert="horz"/>
          <a:lstStyle>
            <a:lvl1pPr marL="342000" indent="-342900">
              <a:lnSpc>
                <a:spcPct val="100000"/>
              </a:lnSpc>
              <a:spcBef>
                <a:spcPts val="1800"/>
              </a:spcBef>
              <a:spcAft>
                <a:spcPts val="400"/>
              </a:spcAft>
              <a:buClr>
                <a:schemeClr val="accent6">
                  <a:lumMod val="75000"/>
                </a:schemeClr>
              </a:buClr>
              <a:buSzPct val="140000"/>
              <a:buFont typeface="ヒラギノ角ゴ ProN W3"/>
              <a:buChar char="|"/>
              <a:defRPr sz="2800" b="1">
                <a:latin typeface="+mn-ea"/>
                <a:ea typeface="+mn-ea"/>
              </a:defRPr>
            </a:lvl1pPr>
            <a:lvl2pPr marL="741600" indent="-392400">
              <a:lnSpc>
                <a:spcPct val="100000"/>
              </a:lnSpc>
              <a:spcBef>
                <a:spcPts val="225"/>
              </a:spcBef>
              <a:buClr>
                <a:schemeClr val="accent6">
                  <a:lumMod val="75000"/>
                </a:schemeClr>
              </a:buClr>
              <a:buSzPct val="75000"/>
              <a:buFont typeface="Wingdings" charset="2"/>
              <a:buChar char="n"/>
              <a:defRPr sz="2800">
                <a:latin typeface="+mn-ea"/>
                <a:ea typeface="+mn-ea"/>
              </a:defRPr>
            </a:lvl2pPr>
            <a:lvl3pPr marL="1143000" indent="-410400">
              <a:lnSpc>
                <a:spcPct val="100000"/>
              </a:lnSpc>
              <a:spcBef>
                <a:spcPts val="25"/>
              </a:spcBef>
              <a:buClr>
                <a:schemeClr val="accent6">
                  <a:lumMod val="75000"/>
                </a:schemeClr>
              </a:buClr>
              <a:buSzPct val="120000"/>
              <a:buFont typeface="HiraKakuProN-W3" charset="-128"/>
              <a:buChar char="−"/>
              <a:defRPr sz="2400">
                <a:latin typeface="+mn-ea"/>
                <a:ea typeface="+mn-ea"/>
              </a:defRPr>
            </a:lvl3pPr>
            <a:lvl4pPr marL="1600200" indent="-228600">
              <a:lnSpc>
                <a:spcPct val="100000"/>
              </a:lnSpc>
              <a:spcBef>
                <a:spcPts val="25"/>
              </a:spcBef>
              <a:buClr>
                <a:schemeClr val="accent6">
                  <a:lumMod val="75000"/>
                </a:schemeClr>
              </a:buClr>
              <a:buFont typeface="Arial"/>
              <a:buChar char="•"/>
              <a:defRPr>
                <a:latin typeface="+mn-ea"/>
                <a:ea typeface="+mn-ea"/>
              </a:defRPr>
            </a:lvl4pPr>
            <a:lvl5pPr marL="2057400" indent="-228600">
              <a:lnSpc>
                <a:spcPct val="100000"/>
              </a:lnSpc>
              <a:spcBef>
                <a:spcPts val="25"/>
              </a:spcBef>
              <a:buClr>
                <a:schemeClr val="accent6">
                  <a:lumMod val="75000"/>
                </a:schemeClr>
              </a:buClr>
              <a:buFont typeface="Arial"/>
              <a:buChar char="•"/>
              <a:defRPr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dirty="0"/>
              <a:t>第一段落</a:t>
            </a:r>
          </a:p>
          <a:p>
            <a:pPr lvl="1"/>
            <a:r>
              <a:rPr kumimoji="1" lang="ja-JP" altLang="en-US" dirty="0"/>
              <a:t>第二段落</a:t>
            </a:r>
          </a:p>
          <a:p>
            <a:pPr lvl="2"/>
            <a:r>
              <a:rPr kumimoji="1" lang="ja-JP" altLang="en-US" dirty="0"/>
              <a:t>第三段落</a:t>
            </a:r>
          </a:p>
          <a:p>
            <a:pPr lvl="3"/>
            <a:r>
              <a:rPr kumimoji="1" lang="ja-JP" altLang="en-US" dirty="0"/>
              <a:t>第四段落</a:t>
            </a:r>
          </a:p>
          <a:p>
            <a:pPr lvl="4"/>
            <a:r>
              <a:rPr kumimoji="1" lang="ja-JP" altLang="en-US" dirty="0"/>
              <a:t>第五段落</a:t>
            </a:r>
          </a:p>
        </p:txBody>
      </p:sp>
      <p:sp>
        <p:nvSpPr>
          <p:cNvPr id="10" name="正方形/長方形 9"/>
          <p:cNvSpPr/>
          <p:nvPr/>
        </p:nvSpPr>
        <p:spPr>
          <a:xfrm>
            <a:off x="-1" y="6661915"/>
            <a:ext cx="9163693" cy="20940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/>
        </p:nvSpPr>
        <p:spPr>
          <a:xfrm>
            <a:off x="8656028" y="6456541"/>
            <a:ext cx="376755" cy="376755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9050" cmpd="sng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cxnSp>
        <p:nvCxnSpPr>
          <p:cNvPr id="12" name="直線コネクタ 11"/>
          <p:cNvCxnSpPr/>
          <p:nvPr/>
        </p:nvCxnSpPr>
        <p:spPr>
          <a:xfrm>
            <a:off x="0" y="663341"/>
            <a:ext cx="9144000" cy="0"/>
          </a:xfrm>
          <a:prstGeom prst="line">
            <a:avLst/>
          </a:prstGeom>
          <a:ln w="50800" cmpd="sng"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円/楕円 57"/>
          <p:cNvSpPr/>
          <p:nvPr/>
        </p:nvSpPr>
        <p:spPr>
          <a:xfrm>
            <a:off x="1" y="474964"/>
            <a:ext cx="188378" cy="376756"/>
          </a:xfrm>
          <a:custGeom>
            <a:avLst/>
            <a:gdLst>
              <a:gd name="connsiteX0" fmla="*/ 0 w 376755"/>
              <a:gd name="connsiteY0" fmla="*/ 188378 h 376755"/>
              <a:gd name="connsiteX1" fmla="*/ 188378 w 376755"/>
              <a:gd name="connsiteY1" fmla="*/ 0 h 376755"/>
              <a:gd name="connsiteX2" fmla="*/ 376756 w 376755"/>
              <a:gd name="connsiteY2" fmla="*/ 188378 h 376755"/>
              <a:gd name="connsiteX3" fmla="*/ 188378 w 376755"/>
              <a:gd name="connsiteY3" fmla="*/ 376756 h 376755"/>
              <a:gd name="connsiteX4" fmla="*/ 0 w 376755"/>
              <a:gd name="connsiteY4" fmla="*/ 188378 h 376755"/>
              <a:gd name="connsiteX0" fmla="*/ 0 w 376756"/>
              <a:gd name="connsiteY0" fmla="*/ 188378 h 376756"/>
              <a:gd name="connsiteX1" fmla="*/ 188378 w 376756"/>
              <a:gd name="connsiteY1" fmla="*/ 0 h 376756"/>
              <a:gd name="connsiteX2" fmla="*/ 376756 w 376756"/>
              <a:gd name="connsiteY2" fmla="*/ 188378 h 376756"/>
              <a:gd name="connsiteX3" fmla="*/ 188378 w 376756"/>
              <a:gd name="connsiteY3" fmla="*/ 376756 h 376756"/>
              <a:gd name="connsiteX4" fmla="*/ 0 w 376756"/>
              <a:gd name="connsiteY4" fmla="*/ 188378 h 376756"/>
              <a:gd name="connsiteX0" fmla="*/ 0 w 376756"/>
              <a:gd name="connsiteY0" fmla="*/ 188378 h 376756"/>
              <a:gd name="connsiteX1" fmla="*/ 188378 w 376756"/>
              <a:gd name="connsiteY1" fmla="*/ 0 h 376756"/>
              <a:gd name="connsiteX2" fmla="*/ 376756 w 376756"/>
              <a:gd name="connsiteY2" fmla="*/ 188378 h 376756"/>
              <a:gd name="connsiteX3" fmla="*/ 188378 w 376756"/>
              <a:gd name="connsiteY3" fmla="*/ 376756 h 376756"/>
              <a:gd name="connsiteX4" fmla="*/ 0 w 376756"/>
              <a:gd name="connsiteY4" fmla="*/ 188378 h 376756"/>
              <a:gd name="connsiteX0" fmla="*/ 4165 w 190421"/>
              <a:gd name="connsiteY0" fmla="*/ 178853 h 376756"/>
              <a:gd name="connsiteX1" fmla="*/ 2043 w 190421"/>
              <a:gd name="connsiteY1" fmla="*/ 0 h 376756"/>
              <a:gd name="connsiteX2" fmla="*/ 190421 w 190421"/>
              <a:gd name="connsiteY2" fmla="*/ 188378 h 376756"/>
              <a:gd name="connsiteX3" fmla="*/ 2043 w 190421"/>
              <a:gd name="connsiteY3" fmla="*/ 376756 h 376756"/>
              <a:gd name="connsiteX4" fmla="*/ 4165 w 190421"/>
              <a:gd name="connsiteY4" fmla="*/ 178853 h 376756"/>
              <a:gd name="connsiteX0" fmla="*/ 2122 w 188378"/>
              <a:gd name="connsiteY0" fmla="*/ 178853 h 376756"/>
              <a:gd name="connsiteX1" fmla="*/ 0 w 188378"/>
              <a:gd name="connsiteY1" fmla="*/ 0 h 376756"/>
              <a:gd name="connsiteX2" fmla="*/ 188378 w 188378"/>
              <a:gd name="connsiteY2" fmla="*/ 188378 h 376756"/>
              <a:gd name="connsiteX3" fmla="*/ 0 w 188378"/>
              <a:gd name="connsiteY3" fmla="*/ 376756 h 376756"/>
              <a:gd name="connsiteX4" fmla="*/ 2122 w 188378"/>
              <a:gd name="connsiteY4" fmla="*/ 178853 h 376756"/>
              <a:gd name="connsiteX0" fmla="*/ 0 w 189431"/>
              <a:gd name="connsiteY0" fmla="*/ 178853 h 376756"/>
              <a:gd name="connsiteX1" fmla="*/ 1053 w 189431"/>
              <a:gd name="connsiteY1" fmla="*/ 0 h 376756"/>
              <a:gd name="connsiteX2" fmla="*/ 189431 w 189431"/>
              <a:gd name="connsiteY2" fmla="*/ 188378 h 376756"/>
              <a:gd name="connsiteX3" fmla="*/ 1053 w 189431"/>
              <a:gd name="connsiteY3" fmla="*/ 376756 h 376756"/>
              <a:gd name="connsiteX4" fmla="*/ 0 w 189431"/>
              <a:gd name="connsiteY4" fmla="*/ 178853 h 376756"/>
              <a:gd name="connsiteX0" fmla="*/ 2122 w 188378"/>
              <a:gd name="connsiteY0" fmla="*/ 194728 h 376756"/>
              <a:gd name="connsiteX1" fmla="*/ 0 w 188378"/>
              <a:gd name="connsiteY1" fmla="*/ 0 h 376756"/>
              <a:gd name="connsiteX2" fmla="*/ 188378 w 188378"/>
              <a:gd name="connsiteY2" fmla="*/ 188378 h 376756"/>
              <a:gd name="connsiteX3" fmla="*/ 0 w 188378"/>
              <a:gd name="connsiteY3" fmla="*/ 376756 h 376756"/>
              <a:gd name="connsiteX4" fmla="*/ 2122 w 188378"/>
              <a:gd name="connsiteY4" fmla="*/ 194728 h 376756"/>
              <a:gd name="connsiteX0" fmla="*/ 2122 w 188378"/>
              <a:gd name="connsiteY0" fmla="*/ 194728 h 376756"/>
              <a:gd name="connsiteX1" fmla="*/ 0 w 188378"/>
              <a:gd name="connsiteY1" fmla="*/ 0 h 376756"/>
              <a:gd name="connsiteX2" fmla="*/ 188378 w 188378"/>
              <a:gd name="connsiteY2" fmla="*/ 188378 h 376756"/>
              <a:gd name="connsiteX3" fmla="*/ 0 w 188378"/>
              <a:gd name="connsiteY3" fmla="*/ 376756 h 376756"/>
              <a:gd name="connsiteX4" fmla="*/ 2122 w 188378"/>
              <a:gd name="connsiteY4" fmla="*/ 194728 h 376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378" h="376756">
                <a:moveTo>
                  <a:pt x="2122" y="194728"/>
                </a:moveTo>
                <a:cubicBezTo>
                  <a:pt x="2122" y="90690"/>
                  <a:pt x="737" y="104775"/>
                  <a:pt x="0" y="0"/>
                </a:cubicBezTo>
                <a:cubicBezTo>
                  <a:pt x="104038" y="0"/>
                  <a:pt x="188378" y="84340"/>
                  <a:pt x="188378" y="188378"/>
                </a:cubicBezTo>
                <a:cubicBezTo>
                  <a:pt x="188378" y="292416"/>
                  <a:pt x="104038" y="376756"/>
                  <a:pt x="0" y="376756"/>
                </a:cubicBezTo>
                <a:cubicBezTo>
                  <a:pt x="737" y="278331"/>
                  <a:pt x="2122" y="298766"/>
                  <a:pt x="2122" y="194728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 w="19050" cmpd="sng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4" name="スライド番号プレースホルダー 5"/>
          <p:cNvSpPr>
            <a:spLocks noGrp="1"/>
          </p:cNvSpPr>
          <p:nvPr>
            <p:ph type="sldNum" sz="quarter" idx="12"/>
          </p:nvPr>
        </p:nvSpPr>
        <p:spPr>
          <a:xfrm>
            <a:off x="8602923" y="6477896"/>
            <a:ext cx="485283" cy="365125"/>
          </a:xfrm>
          <a:prstGeom prst="rect">
            <a:avLst/>
          </a:prstGeom>
        </p:spPr>
        <p:txBody>
          <a:bodyPr anchor="ctr"/>
          <a:lstStyle>
            <a:lvl1pPr algn="ctr">
              <a:defRPr sz="1400" b="0" i="0">
                <a:solidFill>
                  <a:srgbClr val="FFFFFF"/>
                </a:solidFill>
                <a:latin typeface="+mn-lt"/>
                <a:cs typeface="Helvetica Neue Light"/>
              </a:defRPr>
            </a:lvl1pPr>
          </a:lstStyle>
          <a:p>
            <a:fld id="{D21F6909-ABCB-BB45-AC56-A8377246EBB2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15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0" y="6661915"/>
            <a:ext cx="9144000" cy="198218"/>
          </a:xfrm>
          <a:prstGeom prst="rect">
            <a:avLst/>
          </a:prstGeom>
        </p:spPr>
        <p:txBody>
          <a:bodyPr anchor="ctr"/>
          <a:lstStyle>
            <a:lvl1pPr algn="ctr">
              <a:defRPr sz="1100" b="0" i="0">
                <a:solidFill>
                  <a:schemeClr val="bg1"/>
                </a:solidFill>
                <a:latin typeface="+mj-lt"/>
                <a:cs typeface="Helvetica Neue Light"/>
              </a:defRPr>
            </a:lvl1pPr>
          </a:lstStyle>
          <a:p>
            <a:r>
              <a:rPr lang="en-US" altLang="ja-JP"/>
              <a:t>Tokyo University of Science - Computational Materials Science Laboratory -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12891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4030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image" Target="../media/image1.png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microsoft.com/office/2007/relationships/hdphoto" Target="../media/hdphoto1.wdp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3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0.png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1.png"/><Relationship Id="rId7" Type="http://schemas.openxmlformats.org/officeDocument/2006/relationships/image" Target="../media/image37.png"/><Relationship Id="rId12" Type="http://schemas.openxmlformats.org/officeDocument/2006/relationships/image" Target="../media/image2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6.png"/><Relationship Id="rId11" Type="http://schemas.openxmlformats.org/officeDocument/2006/relationships/image" Target="../media/image33.png"/><Relationship Id="rId10" Type="http://schemas.openxmlformats.org/officeDocument/2006/relationships/image" Target="../media/image40.png"/><Relationship Id="rId9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6.png"/><Relationship Id="rId4" Type="http://schemas.openxmlformats.org/officeDocument/2006/relationships/image" Target="../media/image25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emf"/><Relationship Id="rId13" Type="http://schemas.openxmlformats.org/officeDocument/2006/relationships/image" Target="../media/image620.png"/><Relationship Id="rId18" Type="http://schemas.openxmlformats.org/officeDocument/2006/relationships/image" Target="../media/image39.png"/><Relationship Id="rId3" Type="http://schemas.microsoft.com/office/2007/relationships/media" Target="../media/media2.mp4"/><Relationship Id="rId7" Type="http://schemas.openxmlformats.org/officeDocument/2006/relationships/slideLayout" Target="../slideLayouts/slideLayout3.xml"/><Relationship Id="rId12" Type="http://schemas.openxmlformats.org/officeDocument/2006/relationships/image" Target="../media/image34.png"/><Relationship Id="rId17" Type="http://schemas.openxmlformats.org/officeDocument/2006/relationships/image" Target="../media/image38.png"/><Relationship Id="rId2" Type="http://schemas.openxmlformats.org/officeDocument/2006/relationships/video" Target="../media/media1.mp4"/><Relationship Id="rId16" Type="http://schemas.openxmlformats.org/officeDocument/2006/relationships/image" Target="../media/image35.png"/><Relationship Id="rId1" Type="http://schemas.microsoft.com/office/2007/relationships/media" Target="../media/media1.mp4"/><Relationship Id="rId6" Type="http://schemas.openxmlformats.org/officeDocument/2006/relationships/video" Target="../media/media3.mp4"/><Relationship Id="rId11" Type="http://schemas.openxmlformats.org/officeDocument/2006/relationships/image" Target="../media/image31.png"/><Relationship Id="rId5" Type="http://schemas.microsoft.com/office/2007/relationships/media" Target="../media/media3.mp4"/><Relationship Id="rId15" Type="http://schemas.openxmlformats.org/officeDocument/2006/relationships/image" Target="../media/image64.png"/><Relationship Id="rId10" Type="http://schemas.openxmlformats.org/officeDocument/2006/relationships/image" Target="../media/image29.emf"/><Relationship Id="rId4" Type="http://schemas.openxmlformats.org/officeDocument/2006/relationships/video" Target="../media/media2.mp4"/><Relationship Id="rId9" Type="http://schemas.openxmlformats.org/officeDocument/2006/relationships/image" Target="../media/image28.emf"/><Relationship Id="rId14" Type="http://schemas.openxmlformats.org/officeDocument/2006/relationships/image" Target="../media/image6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emf"/><Relationship Id="rId13" Type="http://schemas.openxmlformats.org/officeDocument/2006/relationships/image" Target="../media/image620.png"/><Relationship Id="rId18" Type="http://schemas.openxmlformats.org/officeDocument/2006/relationships/image" Target="../media/image39.png"/><Relationship Id="rId3" Type="http://schemas.microsoft.com/office/2007/relationships/media" Target="../media/media2.mp4"/><Relationship Id="rId7" Type="http://schemas.openxmlformats.org/officeDocument/2006/relationships/slideLayout" Target="../slideLayouts/slideLayout3.xml"/><Relationship Id="rId12" Type="http://schemas.openxmlformats.org/officeDocument/2006/relationships/image" Target="../media/image34.png"/><Relationship Id="rId17" Type="http://schemas.openxmlformats.org/officeDocument/2006/relationships/image" Target="../media/image38.png"/><Relationship Id="rId2" Type="http://schemas.openxmlformats.org/officeDocument/2006/relationships/video" Target="../media/media1.mp4"/><Relationship Id="rId16" Type="http://schemas.openxmlformats.org/officeDocument/2006/relationships/image" Target="../media/image35.png"/><Relationship Id="rId1" Type="http://schemas.microsoft.com/office/2007/relationships/media" Target="../media/media1.mp4"/><Relationship Id="rId6" Type="http://schemas.openxmlformats.org/officeDocument/2006/relationships/video" Target="../media/media3.mp4"/><Relationship Id="rId11" Type="http://schemas.openxmlformats.org/officeDocument/2006/relationships/image" Target="../media/image31.png"/><Relationship Id="rId5" Type="http://schemas.microsoft.com/office/2007/relationships/media" Target="../media/media3.mp4"/><Relationship Id="rId15" Type="http://schemas.openxmlformats.org/officeDocument/2006/relationships/image" Target="../media/image64.png"/><Relationship Id="rId10" Type="http://schemas.openxmlformats.org/officeDocument/2006/relationships/image" Target="../media/image29.emf"/><Relationship Id="rId19" Type="http://schemas.openxmlformats.org/officeDocument/2006/relationships/image" Target="../media/image42.png"/><Relationship Id="rId4" Type="http://schemas.openxmlformats.org/officeDocument/2006/relationships/video" Target="../media/media2.mp4"/><Relationship Id="rId9" Type="http://schemas.openxmlformats.org/officeDocument/2006/relationships/image" Target="../media/image28.emf"/><Relationship Id="rId14" Type="http://schemas.openxmlformats.org/officeDocument/2006/relationships/image" Target="../media/image6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6.emf"/><Relationship Id="rId7" Type="http://schemas.openxmlformats.org/officeDocument/2006/relationships/image" Target="../media/image710.png"/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90.png"/><Relationship Id="rId5" Type="http://schemas.openxmlformats.org/officeDocument/2006/relationships/image" Target="../media/image68.png"/><Relationship Id="rId4" Type="http://schemas.openxmlformats.org/officeDocument/2006/relationships/image" Target="../media/image47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png"/><Relationship Id="rId18" Type="http://schemas.openxmlformats.org/officeDocument/2006/relationships/image" Target="../media/image66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17" Type="http://schemas.openxmlformats.org/officeDocument/2006/relationships/image" Target="../media/image65.png"/><Relationship Id="rId2" Type="http://schemas.openxmlformats.org/officeDocument/2006/relationships/image" Target="../media/image481.png"/><Relationship Id="rId16" Type="http://schemas.openxmlformats.org/officeDocument/2006/relationships/image" Target="../media/image6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5" Type="http://schemas.openxmlformats.org/officeDocument/2006/relationships/image" Target="../media/image62.png"/><Relationship Id="rId10" Type="http://schemas.openxmlformats.org/officeDocument/2006/relationships/image" Target="../media/image56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Relationship Id="rId14" Type="http://schemas.openxmlformats.org/officeDocument/2006/relationships/image" Target="../media/image6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51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1.png"/><Relationship Id="rId5" Type="http://schemas.openxmlformats.org/officeDocument/2006/relationships/image" Target="../media/image69.png"/><Relationship Id="rId4" Type="http://schemas.openxmlformats.org/officeDocument/2006/relationships/image" Target="../media/image63.png"/><Relationship Id="rId9" Type="http://schemas.openxmlformats.org/officeDocument/2006/relationships/image" Target="../media/image7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0.png"/><Relationship Id="rId7" Type="http://schemas.openxmlformats.org/officeDocument/2006/relationships/image" Target="../media/image77.png"/><Relationship Id="rId2" Type="http://schemas.openxmlformats.org/officeDocument/2006/relationships/image" Target="../media/image71.e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24.png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12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81.png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6" Type="http://schemas.openxmlformats.org/officeDocument/2006/relationships/image" Target="../media/image80.png"/><Relationship Id="rId5" Type="http://schemas.openxmlformats.org/officeDocument/2006/relationships/image" Target="../media/image125.png"/><Relationship Id="rId4" Type="http://schemas.openxmlformats.org/officeDocument/2006/relationships/notesSlide" Target="../notesSlides/notesSlide4.xml"/><Relationship Id="rId9" Type="http://schemas.openxmlformats.org/officeDocument/2006/relationships/image" Target="../media/image11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83.emf"/><Relationship Id="rId7" Type="http://schemas.openxmlformats.org/officeDocument/2006/relationships/image" Target="../media/image88.png"/><Relationship Id="rId2" Type="http://schemas.openxmlformats.org/officeDocument/2006/relationships/image" Target="../media/image82.e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4.png"/><Relationship Id="rId5" Type="http://schemas.openxmlformats.org/officeDocument/2006/relationships/image" Target="../media/image86.png"/><Relationship Id="rId4" Type="http://schemas.openxmlformats.org/officeDocument/2006/relationships/image" Target="../media/image12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emf"/><Relationship Id="rId3" Type="http://schemas.openxmlformats.org/officeDocument/2006/relationships/image" Target="../media/image90.png"/><Relationship Id="rId7" Type="http://schemas.openxmlformats.org/officeDocument/2006/relationships/image" Target="../media/image86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61.png"/><Relationship Id="rId11" Type="http://schemas.openxmlformats.org/officeDocument/2006/relationships/image" Target="../media/image270.png"/><Relationship Id="rId5" Type="http://schemas.openxmlformats.org/officeDocument/2006/relationships/image" Target="../media/image351.png"/><Relationship Id="rId10" Type="http://schemas.openxmlformats.org/officeDocument/2006/relationships/image" Target="../media/image89.emf"/><Relationship Id="rId4" Type="http://schemas.openxmlformats.org/officeDocument/2006/relationships/image" Target="../media/image129.png"/><Relationship Id="rId9" Type="http://schemas.openxmlformats.org/officeDocument/2006/relationships/image" Target="../media/image88.e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96.png"/><Relationship Id="rId7" Type="http://schemas.openxmlformats.org/officeDocument/2006/relationships/image" Target="../media/image53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8.png"/><Relationship Id="rId11" Type="http://schemas.openxmlformats.org/officeDocument/2006/relationships/image" Target="../media/image102.png"/><Relationship Id="rId5" Type="http://schemas.openxmlformats.org/officeDocument/2006/relationships/image" Target="../media/image97.png"/><Relationship Id="rId10" Type="http://schemas.openxmlformats.org/officeDocument/2006/relationships/image" Target="../media/image101.png"/><Relationship Id="rId4" Type="http://schemas.openxmlformats.org/officeDocument/2006/relationships/image" Target="../media/image51.png"/><Relationship Id="rId9" Type="http://schemas.openxmlformats.org/officeDocument/2006/relationships/image" Target="../media/image9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84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10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1.emf"/><Relationship Id="rId5" Type="http://schemas.openxmlformats.org/officeDocument/2006/relationships/image" Target="../media/image900.png"/><Relationship Id="rId4" Type="http://schemas.openxmlformats.org/officeDocument/2006/relationships/image" Target="../media/image89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3" Type="http://schemas.openxmlformats.org/officeDocument/2006/relationships/image" Target="../media/image109.png"/><Relationship Id="rId7" Type="http://schemas.openxmlformats.org/officeDocument/2006/relationships/image" Target="../media/image59.png"/><Relationship Id="rId12" Type="http://schemas.openxmlformats.org/officeDocument/2006/relationships/image" Target="../media/image117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1.png"/><Relationship Id="rId11" Type="http://schemas.openxmlformats.org/officeDocument/2006/relationships/image" Target="../media/image116.png"/><Relationship Id="rId5" Type="http://schemas.openxmlformats.org/officeDocument/2006/relationships/image" Target="../media/image51.png"/><Relationship Id="rId10" Type="http://schemas.openxmlformats.org/officeDocument/2006/relationships/image" Target="../media/image104.png"/><Relationship Id="rId4" Type="http://schemas.openxmlformats.org/officeDocument/2006/relationships/image" Target="../media/image110.png"/><Relationship Id="rId9" Type="http://schemas.openxmlformats.org/officeDocument/2006/relationships/image" Target="../media/image10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94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7" Type="http://schemas.openxmlformats.org/officeDocument/2006/relationships/image" Target="../media/image138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7.png"/><Relationship Id="rId5" Type="http://schemas.openxmlformats.org/officeDocument/2006/relationships/image" Target="../media/image136.png"/><Relationship Id="rId4" Type="http://schemas.openxmlformats.org/officeDocument/2006/relationships/image" Target="../media/image106.e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0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0.png"/><Relationship Id="rId13" Type="http://schemas.openxmlformats.org/officeDocument/2006/relationships/image" Target="../media/image130.png"/><Relationship Id="rId3" Type="http://schemas.microsoft.com/office/2007/relationships/media" Target="../media/media7.mp4"/><Relationship Id="rId7" Type="http://schemas.openxmlformats.org/officeDocument/2006/relationships/slideLayout" Target="../slideLayouts/slideLayout3.xml"/><Relationship Id="rId12" Type="http://schemas.openxmlformats.org/officeDocument/2006/relationships/image" Target="../media/image126.png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6" Type="http://schemas.openxmlformats.org/officeDocument/2006/relationships/video" Target="../media/media8.mp4"/><Relationship Id="rId11" Type="http://schemas.openxmlformats.org/officeDocument/2006/relationships/image" Target="../media/image123.png"/><Relationship Id="rId5" Type="http://schemas.microsoft.com/office/2007/relationships/media" Target="../media/media8.mp4"/><Relationship Id="rId10" Type="http://schemas.openxmlformats.org/officeDocument/2006/relationships/image" Target="../media/image122.png"/><Relationship Id="rId4" Type="http://schemas.openxmlformats.org/officeDocument/2006/relationships/video" Target="../media/media7.mp4"/><Relationship Id="rId9" Type="http://schemas.openxmlformats.org/officeDocument/2006/relationships/image" Target="../media/image46.png"/><Relationship Id="rId14" Type="http://schemas.openxmlformats.org/officeDocument/2006/relationships/image" Target="../media/image100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3.png"/><Relationship Id="rId4" Type="http://schemas.openxmlformats.org/officeDocument/2006/relationships/image" Target="../media/image13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7" Type="http://schemas.openxmlformats.org/officeDocument/2006/relationships/image" Target="../media/image1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11.png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0.png"/><Relationship Id="rId3" Type="http://schemas.openxmlformats.org/officeDocument/2006/relationships/image" Target="../media/image440.png"/><Relationship Id="rId7" Type="http://schemas.openxmlformats.org/officeDocument/2006/relationships/image" Target="../media/image490.png"/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70.png"/><Relationship Id="rId5" Type="http://schemas.openxmlformats.org/officeDocument/2006/relationships/image" Target="../media/image139.png"/><Relationship Id="rId4" Type="http://schemas.openxmlformats.org/officeDocument/2006/relationships/image" Target="../media/image45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0.png"/><Relationship Id="rId13" Type="http://schemas.openxmlformats.org/officeDocument/2006/relationships/image" Target="../media/image560.png"/><Relationship Id="rId3" Type="http://schemas.openxmlformats.org/officeDocument/2006/relationships/image" Target="../media/image510.png"/><Relationship Id="rId7" Type="http://schemas.openxmlformats.org/officeDocument/2006/relationships/image" Target="../media/image350.png"/><Relationship Id="rId12" Type="http://schemas.openxmlformats.org/officeDocument/2006/relationships/image" Target="../media/image550.png"/><Relationship Id="rId17" Type="http://schemas.openxmlformats.org/officeDocument/2006/relationships/image" Target="../media/image600.png"/><Relationship Id="rId2" Type="http://schemas.openxmlformats.org/officeDocument/2006/relationships/image" Target="../media/image480.png"/><Relationship Id="rId16" Type="http://schemas.openxmlformats.org/officeDocument/2006/relationships/image" Target="../media/image59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40.png"/><Relationship Id="rId11" Type="http://schemas.openxmlformats.org/officeDocument/2006/relationships/image" Target="../media/image540.png"/><Relationship Id="rId15" Type="http://schemas.openxmlformats.org/officeDocument/2006/relationships/image" Target="../media/image580.png"/><Relationship Id="rId10" Type="http://schemas.openxmlformats.org/officeDocument/2006/relationships/image" Target="../media/image530.png"/><Relationship Id="rId9" Type="http://schemas.openxmlformats.org/officeDocument/2006/relationships/image" Target="../media/image520.png"/><Relationship Id="rId14" Type="http://schemas.openxmlformats.org/officeDocument/2006/relationships/image" Target="../media/image57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0.png"/><Relationship Id="rId7" Type="http://schemas.openxmlformats.org/officeDocument/2006/relationships/image" Target="../media/image156.png"/><Relationship Id="rId2" Type="http://schemas.openxmlformats.org/officeDocument/2006/relationships/image" Target="../media/image94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1.emf"/><Relationship Id="rId5" Type="http://schemas.openxmlformats.org/officeDocument/2006/relationships/image" Target="../media/image140.emf"/><Relationship Id="rId4" Type="http://schemas.openxmlformats.org/officeDocument/2006/relationships/image" Target="../media/image62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image" Target="../media/image94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3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emf"/><Relationship Id="rId3" Type="http://schemas.openxmlformats.org/officeDocument/2006/relationships/image" Target="../media/image941.png"/><Relationship Id="rId7" Type="http://schemas.openxmlformats.org/officeDocument/2006/relationships/image" Target="../media/image144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3.emf"/><Relationship Id="rId5" Type="http://schemas.openxmlformats.org/officeDocument/2006/relationships/image" Target="../media/image220.png"/><Relationship Id="rId10" Type="http://schemas.openxmlformats.org/officeDocument/2006/relationships/image" Target="../media/image270.png"/><Relationship Id="rId4" Type="http://schemas.openxmlformats.org/officeDocument/2006/relationships/image" Target="../media/image210.png"/><Relationship Id="rId9" Type="http://schemas.openxmlformats.org/officeDocument/2006/relationships/image" Target="../media/image146.e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emf"/><Relationship Id="rId3" Type="http://schemas.openxmlformats.org/officeDocument/2006/relationships/image" Target="../media/image210.png"/><Relationship Id="rId7" Type="http://schemas.openxmlformats.org/officeDocument/2006/relationships/image" Target="../media/image149.emf"/><Relationship Id="rId2" Type="http://schemas.openxmlformats.org/officeDocument/2006/relationships/image" Target="../media/image94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8.emf"/><Relationship Id="rId5" Type="http://schemas.openxmlformats.org/officeDocument/2006/relationships/image" Target="../media/image147.emf"/><Relationship Id="rId4" Type="http://schemas.openxmlformats.org/officeDocument/2006/relationships/image" Target="../media/image220.png"/><Relationship Id="rId9" Type="http://schemas.openxmlformats.org/officeDocument/2006/relationships/image" Target="../media/image27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0.png"/><Relationship Id="rId2" Type="http://schemas.openxmlformats.org/officeDocument/2006/relationships/image" Target="../media/image94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2.emf"/><Relationship Id="rId5" Type="http://schemas.openxmlformats.org/officeDocument/2006/relationships/image" Target="../media/image151.emf"/><Relationship Id="rId4" Type="http://schemas.openxmlformats.org/officeDocument/2006/relationships/image" Target="../media/image67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0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4.emf"/><Relationship Id="rId5" Type="http://schemas.openxmlformats.org/officeDocument/2006/relationships/image" Target="../media/image153.emf"/><Relationship Id="rId4" Type="http://schemas.openxmlformats.org/officeDocument/2006/relationships/image" Target="../media/image670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emf"/><Relationship Id="rId3" Type="http://schemas.openxmlformats.org/officeDocument/2006/relationships/image" Target="../media/image351.png"/><Relationship Id="rId7" Type="http://schemas.openxmlformats.org/officeDocument/2006/relationships/image" Target="../media/image157.emf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6.emf"/><Relationship Id="rId5" Type="http://schemas.openxmlformats.org/officeDocument/2006/relationships/image" Target="../media/image155.emf"/><Relationship Id="rId10" Type="http://schemas.openxmlformats.org/officeDocument/2006/relationships/image" Target="../media/image270.png"/><Relationship Id="rId4" Type="http://schemas.openxmlformats.org/officeDocument/2006/relationships/image" Target="../media/image361.png"/><Relationship Id="rId9" Type="http://schemas.openxmlformats.org/officeDocument/2006/relationships/image" Target="../media/image159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94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12.png"/><Relationship Id="rId2" Type="http://schemas.openxmlformats.org/officeDocument/2006/relationships/video" Target="../media/media9.mp4"/><Relationship Id="rId1" Type="http://schemas.microsoft.com/office/2007/relationships/media" Target="../media/media9.mp4"/><Relationship Id="rId6" Type="http://schemas.openxmlformats.org/officeDocument/2006/relationships/image" Target="../media/image1190.png"/><Relationship Id="rId5" Type="http://schemas.openxmlformats.org/officeDocument/2006/relationships/image" Target="../media/image1100.png"/><Relationship Id="rId4" Type="http://schemas.openxmlformats.org/officeDocument/2006/relationships/notesSlide" Target="../notesSlides/notesSlide11.xml"/><Relationship Id="rId9" Type="http://schemas.openxmlformats.org/officeDocument/2006/relationships/image" Target="../media/image162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190.png"/><Relationship Id="rId2" Type="http://schemas.openxmlformats.org/officeDocument/2006/relationships/video" Target="../media/media10.mp4"/><Relationship Id="rId1" Type="http://schemas.microsoft.com/office/2007/relationships/media" Target="../media/media10.mp4"/><Relationship Id="rId6" Type="http://schemas.openxmlformats.org/officeDocument/2006/relationships/image" Target="../media/image164.png"/><Relationship Id="rId5" Type="http://schemas.openxmlformats.org/officeDocument/2006/relationships/image" Target="../media/image163.png"/><Relationship Id="rId4" Type="http://schemas.openxmlformats.org/officeDocument/2006/relationships/image" Target="../media/image115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7" Type="http://schemas.openxmlformats.org/officeDocument/2006/relationships/image" Target="../media/image13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7.png"/><Relationship Id="rId5" Type="http://schemas.openxmlformats.org/officeDocument/2006/relationships/image" Target="../media/image166.png"/><Relationship Id="rId4" Type="http://schemas.openxmlformats.org/officeDocument/2006/relationships/image" Target="../media/image16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C9EC90-F014-4505-BF1B-F8D9DDF369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1983" y="2445248"/>
            <a:ext cx="8382017" cy="1642455"/>
          </a:xfrm>
        </p:spPr>
        <p:txBody>
          <a:bodyPr>
            <a:normAutofit fontScale="90000"/>
          </a:bodyPr>
          <a:lstStyle/>
          <a:p>
            <a:pPr algn="l"/>
            <a:r>
              <a:rPr kumimoji="1" lang="en-US" altLang="ja-JP" sz="3600" dirty="0"/>
              <a:t>Study on fracture toughness and ductile-brittle transition </a:t>
            </a:r>
            <a:r>
              <a:rPr lang="en-US" altLang="ja-JP" sz="3600" dirty="0"/>
              <a:t>b</a:t>
            </a:r>
            <a:r>
              <a:rPr kumimoji="1" lang="en-US" altLang="ja-JP" sz="3600" dirty="0"/>
              <a:t>ased on </a:t>
            </a:r>
            <a:r>
              <a:rPr lang="en-US" altLang="ja-JP" sz="3600" dirty="0"/>
              <a:t>i</a:t>
            </a:r>
            <a:r>
              <a:rPr kumimoji="1" lang="en-US" altLang="ja-JP" sz="3600" dirty="0"/>
              <a:t>nteraction of cracks and dislocations</a:t>
            </a:r>
            <a:endParaRPr kumimoji="1" lang="ja-JP" altLang="en-US" sz="3600"/>
          </a:p>
        </p:txBody>
      </p:sp>
      <p:sp>
        <p:nvSpPr>
          <p:cNvPr id="3" name="サブタイトル 2">
            <a:extLst>
              <a:ext uri="{FF2B5EF4-FFF2-40B4-BE49-F238E27FC236}">
                <a16:creationId xmlns:a16="http://schemas.microsoft.com/office/drawing/2014/main" id="{780169C5-CB7F-42C0-BFD9-3E516CCD57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8821" y="4627742"/>
            <a:ext cx="6255217" cy="1426124"/>
          </a:xfrm>
        </p:spPr>
        <p:txBody>
          <a:bodyPr>
            <a:normAutofit/>
          </a:bodyPr>
          <a:lstStyle/>
          <a:p>
            <a:r>
              <a:rPr lang="ja-JP" altLang="en-US"/>
              <a:t>　</a:t>
            </a:r>
            <a:r>
              <a:rPr lang="en-US" altLang="ja-JP" b="1" dirty="0"/>
              <a:t>Tokyo University of Science</a:t>
            </a:r>
          </a:p>
          <a:p>
            <a:r>
              <a:rPr lang="en-US" altLang="ja-JP" dirty="0"/>
              <a:t>	</a:t>
            </a:r>
            <a:r>
              <a:rPr lang="en-US" altLang="ja-JP" dirty="0" err="1"/>
              <a:t>Keitaro</a:t>
            </a:r>
            <a:r>
              <a:rPr lang="en-US" altLang="ja-JP" dirty="0"/>
              <a:t> Watanabe</a:t>
            </a:r>
          </a:p>
          <a:p>
            <a:r>
              <a:rPr lang="ja-JP" altLang="en-US"/>
              <a:t>　</a:t>
            </a:r>
            <a:r>
              <a:rPr lang="en-US" altLang="ja-JP" dirty="0"/>
              <a:t>	</a:t>
            </a:r>
            <a:r>
              <a:rPr lang="en-US" altLang="ja-JP" dirty="0" err="1"/>
              <a:t>Akiyuki</a:t>
            </a:r>
            <a:r>
              <a:rPr lang="en-US" altLang="ja-JP" dirty="0"/>
              <a:t> Takahashi</a:t>
            </a:r>
          </a:p>
        </p:txBody>
      </p:sp>
    </p:spTree>
    <p:extLst>
      <p:ext uri="{BB962C8B-B14F-4D97-AF65-F5344CB8AC3E}">
        <p14:creationId xmlns:p14="http://schemas.microsoft.com/office/powerpoint/2010/main" val="1291875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サブタイトル 1">
            <a:extLst>
              <a:ext uri="{FF2B5EF4-FFF2-40B4-BE49-F238E27FC236}">
                <a16:creationId xmlns:a16="http://schemas.microsoft.com/office/drawing/2014/main" id="{D5960D5D-740C-47BD-909C-E2FC0986CB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75" y="3228064"/>
            <a:ext cx="7778250" cy="3432394"/>
          </a:xfrm>
        </p:spPr>
        <p:txBody>
          <a:bodyPr>
            <a:normAutofit/>
          </a:bodyPr>
          <a:lstStyle/>
          <a:p>
            <a:r>
              <a:rPr lang="en" altLang="ja-JP" dirty="0"/>
              <a:t>Background</a:t>
            </a:r>
          </a:p>
          <a:p>
            <a:r>
              <a:rPr lang="en" altLang="ja-JP" dirty="0"/>
              <a:t>Objectives</a:t>
            </a:r>
          </a:p>
          <a:p>
            <a:r>
              <a:rPr lang="en" altLang="ja-JP" dirty="0"/>
              <a:t>Analysis procedure</a:t>
            </a:r>
          </a:p>
          <a:p>
            <a:r>
              <a:rPr lang="en" altLang="ja-JP" dirty="0"/>
              <a:t>Numerical results</a:t>
            </a:r>
          </a:p>
          <a:p>
            <a:r>
              <a:rPr lang="en" altLang="ja-JP" dirty="0"/>
              <a:t>Consideration of fracture types</a:t>
            </a:r>
          </a:p>
          <a:p>
            <a:r>
              <a:rPr lang="en" altLang="ja-JP" dirty="0"/>
              <a:t>Conclusions</a:t>
            </a:r>
            <a:endParaRPr lang="en-US" altLang="ja-JP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FF768B5-CE1E-4D23-8958-3479D7411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F6909-ABCB-BB45-AC56-A8377246EBB2}" type="slidenum">
              <a:rPr lang="ja-JP" altLang="en-US" smtClean="0"/>
              <a:pPr/>
              <a:t>2</a:t>
            </a:fld>
            <a:endParaRPr lang="ja-JP" altLang="en-US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F320738-B70A-446F-8B75-6308198F5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Tokyo University of Science - Computational Materials Science Laboratory -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81298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93169249-251C-4A36-698F-DB1039EDB114}"/>
              </a:ext>
            </a:extLst>
          </p:cNvPr>
          <p:cNvCxnSpPr>
            <a:cxnSpLocks/>
          </p:cNvCxnSpPr>
          <p:nvPr/>
        </p:nvCxnSpPr>
        <p:spPr>
          <a:xfrm>
            <a:off x="4572000" y="2122198"/>
            <a:ext cx="0" cy="4424599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グループ化 71">
            <a:extLst>
              <a:ext uri="{FF2B5EF4-FFF2-40B4-BE49-F238E27FC236}">
                <a16:creationId xmlns:a16="http://schemas.microsoft.com/office/drawing/2014/main" id="{4F894636-6EFA-80B9-D554-A3D91F12BEEC}"/>
              </a:ext>
            </a:extLst>
          </p:cNvPr>
          <p:cNvGrpSpPr/>
          <p:nvPr/>
        </p:nvGrpSpPr>
        <p:grpSpPr>
          <a:xfrm>
            <a:off x="5056425" y="3439545"/>
            <a:ext cx="3593691" cy="2304739"/>
            <a:chOff x="4946774" y="2373290"/>
            <a:chExt cx="3593691" cy="2304739"/>
          </a:xfrm>
        </p:grpSpPr>
        <p:pic>
          <p:nvPicPr>
            <p:cNvPr id="52" name="図 51" descr="図形&#10;&#10;低い精度で自動的に生成された説明">
              <a:extLst>
                <a:ext uri="{FF2B5EF4-FFF2-40B4-BE49-F238E27FC236}">
                  <a16:creationId xmlns:a16="http://schemas.microsoft.com/office/drawing/2014/main" id="{BC78713A-47FB-9D08-AE6C-E2A47F5E65E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24063"/>
            <a:stretch/>
          </p:blipFill>
          <p:spPr>
            <a:xfrm>
              <a:off x="4946774" y="2373290"/>
              <a:ext cx="2005928" cy="2304739"/>
            </a:xfrm>
            <a:prstGeom prst="rect">
              <a:avLst/>
            </a:prstGeom>
          </p:spPr>
        </p:pic>
        <p:cxnSp>
          <p:nvCxnSpPr>
            <p:cNvPr id="55" name="直線矢印コネクタ 54">
              <a:extLst>
                <a:ext uri="{FF2B5EF4-FFF2-40B4-BE49-F238E27FC236}">
                  <a16:creationId xmlns:a16="http://schemas.microsoft.com/office/drawing/2014/main" id="{D85636B5-028F-0E16-7626-6FB8BEFA9A1B}"/>
                </a:ext>
              </a:extLst>
            </p:cNvPr>
            <p:cNvCxnSpPr>
              <a:cxnSpLocks/>
            </p:cNvCxnSpPr>
            <p:nvPr/>
          </p:nvCxnSpPr>
          <p:spPr>
            <a:xfrm>
              <a:off x="6571502" y="3608535"/>
              <a:ext cx="1442235" cy="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テキスト ボックス 61">
                  <a:extLst>
                    <a:ext uri="{FF2B5EF4-FFF2-40B4-BE49-F238E27FC236}">
                      <a16:creationId xmlns:a16="http://schemas.microsoft.com/office/drawing/2014/main" id="{0D0345B9-4C06-E3F8-787C-6EE6C09EEC27}"/>
                    </a:ext>
                  </a:extLst>
                </p:cNvPr>
                <p:cNvSpPr txBox="1"/>
                <p:nvPr/>
              </p:nvSpPr>
              <p:spPr>
                <a:xfrm>
                  <a:off x="7043130" y="3572113"/>
                  <a:ext cx="493918" cy="39074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 xmlns="">
            <p:sp>
              <p:nvSpPr>
                <p:cNvPr id="62" name="テキスト ボックス 61">
                  <a:extLst>
                    <a:ext uri="{FF2B5EF4-FFF2-40B4-BE49-F238E27FC236}">
                      <a16:creationId xmlns:a16="http://schemas.microsoft.com/office/drawing/2014/main" id="{0D0345B9-4C06-E3F8-787C-6EE6C09EEC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43130" y="3572113"/>
                  <a:ext cx="493918" cy="390748"/>
                </a:xfrm>
                <a:prstGeom prst="rect">
                  <a:avLst/>
                </a:prstGeom>
                <a:blipFill>
                  <a:blip r:embed="rId3"/>
                  <a:stretch>
                    <a:fillRect b="-645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64" name="図 63" descr="図形&#10;&#10;中程度の精度で自動的に生成された説明">
              <a:extLst>
                <a:ext uri="{FF2B5EF4-FFF2-40B4-BE49-F238E27FC236}">
                  <a16:creationId xmlns:a16="http://schemas.microsoft.com/office/drawing/2014/main" id="{4861B7FF-032C-F3D5-DE07-43FC8DCEF8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lum bright="70000" contrast="-70000"/>
              <a:alphaModFix amt="85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47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7501185" y="3025095"/>
              <a:ext cx="1039280" cy="1011190"/>
            </a:xfrm>
            <a:prstGeom prst="rect">
              <a:avLst/>
            </a:prstGeom>
          </p:spPr>
        </p:pic>
        <p:sp>
          <p:nvSpPr>
            <p:cNvPr id="67" name="下矢印 66">
              <a:extLst>
                <a:ext uri="{FF2B5EF4-FFF2-40B4-BE49-F238E27FC236}">
                  <a16:creationId xmlns:a16="http://schemas.microsoft.com/office/drawing/2014/main" id="{67F8F98E-C910-17D6-8F92-BD56AF27F67B}"/>
                </a:ext>
              </a:extLst>
            </p:cNvPr>
            <p:cNvSpPr/>
            <p:nvPr/>
          </p:nvSpPr>
          <p:spPr>
            <a:xfrm rot="10800000">
              <a:off x="5482924" y="2749997"/>
              <a:ext cx="307673" cy="398126"/>
            </a:xfrm>
            <a:prstGeom prst="down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8" name="下矢印 67">
              <a:extLst>
                <a:ext uri="{FF2B5EF4-FFF2-40B4-BE49-F238E27FC236}">
                  <a16:creationId xmlns:a16="http://schemas.microsoft.com/office/drawing/2014/main" id="{9FE5FB8B-40A9-4289-0883-29D83F2252E5}"/>
                </a:ext>
              </a:extLst>
            </p:cNvPr>
            <p:cNvSpPr/>
            <p:nvPr/>
          </p:nvSpPr>
          <p:spPr>
            <a:xfrm>
              <a:off x="5476337" y="3884461"/>
              <a:ext cx="307673" cy="398126"/>
            </a:xfrm>
            <a:prstGeom prst="down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テキスト ボックス 68">
                  <a:extLst>
                    <a:ext uri="{FF2B5EF4-FFF2-40B4-BE49-F238E27FC236}">
                      <a16:creationId xmlns:a16="http://schemas.microsoft.com/office/drawing/2014/main" id="{9D041959-3C49-6DE2-4036-2893A79BB36D}"/>
                    </a:ext>
                  </a:extLst>
                </p:cNvPr>
                <p:cNvSpPr txBox="1"/>
                <p:nvPr/>
              </p:nvSpPr>
              <p:spPr>
                <a:xfrm>
                  <a:off x="5600654" y="2478211"/>
                  <a:ext cx="710003" cy="40575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kumimoji="1" lang="en-US" altLang="ja-JP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</m:acc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𝑎𝑝𝑝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 xmlns="">
            <p:sp>
              <p:nvSpPr>
                <p:cNvPr id="69" name="テキスト ボックス 68">
                  <a:extLst>
                    <a:ext uri="{FF2B5EF4-FFF2-40B4-BE49-F238E27FC236}">
                      <a16:creationId xmlns:a16="http://schemas.microsoft.com/office/drawing/2014/main" id="{9D041959-3C49-6DE2-4036-2893A79BB3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00654" y="2478211"/>
                  <a:ext cx="710003" cy="40575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タイトル 1">
            <a:extLst>
              <a:ext uri="{FF2B5EF4-FFF2-40B4-BE49-F238E27FC236}">
                <a16:creationId xmlns:a16="http://schemas.microsoft.com/office/drawing/2014/main" id="{3538F436-DD3F-A9D9-F0C0-2DFD862A6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2D</a:t>
            </a:r>
            <a:r>
              <a:rPr lang="ja-JP" altLang="en-US"/>
              <a:t> </a:t>
            </a:r>
            <a:r>
              <a:rPr lang="en-US" altLang="ja-JP" dirty="0"/>
              <a:t>dislocation simulation</a:t>
            </a:r>
            <a:r>
              <a:rPr lang="ja-JP" altLang="en-US"/>
              <a:t> </a:t>
            </a:r>
            <a:r>
              <a:rPr lang="en-US" altLang="ja-JP" dirty="0"/>
              <a:t>of</a:t>
            </a:r>
            <a:r>
              <a:rPr lang="ja-JP" altLang="en-US"/>
              <a:t> </a:t>
            </a:r>
            <a:r>
              <a:rPr lang="en-US" altLang="ja-JP" dirty="0"/>
              <a:t>BDT</a:t>
            </a:r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9541148-69B7-EFF8-0EC1-47B63D95C5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842726"/>
            <a:ext cx="9791700" cy="3066370"/>
          </a:xfrm>
        </p:spPr>
        <p:txBody>
          <a:bodyPr/>
          <a:lstStyle/>
          <a:p>
            <a:r>
              <a:rPr lang="en-US" altLang="ja-JP" dirty="0"/>
              <a:t>D</a:t>
            </a:r>
            <a:r>
              <a:rPr kumimoji="1" lang="en-US" altLang="ja-JP" dirty="0"/>
              <a:t>ecoupled model</a:t>
            </a:r>
          </a:p>
          <a:p>
            <a:pPr lvl="1"/>
            <a:r>
              <a:rPr lang="en-US" altLang="ja-JP" sz="2400" dirty="0"/>
              <a:t>Define macrocrack and microcrack in </a:t>
            </a:r>
            <a:r>
              <a:rPr lang="en-US" altLang="ja-JP" sz="2400" u="sng" dirty="0"/>
              <a:t>separate models</a:t>
            </a:r>
            <a:endParaRPr kumimoji="1" lang="en-US" altLang="ja-JP" sz="2400" u="sng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51C37FD-1200-6667-5870-4A4DBAE6C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F6909-ABCB-BB45-AC56-A8377246EBB2}" type="slidenum">
              <a:rPr lang="ja-JP" altLang="en-US" smtClean="0"/>
              <a:pPr/>
              <a:t>3</a:t>
            </a:fld>
            <a:endParaRPr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24CDCB6-8180-F773-A87C-622EF9B33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Tokyo University of Science - Computational Materials Science Laboratory -</a:t>
            </a:r>
            <a:endParaRPr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B0819BD-DDDF-3993-C260-E0B88AAAC98D}"/>
              </a:ext>
            </a:extLst>
          </p:cNvPr>
          <p:cNvSpPr txBox="1"/>
          <p:nvPr/>
        </p:nvSpPr>
        <p:spPr>
          <a:xfrm>
            <a:off x="3597860" y="719816"/>
            <a:ext cx="402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1400" dirty="0"/>
              <a:t>[1]</a:t>
            </a:r>
            <a:endParaRPr kumimoji="1" lang="ja-JP" altLang="en-US" sz="1400" dirty="0"/>
          </a:p>
        </p:txBody>
      </p:sp>
      <p:sp>
        <p:nvSpPr>
          <p:cNvPr id="7" name="テキスト ボックス 7">
            <a:extLst>
              <a:ext uri="{FF2B5EF4-FFF2-40B4-BE49-F238E27FC236}">
                <a16:creationId xmlns:a16="http://schemas.microsoft.com/office/drawing/2014/main" id="{CFC6C564-A2D9-AD62-88E9-3CA73D83875F}"/>
              </a:ext>
            </a:extLst>
          </p:cNvPr>
          <p:cNvSpPr txBox="1"/>
          <p:nvPr/>
        </p:nvSpPr>
        <p:spPr>
          <a:xfrm>
            <a:off x="5087152" y="696258"/>
            <a:ext cx="38539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ja-JP" sz="1000" dirty="0"/>
              <a:t>[1] S.J. Noronha, N.M. </a:t>
            </a:r>
            <a:r>
              <a:rPr lang="en-US" altLang="ja-JP" sz="1000" dirty="0" err="1"/>
              <a:t>Ghoniem</a:t>
            </a:r>
            <a:r>
              <a:rPr lang="en-US" altLang="ja-JP" sz="1000" dirty="0"/>
              <a:t> Metall. Mat. Trans. vol. 37 (2006) 539.</a:t>
            </a:r>
            <a:endParaRPr kumimoji="1" lang="ja-JP" altLang="en-US" sz="1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正方形/長方形 18">
                <a:extLst>
                  <a:ext uri="{FF2B5EF4-FFF2-40B4-BE49-F238E27FC236}">
                    <a16:creationId xmlns:a16="http://schemas.microsoft.com/office/drawing/2014/main" id="{30BD7330-A925-E43B-FB77-4ABBAF31699E}"/>
                  </a:ext>
                </a:extLst>
              </p:cNvPr>
              <p:cNvSpPr/>
              <p:nvPr/>
            </p:nvSpPr>
            <p:spPr>
              <a:xfrm>
                <a:off x="576784" y="2585612"/>
                <a:ext cx="3360913" cy="707886"/>
              </a:xfrm>
              <a:prstGeom prst="rect">
                <a:avLst/>
              </a:prstGeom>
              <a:noFill/>
              <a:ln w="3810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ajor"/>
            </p:style>
            <p:txBody>
              <a:bodyPr wrap="square">
                <a:spAutoFit/>
              </a:bodyPr>
              <a:lstStyle>
                <a:lvl1pPr>
                  <a:defRPr>
                    <a:latin typeface="+mj-lt"/>
                    <a:ea typeface="+mj-ea"/>
                    <a:cs typeface="+mj-cs"/>
                  </a:defRPr>
                </a:lvl1pPr>
                <a:lvl2pPr>
                  <a:defRPr>
                    <a:latin typeface="+mj-lt"/>
                    <a:ea typeface="+mj-ea"/>
                    <a:cs typeface="+mj-cs"/>
                  </a:defRPr>
                </a:lvl2pPr>
                <a:lvl3pPr>
                  <a:defRPr>
                    <a:latin typeface="+mj-lt"/>
                    <a:ea typeface="+mj-ea"/>
                    <a:cs typeface="+mj-cs"/>
                  </a:defRPr>
                </a:lvl3pPr>
                <a:lvl4pPr>
                  <a:defRPr>
                    <a:latin typeface="+mj-lt"/>
                    <a:ea typeface="+mj-ea"/>
                    <a:cs typeface="+mj-cs"/>
                  </a:defRPr>
                </a:lvl4pPr>
                <a:lvl5pPr>
                  <a:defRPr>
                    <a:latin typeface="+mj-lt"/>
                    <a:ea typeface="+mj-ea"/>
                    <a:cs typeface="+mj-cs"/>
                  </a:defRPr>
                </a:lvl5pPr>
                <a:lvl6pPr>
                  <a:defRPr>
                    <a:latin typeface="+mj-lt"/>
                    <a:ea typeface="+mj-ea"/>
                    <a:cs typeface="+mj-cs"/>
                  </a:defRPr>
                </a:lvl6pPr>
                <a:lvl7pPr>
                  <a:defRPr>
                    <a:latin typeface="+mj-lt"/>
                    <a:ea typeface="+mj-ea"/>
                    <a:cs typeface="+mj-cs"/>
                  </a:defRPr>
                </a:lvl7pPr>
                <a:lvl8pPr>
                  <a:defRPr>
                    <a:latin typeface="+mj-lt"/>
                    <a:ea typeface="+mj-ea"/>
                    <a:cs typeface="+mj-cs"/>
                  </a:defRPr>
                </a:lvl8pPr>
                <a:lvl9pPr>
                  <a:defRPr>
                    <a:latin typeface="+mj-lt"/>
                    <a:ea typeface="+mj-ea"/>
                    <a:cs typeface="+mj-cs"/>
                  </a:defRPr>
                </a:lvl9pPr>
              </a:lstStyle>
              <a:p>
                <a:pPr algn="ctr"/>
                <a:r>
                  <a:rPr lang="en-US" altLang="ja-JP" sz="2000" dirty="0">
                    <a:latin typeface="+mn-ea"/>
                  </a:rPr>
                  <a:t>Calculation of microcrack fracture stress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en-US" altLang="ja-JP" sz="2000" dirty="0">
                    <a:latin typeface="+mn-ea"/>
                  </a:rPr>
                  <a:t>)</a:t>
                </a:r>
              </a:p>
            </p:txBody>
          </p:sp>
        </mc:Choice>
        <mc:Fallback xmlns="">
          <p:sp>
            <p:nvSpPr>
              <p:cNvPr id="19" name="正方形/長方形 18">
                <a:extLst>
                  <a:ext uri="{FF2B5EF4-FFF2-40B4-BE49-F238E27FC236}">
                    <a16:creationId xmlns:a16="http://schemas.microsoft.com/office/drawing/2014/main" id="{30BD7330-A925-E43B-FB77-4ABBAF3169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784" y="2585612"/>
                <a:ext cx="3360913" cy="707886"/>
              </a:xfrm>
              <a:prstGeom prst="rect">
                <a:avLst/>
              </a:prstGeom>
              <a:blipFill>
                <a:blip r:embed="rId7"/>
                <a:stretch>
                  <a:fillRect l="-752" t="-3509" r="-3008" b="-15789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B7770B24-32BD-49E6-38BF-F976C441C7D1}"/>
              </a:ext>
            </a:extLst>
          </p:cNvPr>
          <p:cNvSpPr/>
          <p:nvPr/>
        </p:nvSpPr>
        <p:spPr>
          <a:xfrm>
            <a:off x="155284" y="2125714"/>
            <a:ext cx="4290170" cy="46166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altLang="ja-JP" sz="2400" b="1" u="sng" dirty="0">
                <a:latin typeface="+mn-ea"/>
              </a:rPr>
              <a:t>① Microcrack simulation</a:t>
            </a:r>
            <a:endParaRPr lang="en-US" altLang="ja-JP" sz="1600" b="1" u="sng" dirty="0">
              <a:latin typeface="+mn-ea"/>
            </a:endParaRP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03E16805-620C-0187-B2F8-76248C8A4A7F}"/>
              </a:ext>
            </a:extLst>
          </p:cNvPr>
          <p:cNvSpPr/>
          <p:nvPr/>
        </p:nvSpPr>
        <p:spPr>
          <a:xfrm>
            <a:off x="4611621" y="2122198"/>
            <a:ext cx="4522767" cy="46166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altLang="ja-JP" sz="2400" b="1" u="sng" dirty="0">
                <a:latin typeface="+mn-ea"/>
              </a:rPr>
              <a:t>② Macrocrack simulation</a:t>
            </a:r>
            <a:endParaRPr lang="en-US" altLang="ja-JP" sz="1600" b="1" u="sng" dirty="0">
              <a:latin typeface="+mn-ea"/>
            </a:endParaRPr>
          </a:p>
        </p:txBody>
      </p:sp>
      <p:sp>
        <p:nvSpPr>
          <p:cNvPr id="33" name="右矢印 32">
            <a:extLst>
              <a:ext uri="{FF2B5EF4-FFF2-40B4-BE49-F238E27FC236}">
                <a16:creationId xmlns:a16="http://schemas.microsoft.com/office/drawing/2014/main" id="{4E9A0FE4-D5AA-E4C6-2137-D5A16FE2636B}"/>
              </a:ext>
            </a:extLst>
          </p:cNvPr>
          <p:cNvSpPr/>
          <p:nvPr/>
        </p:nvSpPr>
        <p:spPr>
          <a:xfrm>
            <a:off x="4258398" y="3750503"/>
            <a:ext cx="692132" cy="1717314"/>
          </a:xfrm>
          <a:prstGeom prst="rightArrow">
            <a:avLst>
              <a:gd name="adj1" fmla="val 53132"/>
              <a:gd name="adj2" fmla="val 59296"/>
            </a:avLst>
          </a:prstGeom>
          <a:solidFill>
            <a:srgbClr val="D8E1EF">
              <a:alpha val="8006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1FE472EC-1A7F-71EF-3337-45E241055F2A}"/>
              </a:ext>
            </a:extLst>
          </p:cNvPr>
          <p:cNvGrpSpPr/>
          <p:nvPr/>
        </p:nvGrpSpPr>
        <p:grpSpPr>
          <a:xfrm>
            <a:off x="168207" y="4896475"/>
            <a:ext cx="732122" cy="726195"/>
            <a:chOff x="2769337" y="4949747"/>
            <a:chExt cx="1225280" cy="1215361"/>
          </a:xfrm>
        </p:grpSpPr>
        <p:cxnSp>
          <p:nvCxnSpPr>
            <p:cNvPr id="39" name="直線矢印コネクタ 38">
              <a:extLst>
                <a:ext uri="{FF2B5EF4-FFF2-40B4-BE49-F238E27FC236}">
                  <a16:creationId xmlns:a16="http://schemas.microsoft.com/office/drawing/2014/main" id="{7AE48C68-99E3-4C74-FA99-7979236568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46687" y="5309617"/>
              <a:ext cx="0" cy="610665"/>
            </a:xfrm>
            <a:prstGeom prst="straightConnector1">
              <a:avLst/>
            </a:prstGeom>
            <a:ln w="19050" cap="rnd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矢印コネクタ 39">
              <a:extLst>
                <a:ext uri="{FF2B5EF4-FFF2-40B4-BE49-F238E27FC236}">
                  <a16:creationId xmlns:a16="http://schemas.microsoft.com/office/drawing/2014/main" id="{AC7CCB65-C7F8-6199-F504-8861A48AB3B1}"/>
                </a:ext>
              </a:extLst>
            </p:cNvPr>
            <p:cNvCxnSpPr>
              <a:cxnSpLocks/>
            </p:cNvCxnSpPr>
            <p:nvPr/>
          </p:nvCxnSpPr>
          <p:spPr>
            <a:xfrm>
              <a:off x="3246687" y="5920283"/>
              <a:ext cx="607539" cy="0"/>
            </a:xfrm>
            <a:prstGeom prst="straightConnector1">
              <a:avLst/>
            </a:prstGeom>
            <a:ln w="19050" cap="rnd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テキスト ボックス 42">
                  <a:extLst>
                    <a:ext uri="{FF2B5EF4-FFF2-40B4-BE49-F238E27FC236}">
                      <a16:creationId xmlns:a16="http://schemas.microsoft.com/office/drawing/2014/main" id="{297E62B8-B700-DC2E-C9B5-7621AFEFDB3A}"/>
                    </a:ext>
                  </a:extLst>
                </p:cNvPr>
                <p:cNvSpPr txBox="1"/>
                <p:nvPr/>
              </p:nvSpPr>
              <p:spPr>
                <a:xfrm>
                  <a:off x="2769337" y="4949747"/>
                  <a:ext cx="3826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kumimoji="1" lang="ja-JP" altLang="en-US"/>
                </a:p>
              </p:txBody>
            </p:sp>
          </mc:Choice>
          <mc:Fallback xmlns="">
            <p:sp>
              <p:nvSpPr>
                <p:cNvPr id="43" name="テキスト ボックス 42">
                  <a:extLst>
                    <a:ext uri="{FF2B5EF4-FFF2-40B4-BE49-F238E27FC236}">
                      <a16:creationId xmlns:a16="http://schemas.microsoft.com/office/drawing/2014/main" id="{297E62B8-B700-DC2E-C9B5-7621AFEFDB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69337" y="4949747"/>
                  <a:ext cx="382604" cy="369332"/>
                </a:xfrm>
                <a:prstGeom prst="rect">
                  <a:avLst/>
                </a:prstGeom>
                <a:blipFill>
                  <a:blip r:embed="rId8"/>
                  <a:stretch>
                    <a:fillRect r="-31579" b="-8333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テキスト ボックス 43">
                  <a:extLst>
                    <a:ext uri="{FF2B5EF4-FFF2-40B4-BE49-F238E27FC236}">
                      <a16:creationId xmlns:a16="http://schemas.microsoft.com/office/drawing/2014/main" id="{E3724F11-1362-BD2C-D952-455B4FE66F5D}"/>
                    </a:ext>
                  </a:extLst>
                </p:cNvPr>
                <p:cNvSpPr txBox="1"/>
                <p:nvPr/>
              </p:nvSpPr>
              <p:spPr>
                <a:xfrm>
                  <a:off x="3615411" y="5795776"/>
                  <a:ext cx="37920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kumimoji="1" lang="ja-JP" altLang="en-US"/>
                </a:p>
              </p:txBody>
            </p:sp>
          </mc:Choice>
          <mc:Fallback xmlns="">
            <p:sp>
              <p:nvSpPr>
                <p:cNvPr id="44" name="テキスト ボックス 43">
                  <a:extLst>
                    <a:ext uri="{FF2B5EF4-FFF2-40B4-BE49-F238E27FC236}">
                      <a16:creationId xmlns:a16="http://schemas.microsoft.com/office/drawing/2014/main" id="{E3724F11-1362-BD2C-D952-455B4FE66F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15411" y="5795776"/>
                  <a:ext cx="379206" cy="369332"/>
                </a:xfrm>
                <a:prstGeom prst="rect">
                  <a:avLst/>
                </a:prstGeom>
                <a:blipFill>
                  <a:blip r:embed="rId9"/>
                  <a:stretch>
                    <a:fillRect r="-15789" b="-4444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正方形/長方形 46">
                <a:extLst>
                  <a:ext uri="{FF2B5EF4-FFF2-40B4-BE49-F238E27FC236}">
                    <a16:creationId xmlns:a16="http://schemas.microsoft.com/office/drawing/2014/main" id="{F3448C02-E38D-9BA7-0184-24215ACAA3DB}"/>
                  </a:ext>
                </a:extLst>
              </p:cNvPr>
              <p:cNvSpPr/>
              <p:nvPr/>
            </p:nvSpPr>
            <p:spPr>
              <a:xfrm>
                <a:off x="4780489" y="2561978"/>
                <a:ext cx="4443246" cy="707886"/>
              </a:xfrm>
              <a:prstGeom prst="rect">
                <a:avLst/>
              </a:prstGeom>
              <a:noFill/>
              <a:ln w="3810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ajor"/>
            </p:style>
            <p:txBody>
              <a:bodyPr wrap="square">
                <a:spAutoFit/>
              </a:bodyPr>
              <a:lstStyle>
                <a:lvl1pPr>
                  <a:defRPr>
                    <a:latin typeface="+mj-lt"/>
                    <a:ea typeface="+mj-ea"/>
                    <a:cs typeface="+mj-cs"/>
                  </a:defRPr>
                </a:lvl1pPr>
                <a:lvl2pPr>
                  <a:defRPr>
                    <a:latin typeface="+mj-lt"/>
                    <a:ea typeface="+mj-ea"/>
                    <a:cs typeface="+mj-cs"/>
                  </a:defRPr>
                </a:lvl2pPr>
                <a:lvl3pPr>
                  <a:defRPr>
                    <a:latin typeface="+mj-lt"/>
                    <a:ea typeface="+mj-ea"/>
                    <a:cs typeface="+mj-cs"/>
                  </a:defRPr>
                </a:lvl3pPr>
                <a:lvl4pPr>
                  <a:defRPr>
                    <a:latin typeface="+mj-lt"/>
                    <a:ea typeface="+mj-ea"/>
                    <a:cs typeface="+mj-cs"/>
                  </a:defRPr>
                </a:lvl4pPr>
                <a:lvl5pPr>
                  <a:defRPr>
                    <a:latin typeface="+mj-lt"/>
                    <a:ea typeface="+mj-ea"/>
                    <a:cs typeface="+mj-cs"/>
                  </a:defRPr>
                </a:lvl5pPr>
                <a:lvl6pPr>
                  <a:defRPr>
                    <a:latin typeface="+mj-lt"/>
                    <a:ea typeface="+mj-ea"/>
                    <a:cs typeface="+mj-cs"/>
                  </a:defRPr>
                </a:lvl6pPr>
                <a:lvl7pPr>
                  <a:defRPr>
                    <a:latin typeface="+mj-lt"/>
                    <a:ea typeface="+mj-ea"/>
                    <a:cs typeface="+mj-cs"/>
                  </a:defRPr>
                </a:lvl7pPr>
                <a:lvl8pPr>
                  <a:defRPr>
                    <a:latin typeface="+mj-lt"/>
                    <a:ea typeface="+mj-ea"/>
                    <a:cs typeface="+mj-cs"/>
                  </a:defRPr>
                </a:lvl8pPr>
                <a:lvl9pPr>
                  <a:defRPr>
                    <a:latin typeface="+mj-lt"/>
                    <a:ea typeface="+mj-ea"/>
                    <a:cs typeface="+mj-cs"/>
                  </a:defRPr>
                </a:lvl9pPr>
              </a:lstStyle>
              <a:p>
                <a:pPr algn="ctr"/>
                <a:r>
                  <a:rPr lang="en-US" altLang="ja-JP" sz="2000" dirty="0">
                    <a:latin typeface="+mn-ea"/>
                  </a:rPr>
                  <a:t>Calculation of </a:t>
                </a:r>
                <a:br>
                  <a:rPr lang="en-US" altLang="ja-JP" sz="2000" dirty="0">
                    <a:latin typeface="+mn-ea"/>
                  </a:rPr>
                </a:br>
                <a:r>
                  <a:rPr lang="en-US" altLang="ja-JP" sz="2000" dirty="0">
                    <a:latin typeface="+mn-ea"/>
                  </a:rPr>
                  <a:t>fracture toughness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en-US" altLang="ja-JP" sz="2000" dirty="0">
                    <a:latin typeface="+mn-ea"/>
                  </a:rPr>
                  <a:t>)</a:t>
                </a:r>
              </a:p>
            </p:txBody>
          </p:sp>
        </mc:Choice>
        <mc:Fallback xmlns="">
          <p:sp>
            <p:nvSpPr>
              <p:cNvPr id="47" name="正方形/長方形 46">
                <a:extLst>
                  <a:ext uri="{FF2B5EF4-FFF2-40B4-BE49-F238E27FC236}">
                    <a16:creationId xmlns:a16="http://schemas.microsoft.com/office/drawing/2014/main" id="{F3448C02-E38D-9BA7-0184-24215ACAA3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0489" y="2561978"/>
                <a:ext cx="4443246" cy="707886"/>
              </a:xfrm>
              <a:prstGeom prst="rect">
                <a:avLst/>
              </a:prstGeom>
              <a:blipFill>
                <a:blip r:embed="rId10"/>
                <a:stretch>
                  <a:fillRect t="-3509" b="-15789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5" name="グループ化 74">
            <a:extLst>
              <a:ext uri="{FF2B5EF4-FFF2-40B4-BE49-F238E27FC236}">
                <a16:creationId xmlns:a16="http://schemas.microsoft.com/office/drawing/2014/main" id="{D14F70B7-3FB9-AA97-588D-535677A5B281}"/>
              </a:ext>
            </a:extLst>
          </p:cNvPr>
          <p:cNvGrpSpPr/>
          <p:nvPr/>
        </p:nvGrpSpPr>
        <p:grpSpPr>
          <a:xfrm>
            <a:off x="1220594" y="3283318"/>
            <a:ext cx="2082800" cy="2331829"/>
            <a:chOff x="1221139" y="2510630"/>
            <a:chExt cx="2082800" cy="2331829"/>
          </a:xfrm>
        </p:grpSpPr>
        <p:pic>
          <p:nvPicPr>
            <p:cNvPr id="49" name="図 48" descr="抽象, 時計, 男, オレンジ が含まれている画像&#10;&#10;自動的に生成された説明">
              <a:extLst>
                <a:ext uri="{FF2B5EF4-FFF2-40B4-BE49-F238E27FC236}">
                  <a16:creationId xmlns:a16="http://schemas.microsoft.com/office/drawing/2014/main" id="{A872E08C-8245-A1BC-95BE-5E02B414BC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221139" y="2658059"/>
              <a:ext cx="2082800" cy="21844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正方形/長方形 70">
                  <a:extLst>
                    <a:ext uri="{FF2B5EF4-FFF2-40B4-BE49-F238E27FC236}">
                      <a16:creationId xmlns:a16="http://schemas.microsoft.com/office/drawing/2014/main" id="{B5DA4A16-C314-44F1-7BBC-82B73B95493E}"/>
                    </a:ext>
                  </a:extLst>
                </p:cNvPr>
                <p:cNvSpPr/>
                <p:nvPr/>
              </p:nvSpPr>
              <p:spPr>
                <a:xfrm>
                  <a:off x="2497944" y="2510630"/>
                  <a:ext cx="376370" cy="391261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ajor"/>
              </p:style>
              <p:txBody>
                <a:bodyPr wrap="square">
                  <a:spAutoFit/>
                </a:bodyPr>
                <a:lstStyle>
                  <a:lvl1pPr>
                    <a:defRPr>
                      <a:latin typeface="+mj-lt"/>
                      <a:ea typeface="+mj-ea"/>
                      <a:cs typeface="+mj-cs"/>
                    </a:defRPr>
                  </a:lvl1pPr>
                  <a:lvl2pPr>
                    <a:defRPr>
                      <a:latin typeface="+mj-lt"/>
                      <a:ea typeface="+mj-ea"/>
                      <a:cs typeface="+mj-cs"/>
                    </a:defRPr>
                  </a:lvl2pPr>
                  <a:lvl3pPr>
                    <a:defRPr>
                      <a:latin typeface="+mj-lt"/>
                      <a:ea typeface="+mj-ea"/>
                      <a:cs typeface="+mj-cs"/>
                    </a:defRPr>
                  </a:lvl3pPr>
                  <a:lvl4pPr>
                    <a:defRPr>
                      <a:latin typeface="+mj-lt"/>
                      <a:ea typeface="+mj-ea"/>
                      <a:cs typeface="+mj-cs"/>
                    </a:defRPr>
                  </a:lvl4pPr>
                  <a:lvl5pPr>
                    <a:defRPr>
                      <a:latin typeface="+mj-lt"/>
                      <a:ea typeface="+mj-ea"/>
                      <a:cs typeface="+mj-cs"/>
                    </a:defRPr>
                  </a:lvl5pPr>
                  <a:lvl6pPr>
                    <a:defRPr>
                      <a:latin typeface="+mj-lt"/>
                      <a:ea typeface="+mj-ea"/>
                      <a:cs typeface="+mj-cs"/>
                    </a:defRPr>
                  </a:lvl6pPr>
                  <a:lvl7pPr>
                    <a:defRPr>
                      <a:latin typeface="+mj-lt"/>
                      <a:ea typeface="+mj-ea"/>
                      <a:cs typeface="+mj-cs"/>
                    </a:defRPr>
                  </a:lvl7pPr>
                  <a:lvl8pPr>
                    <a:defRPr>
                      <a:latin typeface="+mj-lt"/>
                      <a:ea typeface="+mj-ea"/>
                      <a:cs typeface="+mj-cs"/>
                    </a:defRPr>
                  </a:lvl8pPr>
                  <a:lvl9pPr>
                    <a:defRPr>
                      <a:latin typeface="+mj-lt"/>
                      <a:ea typeface="+mj-ea"/>
                      <a:cs typeface="+mj-cs"/>
                    </a:defRPr>
                  </a:lvl9pPr>
                </a:lstStyle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𝑦𝑦</m:t>
                            </m:r>
                          </m:sub>
                        </m:sSub>
                      </m:oMath>
                    </m:oMathPara>
                  </a14:m>
                  <a:endParaRPr lang="en-US" altLang="ja-JP" dirty="0"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71" name="正方形/長方形 70">
                  <a:extLst>
                    <a:ext uri="{FF2B5EF4-FFF2-40B4-BE49-F238E27FC236}">
                      <a16:creationId xmlns:a16="http://schemas.microsoft.com/office/drawing/2014/main" id="{B5DA4A16-C314-44F1-7BBC-82B73B95493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97944" y="2510630"/>
                  <a:ext cx="376370" cy="391261"/>
                </a:xfrm>
                <a:prstGeom prst="rect">
                  <a:avLst/>
                </a:prstGeom>
                <a:blipFill>
                  <a:blip r:embed="rId12"/>
                  <a:stretch>
                    <a:fillRect l="-19355" b="-3125"/>
                  </a:stretch>
                </a:blipFill>
                <a:ln w="38100">
                  <a:noFill/>
                </a:ln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正方形/長方形 72">
                <a:extLst>
                  <a:ext uri="{FF2B5EF4-FFF2-40B4-BE49-F238E27FC236}">
                    <a16:creationId xmlns:a16="http://schemas.microsoft.com/office/drawing/2014/main" id="{49FC4CEF-5F28-B95F-4D3E-9400B6B1E5D9}"/>
                  </a:ext>
                </a:extLst>
              </p:cNvPr>
              <p:cNvSpPr/>
              <p:nvPr/>
            </p:nvSpPr>
            <p:spPr>
              <a:xfrm>
                <a:off x="7987025" y="3873691"/>
                <a:ext cx="489491" cy="416909"/>
              </a:xfrm>
              <a:custGeom>
                <a:avLst/>
                <a:gdLst>
                  <a:gd name="connsiteX0" fmla="*/ 0 w 489491"/>
                  <a:gd name="connsiteY0" fmla="*/ 0 h 416909"/>
                  <a:gd name="connsiteX1" fmla="*/ 489491 w 489491"/>
                  <a:gd name="connsiteY1" fmla="*/ 0 h 416909"/>
                  <a:gd name="connsiteX2" fmla="*/ 489491 w 489491"/>
                  <a:gd name="connsiteY2" fmla="*/ 416909 h 416909"/>
                  <a:gd name="connsiteX3" fmla="*/ 0 w 489491"/>
                  <a:gd name="connsiteY3" fmla="*/ 416909 h 416909"/>
                  <a:gd name="connsiteX4" fmla="*/ 0 w 489491"/>
                  <a:gd name="connsiteY4" fmla="*/ 0 h 4169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9491" h="416909" extrusionOk="0">
                    <a:moveTo>
                      <a:pt x="0" y="0"/>
                    </a:moveTo>
                    <a:cubicBezTo>
                      <a:pt x="211320" y="1822"/>
                      <a:pt x="256170" y="15342"/>
                      <a:pt x="489491" y="0"/>
                    </a:cubicBezTo>
                    <a:cubicBezTo>
                      <a:pt x="515095" y="182479"/>
                      <a:pt x="526148" y="359030"/>
                      <a:pt x="489491" y="416909"/>
                    </a:cubicBezTo>
                    <a:cubicBezTo>
                      <a:pt x="377687" y="452449"/>
                      <a:pt x="215443" y="416825"/>
                      <a:pt x="0" y="416909"/>
                    </a:cubicBezTo>
                    <a:cubicBezTo>
                      <a:pt x="-3903" y="368659"/>
                      <a:pt x="-3670" y="188674"/>
                      <a:pt x="0" y="0"/>
                    </a:cubicBezTo>
                    <a:close/>
                  </a:path>
                </a:pathLst>
              </a:custGeom>
              <a:noFill/>
              <a:ln w="38100">
                <a:noFill/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Curved/>
                      </ask:type>
                    </ask:lineSketchStyleProps>
                  </a:ext>
                </a:extLst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ajor"/>
            </p:style>
            <p:txBody>
              <a:bodyPr wrap="square">
                <a:spAutoFit/>
              </a:bodyPr>
              <a:lstStyle>
                <a:lvl1pPr>
                  <a:defRPr>
                    <a:latin typeface="+mj-lt"/>
                    <a:ea typeface="+mj-ea"/>
                    <a:cs typeface="+mj-cs"/>
                  </a:defRPr>
                </a:lvl1pPr>
                <a:lvl2pPr>
                  <a:defRPr>
                    <a:latin typeface="+mj-lt"/>
                    <a:ea typeface="+mj-ea"/>
                    <a:cs typeface="+mj-cs"/>
                  </a:defRPr>
                </a:lvl2pPr>
                <a:lvl3pPr>
                  <a:defRPr>
                    <a:latin typeface="+mj-lt"/>
                    <a:ea typeface="+mj-ea"/>
                    <a:cs typeface="+mj-cs"/>
                  </a:defRPr>
                </a:lvl3pPr>
                <a:lvl4pPr>
                  <a:defRPr>
                    <a:latin typeface="+mj-lt"/>
                    <a:ea typeface="+mj-ea"/>
                    <a:cs typeface="+mj-cs"/>
                  </a:defRPr>
                </a:lvl4pPr>
                <a:lvl5pPr>
                  <a:defRPr>
                    <a:latin typeface="+mj-lt"/>
                    <a:ea typeface="+mj-ea"/>
                    <a:cs typeface="+mj-cs"/>
                  </a:defRPr>
                </a:lvl5pPr>
                <a:lvl6pPr>
                  <a:defRPr>
                    <a:latin typeface="+mj-lt"/>
                    <a:ea typeface="+mj-ea"/>
                    <a:cs typeface="+mj-cs"/>
                  </a:defRPr>
                </a:lvl6pPr>
                <a:lvl7pPr>
                  <a:defRPr>
                    <a:latin typeface="+mj-lt"/>
                    <a:ea typeface="+mj-ea"/>
                    <a:cs typeface="+mj-cs"/>
                  </a:defRPr>
                </a:lvl7pPr>
                <a:lvl8pPr>
                  <a:defRPr>
                    <a:latin typeface="+mj-lt"/>
                    <a:ea typeface="+mj-ea"/>
                    <a:cs typeface="+mj-cs"/>
                  </a:defRPr>
                </a:lvl8pPr>
                <a:lvl9pPr>
                  <a:defRPr>
                    <a:latin typeface="+mj-lt"/>
                    <a:ea typeface="+mj-ea"/>
                    <a:cs typeface="+mj-cs"/>
                  </a:defRPr>
                </a:lvl9pPr>
              </a:lstStyle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ja-JP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𝑦𝑦</m:t>
                        </m:r>
                      </m:sub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bSup>
                  </m:oMath>
                </a14:m>
                <a:r>
                  <a:rPr lang="en-US" altLang="ja-JP" dirty="0">
                    <a:latin typeface="+mn-ea"/>
                  </a:rPr>
                  <a:t>   </a:t>
                </a:r>
              </a:p>
            </p:txBody>
          </p:sp>
        </mc:Choice>
        <mc:Fallback xmlns="">
          <p:sp>
            <p:nvSpPr>
              <p:cNvPr id="73" name="正方形/長方形 72">
                <a:extLst>
                  <a:ext uri="{FF2B5EF4-FFF2-40B4-BE49-F238E27FC236}">
                    <a16:creationId xmlns:a16="http://schemas.microsoft.com/office/drawing/2014/main" id="{49FC4CEF-5F28-B95F-4D3E-9400B6B1E5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7025" y="3873691"/>
                <a:ext cx="489491" cy="41690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38100">
                <a:noFill/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onnsiteX0" fmla="*/ 0 w 489491"/>
                          <a:gd name="connsiteY0" fmla="*/ 0 h 416909"/>
                          <a:gd name="connsiteX1" fmla="*/ 489491 w 489491"/>
                          <a:gd name="connsiteY1" fmla="*/ 0 h 416909"/>
                          <a:gd name="connsiteX2" fmla="*/ 489491 w 489491"/>
                          <a:gd name="connsiteY2" fmla="*/ 416909 h 416909"/>
                          <a:gd name="connsiteX3" fmla="*/ 0 w 489491"/>
                          <a:gd name="connsiteY3" fmla="*/ 416909 h 416909"/>
                          <a:gd name="connsiteX4" fmla="*/ 0 w 489491"/>
                          <a:gd name="connsiteY4" fmla="*/ 0 h 41690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489491" h="416909" extrusionOk="0">
                            <a:moveTo>
                              <a:pt x="0" y="0"/>
                            </a:moveTo>
                            <a:cubicBezTo>
                              <a:pt x="211320" y="1822"/>
                              <a:pt x="256170" y="15342"/>
                              <a:pt x="489491" y="0"/>
                            </a:cubicBezTo>
                            <a:cubicBezTo>
                              <a:pt x="515095" y="182479"/>
                              <a:pt x="526148" y="359030"/>
                              <a:pt x="489491" y="416909"/>
                            </a:cubicBezTo>
                            <a:cubicBezTo>
                              <a:pt x="377687" y="452449"/>
                              <a:pt x="215443" y="416825"/>
                              <a:pt x="0" y="416909"/>
                            </a:cubicBezTo>
                            <a:cubicBezTo>
                              <a:pt x="-3903" y="368659"/>
                              <a:pt x="-3670" y="188674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Curved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右矢印 75">
            <a:extLst>
              <a:ext uri="{FF2B5EF4-FFF2-40B4-BE49-F238E27FC236}">
                <a16:creationId xmlns:a16="http://schemas.microsoft.com/office/drawing/2014/main" id="{9B7D7677-474A-1650-22F1-6194EAD9DEAD}"/>
              </a:ext>
            </a:extLst>
          </p:cNvPr>
          <p:cNvSpPr/>
          <p:nvPr/>
        </p:nvSpPr>
        <p:spPr>
          <a:xfrm rot="16200000">
            <a:off x="8016648" y="4294166"/>
            <a:ext cx="232819" cy="197427"/>
          </a:xfrm>
          <a:prstGeom prst="rightArrow">
            <a:avLst/>
          </a:prstGeom>
          <a:solidFill>
            <a:srgbClr val="FF0000">
              <a:alpha val="50196"/>
            </a:srgbClr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7" name="右矢印 76">
            <a:extLst>
              <a:ext uri="{FF2B5EF4-FFF2-40B4-BE49-F238E27FC236}">
                <a16:creationId xmlns:a16="http://schemas.microsoft.com/office/drawing/2014/main" id="{C6793330-BB9B-5ED4-A4C9-345E42E513E1}"/>
              </a:ext>
            </a:extLst>
          </p:cNvPr>
          <p:cNvSpPr/>
          <p:nvPr/>
        </p:nvSpPr>
        <p:spPr>
          <a:xfrm rot="5400000">
            <a:off x="8016648" y="4749545"/>
            <a:ext cx="232819" cy="197427"/>
          </a:xfrm>
          <a:prstGeom prst="rightArrow">
            <a:avLst/>
          </a:prstGeom>
          <a:solidFill>
            <a:srgbClr val="FF0000">
              <a:alpha val="50196"/>
            </a:srgbClr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C0E84811-CEC7-40C3-A379-5849F893E785}"/>
                  </a:ext>
                </a:extLst>
              </p:cNvPr>
              <p:cNvSpPr txBox="1"/>
              <p:nvPr/>
            </p:nvSpPr>
            <p:spPr>
              <a:xfrm>
                <a:off x="1097019" y="4309437"/>
                <a:ext cx="67698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kumimoji="1" lang="ja-JP" altLang="en-US" sz="2000" dirty="0"/>
              </a:p>
            </p:txBody>
          </p:sp>
        </mc:Choice>
        <mc:Fallback xmlns="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C0E84811-CEC7-40C3-A379-5849F893E7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019" y="4309437"/>
                <a:ext cx="676980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96666DC6-277C-312C-E00B-E94F45F82332}"/>
              </a:ext>
            </a:extLst>
          </p:cNvPr>
          <p:cNvGrpSpPr/>
          <p:nvPr/>
        </p:nvGrpSpPr>
        <p:grpSpPr>
          <a:xfrm>
            <a:off x="4672899" y="5994565"/>
            <a:ext cx="4356579" cy="525080"/>
            <a:chOff x="214711" y="5830870"/>
            <a:chExt cx="4356579" cy="5250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20C00BAA-430B-F6D6-E4E2-56297ECF7231}"/>
                    </a:ext>
                  </a:extLst>
                </p:cNvPr>
                <p:cNvSpPr txBox="1"/>
                <p:nvPr/>
              </p:nvSpPr>
              <p:spPr>
                <a:xfrm>
                  <a:off x="214711" y="5830870"/>
                  <a:ext cx="2369303" cy="52508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kumimoji="1" lang="en-US" altLang="ja-JP" sz="2400" dirty="0">
                      <a:solidFill>
                        <a:schemeClr val="tx1"/>
                      </a:solidFill>
                      <a:latin typeface="+mn-ea"/>
                    </a:rPr>
                    <a:t>When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ja-JP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𝑦𝑦</m:t>
                          </m:r>
                        </m:sub>
                        <m:sup>
                          <m:r>
                            <a:rPr kumimoji="1" lang="en-US" altLang="ja-JP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bSup>
                      <m:r>
                        <a:rPr kumimoji="1"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ja-JP" alt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𝝈</m:t>
                          </m:r>
                        </m:e>
                        <m:sub>
                          <m:r>
                            <a:rPr kumimoji="1" lang="en-US" altLang="ja-JP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sub>
                      </m:sSub>
                    </m:oMath>
                  </a14:m>
                  <a:endParaRPr kumimoji="1" lang="ja-JP" altLang="en-US" sz="2400" b="1" dirty="0"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20C00BAA-430B-F6D6-E4E2-56297ECF72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4711" y="5830870"/>
                  <a:ext cx="2369303" cy="525080"/>
                </a:xfrm>
                <a:prstGeom prst="rect">
                  <a:avLst/>
                </a:prstGeom>
                <a:blipFill>
                  <a:blip r:embed="rId15"/>
                  <a:stretch>
                    <a:fillRect l="-4278" b="-2325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9970BA5D-F06B-E689-75DB-AC74E1D38268}"/>
                    </a:ext>
                  </a:extLst>
                </p:cNvPr>
                <p:cNvSpPr txBox="1"/>
                <p:nvPr/>
              </p:nvSpPr>
              <p:spPr>
                <a:xfrm>
                  <a:off x="2773105" y="5850073"/>
                  <a:ext cx="1798185" cy="49475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sz="2400" b="1" i="1" u="sng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2400" b="1" i="1" u="sng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𝑲</m:t>
                            </m:r>
                          </m:e>
                          <m:sub>
                            <m:r>
                              <a:rPr kumimoji="1" lang="en-US" altLang="ja-JP" sz="2400" b="1" i="1" u="sng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𝒂𝒑𝒑</m:t>
                            </m:r>
                          </m:sub>
                        </m:sSub>
                        <m:r>
                          <a:rPr kumimoji="1" lang="en-US" altLang="ja-JP" sz="2400" b="1" i="1" u="sng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ja-JP" sz="2400" b="1" i="1" u="sng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2400" b="1" i="1" u="sng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𝑲</m:t>
                            </m:r>
                          </m:e>
                          <m:sub>
                            <m:r>
                              <a:rPr kumimoji="1" lang="en-US" altLang="ja-JP" sz="2400" b="1" i="1" u="sng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𝑰𝒄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sz="2400" b="1" u="sng" dirty="0">
                    <a:solidFill>
                      <a:srgbClr val="376092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9970BA5D-F06B-E689-75DB-AC74E1D382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73105" y="5850073"/>
                  <a:ext cx="1798185" cy="494751"/>
                </a:xfrm>
                <a:prstGeom prst="rect">
                  <a:avLst/>
                </a:prstGeom>
                <a:blipFill>
                  <a:blip r:embed="rId16"/>
                  <a:stretch>
                    <a:fillRect b="-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C8348195-CCE5-00F8-E1FB-6A9CA216D9C0}"/>
                </a:ext>
              </a:extLst>
            </p:cNvPr>
            <p:cNvSpPr txBox="1"/>
            <p:nvPr/>
          </p:nvSpPr>
          <p:spPr>
            <a:xfrm>
              <a:off x="2414817" y="5879375"/>
              <a:ext cx="4635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ja-JP" altLang="en-US" sz="2400" dirty="0"/>
                <a:t>→</a:t>
              </a:r>
            </a:p>
          </p:txBody>
        </p:sp>
      </p:grp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5F9C5B1E-DC96-8915-6203-A3F7D09F640C}"/>
              </a:ext>
            </a:extLst>
          </p:cNvPr>
          <p:cNvSpPr/>
          <p:nvPr/>
        </p:nvSpPr>
        <p:spPr>
          <a:xfrm>
            <a:off x="777405" y="5880399"/>
            <a:ext cx="3287462" cy="6610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endParaRPr kumimoji="1" lang="ja-JP" altLang="en-US" sz="2000">
              <a:solidFill>
                <a:srgbClr val="376092"/>
              </a:solidFill>
            </a:endParaRPr>
          </a:p>
        </p:txBody>
      </p:sp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514908EE-6C05-F26D-2FF8-84BB3683E6A1}"/>
              </a:ext>
            </a:extLst>
          </p:cNvPr>
          <p:cNvGrpSpPr/>
          <p:nvPr/>
        </p:nvGrpSpPr>
        <p:grpSpPr>
          <a:xfrm>
            <a:off x="309325" y="5985902"/>
            <a:ext cx="3922970" cy="523220"/>
            <a:chOff x="329497" y="5757302"/>
            <a:chExt cx="3922970" cy="5232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テキスト ボックス 8">
                  <a:extLst>
                    <a:ext uri="{FF2B5EF4-FFF2-40B4-BE49-F238E27FC236}">
                      <a16:creationId xmlns:a16="http://schemas.microsoft.com/office/drawing/2014/main" id="{EF8E4AD7-2D81-146A-54C8-DB6772DF20FC}"/>
                    </a:ext>
                  </a:extLst>
                </p:cNvPr>
                <p:cNvSpPr txBox="1"/>
                <p:nvPr/>
              </p:nvSpPr>
              <p:spPr>
                <a:xfrm>
                  <a:off x="329497" y="5794698"/>
                  <a:ext cx="2147254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kumimoji="1" lang="en-US" altLang="ja-JP" sz="2400" dirty="0">
                      <a:solidFill>
                        <a:schemeClr val="tx1"/>
                      </a:solidFill>
                      <a:latin typeface="+mn-ea"/>
                    </a:rPr>
                    <a:t>When </a:t>
                  </a:r>
                  <a14:m>
                    <m:oMath xmlns:m="http://schemas.openxmlformats.org/officeDocument/2006/math">
                      <m:r>
                        <a:rPr kumimoji="1" lang="en-US" altLang="ja-JP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kumimoji="1" lang="en-US" altLang="ja-JP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kumimoji="1" lang="en-US" altLang="ja-JP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𝐼𝑐</m:t>
                          </m:r>
                        </m:sub>
                      </m:sSub>
                    </m:oMath>
                  </a14:m>
                  <a:endParaRPr kumimoji="1" lang="en-US" altLang="ja-JP" sz="2400" dirty="0"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9" name="テキスト ボックス 8">
                  <a:extLst>
                    <a:ext uri="{FF2B5EF4-FFF2-40B4-BE49-F238E27FC236}">
                      <a16:creationId xmlns:a16="http://schemas.microsoft.com/office/drawing/2014/main" id="{EF8E4AD7-2D81-146A-54C8-DB6772DF20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497" y="5794698"/>
                  <a:ext cx="2147254" cy="461665"/>
                </a:xfrm>
                <a:prstGeom prst="rect">
                  <a:avLst/>
                </a:prstGeom>
                <a:blipFill>
                  <a:blip r:embed="rId17"/>
                  <a:stretch>
                    <a:fillRect l="-4706" t="-8108" b="-2973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4DD83DF9-4871-C259-677B-12DF3A864628}"/>
                    </a:ext>
                  </a:extLst>
                </p:cNvPr>
                <p:cNvSpPr txBox="1"/>
                <p:nvPr/>
              </p:nvSpPr>
              <p:spPr>
                <a:xfrm>
                  <a:off x="2754044" y="5757302"/>
                  <a:ext cx="1498423" cy="4955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sz="2400" i="1" u="sng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ja-JP" altLang="en-US" sz="2400" b="0" i="1" u="sng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kumimoji="1" lang="en-US" altLang="ja-JP" sz="2400" b="0" i="1" u="sng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𝑦𝑦</m:t>
                            </m:r>
                          </m:sub>
                        </m:sSub>
                        <m:r>
                          <a:rPr kumimoji="1" lang="en-US" altLang="ja-JP" sz="2400" b="0" i="1" u="sng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ja-JP" sz="2400" b="1" i="1" u="sng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ja-JP" altLang="en-US" sz="2400" b="1" i="1" u="sng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𝝈</m:t>
                            </m:r>
                          </m:e>
                          <m:sub>
                            <m:r>
                              <a:rPr kumimoji="1" lang="en-US" altLang="ja-JP" sz="2400" b="1" i="1" u="sng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𝑭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sz="2400" b="1" u="sng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4DD83DF9-4871-C259-677B-12DF3A8646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54044" y="5757302"/>
                  <a:ext cx="1498423" cy="495520"/>
                </a:xfrm>
                <a:prstGeom prst="rect">
                  <a:avLst/>
                </a:prstGeom>
                <a:blipFill>
                  <a:blip r:embed="rId18"/>
                  <a:stretch>
                    <a:fillRect b="-5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962C5832-BD08-891B-884E-598413785DBB}"/>
                </a:ext>
              </a:extLst>
            </p:cNvPr>
            <p:cNvSpPr txBox="1"/>
            <p:nvPr/>
          </p:nvSpPr>
          <p:spPr>
            <a:xfrm>
              <a:off x="2320541" y="5757302"/>
              <a:ext cx="51007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ja-JP" altLang="en-US" sz="2800" dirty="0"/>
                <a:t>→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B09F936F-9572-1B32-FB3D-9B72C1EB8A11}"/>
                  </a:ext>
                </a:extLst>
              </p:cNvPr>
              <p:cNvSpPr txBox="1"/>
              <p:nvPr/>
            </p:nvSpPr>
            <p:spPr>
              <a:xfrm>
                <a:off x="4265980" y="4323299"/>
                <a:ext cx="6222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b="1" i="1" u="sng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ja-JP" altLang="en-US" sz="2400" b="1" i="1" u="sng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𝝈</m:t>
                          </m:r>
                        </m:e>
                        <m:sub>
                          <m:r>
                            <a:rPr kumimoji="1" lang="en-US" altLang="ja-JP" sz="2400" b="1" i="1" u="sng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sub>
                      </m:sSub>
                    </m:oMath>
                  </m:oMathPara>
                </a14:m>
                <a:endParaRPr kumimoji="1" lang="ja-JP" altLang="en-US" sz="2400" b="1" u="sng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B09F936F-9572-1B32-FB3D-9B72C1EB8A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5980" y="4323299"/>
                <a:ext cx="622222" cy="461665"/>
              </a:xfrm>
              <a:prstGeom prst="rect">
                <a:avLst/>
              </a:prstGeom>
              <a:blipFill>
                <a:blip r:embed="rId19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8151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D5BD08A-1DE5-8A04-787C-8B0B4E1FC9D7}"/>
              </a:ext>
            </a:extLst>
          </p:cNvPr>
          <p:cNvSpPr/>
          <p:nvPr/>
        </p:nvSpPr>
        <p:spPr>
          <a:xfrm>
            <a:off x="149109" y="4376791"/>
            <a:ext cx="4740391" cy="22483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1902BFF7-6732-DFB2-B028-1C80E5B11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Decouple model and coupled model</a:t>
            </a:r>
            <a:endParaRPr kumimoji="1" lang="ja-JP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テキスト プレースホルダー 2">
                <a:extLst>
                  <a:ext uri="{FF2B5EF4-FFF2-40B4-BE49-F238E27FC236}">
                    <a16:creationId xmlns:a16="http://schemas.microsoft.com/office/drawing/2014/main" id="{7A9389CD-B7E1-235F-3CCD-4164FFBAD959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-71559" y="872016"/>
                <a:ext cx="8955620" cy="949167"/>
              </a:xfrm>
            </p:spPr>
            <p:txBody>
              <a:bodyPr/>
              <a:lstStyle/>
              <a:p>
                <a:r>
                  <a:rPr lang="en-US" altLang="ja-JP" dirty="0"/>
                  <a:t>Feature of decoupled model</a:t>
                </a:r>
              </a:p>
              <a:p>
                <a:pPr lvl="1"/>
                <a:r>
                  <a:rPr lang="en-US" altLang="ja-JP" sz="2400" dirty="0"/>
                  <a:t>The interaction between dislocations emitted from each crack is not considered</a:t>
                </a:r>
              </a:p>
              <a:p>
                <a:pPr lvl="1"/>
                <a:r>
                  <a:rPr lang="en-US" altLang="ja-JP" sz="2400" dirty="0"/>
                  <a:t>The microcrack is </a:t>
                </a:r>
                <a:r>
                  <a:rPr lang="en-US" altLang="ja-JP" sz="2400" u="sng" dirty="0"/>
                  <a:t>subjected to only the uniform tension stress: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 u="sng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2400" i="1" u="sng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ja-JP" sz="2400" b="0" i="1" u="sng" smtClean="0">
                            <a:latin typeface="Cambria Math" panose="02040503050406030204" pitchFamily="18" charset="0"/>
                          </a:rPr>
                          <m:t>𝑦𝑦</m:t>
                        </m:r>
                      </m:sub>
                    </m:sSub>
                  </m:oMath>
                </a14:m>
                <a:endParaRPr lang="en-US" altLang="ja-JP" sz="2400" u="sng" dirty="0"/>
              </a:p>
              <a:p>
                <a:r>
                  <a:rPr lang="en-US" altLang="ja-JP" dirty="0"/>
                  <a:t>Advantage</a:t>
                </a:r>
                <a:r>
                  <a:rPr lang="ja-JP" altLang="en-US" dirty="0"/>
                  <a:t> </a:t>
                </a:r>
                <a:r>
                  <a:rPr lang="en-US" altLang="ja-JP" dirty="0"/>
                  <a:t>of</a:t>
                </a:r>
                <a:r>
                  <a:rPr lang="ja-JP" altLang="en-US" dirty="0"/>
                  <a:t> </a:t>
                </a:r>
                <a:r>
                  <a:rPr lang="en-US" altLang="ja-JP" dirty="0"/>
                  <a:t>coupled</a:t>
                </a:r>
                <a:r>
                  <a:rPr lang="ja-JP" altLang="en-US" dirty="0"/>
                  <a:t> </a:t>
                </a:r>
                <a:r>
                  <a:rPr lang="en-US" altLang="ja-JP" dirty="0"/>
                  <a:t>model</a:t>
                </a:r>
              </a:p>
              <a:p>
                <a:pPr lvl="1"/>
                <a:r>
                  <a:rPr kumimoji="1" lang="en-US" altLang="ja-JP" sz="2400" dirty="0"/>
                  <a:t>Define macrocrack and </a:t>
                </a:r>
                <a:br>
                  <a:rPr kumimoji="1" lang="en-US" altLang="ja-JP" sz="2400" dirty="0"/>
                </a:br>
                <a:r>
                  <a:rPr kumimoji="1" lang="en-US" altLang="ja-JP" sz="2400" dirty="0"/>
                  <a:t>microcrack in the same model</a:t>
                </a:r>
              </a:p>
              <a:p>
                <a:pPr lvl="1"/>
                <a:endParaRPr kumimoji="1"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349200" lvl="1" indent="0">
                  <a:buNone/>
                </a:pPr>
                <a:endParaRPr kumimoji="1" lang="en-US" altLang="ja-JP" dirty="0"/>
              </a:p>
            </p:txBody>
          </p:sp>
        </mc:Choice>
        <mc:Fallback>
          <p:sp>
            <p:nvSpPr>
              <p:cNvPr id="3" name="テキスト プレースホルダー 2">
                <a:extLst>
                  <a:ext uri="{FF2B5EF4-FFF2-40B4-BE49-F238E27FC236}">
                    <a16:creationId xmlns:a16="http://schemas.microsoft.com/office/drawing/2014/main" id="{7A9389CD-B7E1-235F-3CCD-4164FFBAD9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-71559" y="872016"/>
                <a:ext cx="8955620" cy="949167"/>
              </a:xfrm>
              <a:blipFill>
                <a:blip r:embed="rId2"/>
                <a:stretch>
                  <a:fillRect l="-2408" t="-30263" b="-28552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E4B11B8-1BE2-ECEE-D497-43DD80FAB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F6909-ABCB-BB45-AC56-A8377246EBB2}" type="slidenum">
              <a:rPr lang="ja-JP" altLang="en-US" smtClean="0"/>
              <a:pPr/>
              <a:t>4</a:t>
            </a:fld>
            <a:endParaRPr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4DC3ADC-0D34-B43F-DF34-375301924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Tokyo University of Science - Computational Materials Science Laboratory -</a:t>
            </a:r>
            <a:endParaRPr lang="ja-JP" altLang="en-US" dirty="0"/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2F15DDE1-1E0E-0BF9-4AB1-28127F3A5736}"/>
              </a:ext>
            </a:extLst>
          </p:cNvPr>
          <p:cNvGrpSpPr/>
          <p:nvPr/>
        </p:nvGrpSpPr>
        <p:grpSpPr>
          <a:xfrm>
            <a:off x="341206" y="4376791"/>
            <a:ext cx="5899635" cy="2333806"/>
            <a:chOff x="533526" y="4507505"/>
            <a:chExt cx="5972250" cy="2520837"/>
          </a:xfrm>
        </p:grpSpPr>
        <p:sp>
          <p:nvSpPr>
            <p:cNvPr id="10" name="左中かっこ 9">
              <a:extLst>
                <a:ext uri="{FF2B5EF4-FFF2-40B4-BE49-F238E27FC236}">
                  <a16:creationId xmlns:a16="http://schemas.microsoft.com/office/drawing/2014/main" id="{573D8265-E369-D8F7-4356-E9BD253DF8B6}"/>
                </a:ext>
              </a:extLst>
            </p:cNvPr>
            <p:cNvSpPr/>
            <p:nvPr/>
          </p:nvSpPr>
          <p:spPr>
            <a:xfrm>
              <a:off x="533526" y="4568734"/>
              <a:ext cx="253230" cy="1195604"/>
            </a:xfrm>
            <a:prstGeom prst="leftBrace">
              <a:avLst>
                <a:gd name="adj1" fmla="val 38694"/>
                <a:gd name="adj2" fmla="val 50000"/>
              </a:avLst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CACAE1AA-CB0F-7BEA-7BE2-01FBBBC2BDCF}"/>
                </a:ext>
              </a:extLst>
            </p:cNvPr>
            <p:cNvSpPr txBox="1"/>
            <p:nvPr/>
          </p:nvSpPr>
          <p:spPr>
            <a:xfrm>
              <a:off x="657957" y="5997773"/>
              <a:ext cx="5847819" cy="1030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800" u="sng" dirty="0">
                  <a:solidFill>
                    <a:srgbClr val="FF0000"/>
                  </a:solidFill>
                  <a:latin typeface="+mn-ea"/>
                </a:rPr>
                <a:t>All interactions </a:t>
              </a:r>
              <a:br>
                <a:rPr lang="en-US" altLang="ja-JP" sz="2800" u="sng" dirty="0">
                  <a:solidFill>
                    <a:srgbClr val="FF0000"/>
                  </a:solidFill>
                  <a:latin typeface="+mn-ea"/>
                </a:rPr>
              </a:br>
              <a:r>
                <a:rPr lang="en-US" altLang="ja-JP" sz="2800" u="sng" dirty="0">
                  <a:solidFill>
                    <a:srgbClr val="FF0000"/>
                  </a:solidFill>
                  <a:latin typeface="+mn-ea"/>
                </a:rPr>
                <a:t>can be considered</a:t>
              </a:r>
              <a:endParaRPr kumimoji="1" lang="ja-JP" altLang="en-US" sz="2800" u="sng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7DFD6790-BF4B-5326-EC3F-2D844C73F74F}"/>
                </a:ext>
              </a:extLst>
            </p:cNvPr>
            <p:cNvSpPr txBox="1"/>
            <p:nvPr/>
          </p:nvSpPr>
          <p:spPr>
            <a:xfrm>
              <a:off x="716980" y="4507505"/>
              <a:ext cx="4289957" cy="13849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800" dirty="0">
                  <a:latin typeface="+mn-ea"/>
                </a:rPr>
                <a:t>①</a:t>
              </a:r>
              <a:r>
                <a:rPr lang="ja-JP" altLang="en-US" sz="2800" dirty="0">
                  <a:latin typeface="+mn-ea"/>
                </a:rPr>
                <a:t> </a:t>
              </a:r>
              <a:r>
                <a:rPr lang="en-US" altLang="ja-JP" sz="2800" dirty="0">
                  <a:latin typeface="+mn-ea"/>
                </a:rPr>
                <a:t>Macrocrack</a:t>
              </a:r>
            </a:p>
            <a:p>
              <a:r>
                <a:rPr kumimoji="1" lang="en-US" altLang="ja-JP" sz="2800" dirty="0">
                  <a:latin typeface="+mn-ea"/>
                </a:rPr>
                <a:t>②</a:t>
              </a:r>
              <a:r>
                <a:rPr kumimoji="1" lang="ja-JP" altLang="en-US" sz="2800" dirty="0">
                  <a:latin typeface="+mn-ea"/>
                </a:rPr>
                <a:t> </a:t>
              </a:r>
              <a:r>
                <a:rPr lang="en-US" altLang="ja-JP" sz="2800" dirty="0">
                  <a:latin typeface="+mn-ea"/>
                </a:rPr>
                <a:t>Microcrack</a:t>
              </a:r>
              <a:endParaRPr kumimoji="1" lang="en-US" altLang="ja-JP" sz="2800" dirty="0">
                <a:latin typeface="+mn-ea"/>
              </a:endParaRPr>
            </a:p>
            <a:p>
              <a:r>
                <a:rPr lang="en-US" altLang="ja-JP" sz="2800" dirty="0">
                  <a:latin typeface="+mn-ea"/>
                </a:rPr>
                <a:t>③</a:t>
              </a:r>
              <a:r>
                <a:rPr lang="ja-JP" altLang="en-US" sz="2800" dirty="0">
                  <a:latin typeface="+mn-ea"/>
                </a:rPr>
                <a:t> </a:t>
              </a:r>
              <a:r>
                <a:rPr lang="en-US" altLang="ja-JP" sz="2800" dirty="0">
                  <a:latin typeface="+mn-ea"/>
                </a:rPr>
                <a:t>Emitted dislocations </a:t>
              </a:r>
            </a:p>
          </p:txBody>
        </p:sp>
      </p:grpSp>
      <p:pic>
        <p:nvPicPr>
          <p:cNvPr id="20" name="図 19" descr="グラフ, 円グラフ&#10;&#10;自動的に生成された説明">
            <a:extLst>
              <a:ext uri="{FF2B5EF4-FFF2-40B4-BE49-F238E27FC236}">
                <a16:creationId xmlns:a16="http://schemas.microsoft.com/office/drawing/2014/main" id="{7F97B259-5CFB-48BD-0257-F63291F43B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831" y="3667153"/>
            <a:ext cx="2807059" cy="2810743"/>
          </a:xfrm>
          <a:prstGeom prst="rect">
            <a:avLst/>
          </a:prstGeom>
          <a:ln>
            <a:noFill/>
          </a:ln>
        </p:spPr>
      </p:pic>
      <p:pic>
        <p:nvPicPr>
          <p:cNvPr id="17" name="図 16" descr="棒グラフ が含まれている画像&#10;&#10;自動的に生成された説明">
            <a:extLst>
              <a:ext uri="{FF2B5EF4-FFF2-40B4-BE49-F238E27FC236}">
                <a16:creationId xmlns:a16="http://schemas.microsoft.com/office/drawing/2014/main" id="{5D1F3FED-4A40-D6EE-522B-3DC107B9E5B0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48526C"/>
              </a:clrFrom>
              <a:clrTo>
                <a:srgbClr val="48526C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393185" y="3475963"/>
            <a:ext cx="652914" cy="318449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A3310FF9-9322-1BB5-4DB5-50E471EECA0F}"/>
                  </a:ext>
                </a:extLst>
              </p:cNvPr>
              <p:cNvSpPr txBox="1"/>
              <p:nvPr/>
            </p:nvSpPr>
            <p:spPr>
              <a:xfrm>
                <a:off x="5373778" y="3229445"/>
                <a:ext cx="69172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70.5</m:t>
                          </m:r>
                          <m:r>
                            <a:rPr kumimoji="1" lang="en-US" altLang="ja-JP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sub>
                      </m:sSub>
                    </m:oMath>
                  </m:oMathPara>
                </a14:m>
                <a:endParaRPr kumimoji="1" lang="ja-JP" altLang="en-US" sz="1600" dirty="0"/>
              </a:p>
            </p:txBody>
          </p:sp>
        </mc:Choice>
        <mc:Fallback xmlns="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A3310FF9-9322-1BB5-4DB5-50E471EECA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3778" y="3229445"/>
                <a:ext cx="691728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B0E4C84-368B-5BC1-9088-39BCD9E1571A}"/>
              </a:ext>
            </a:extLst>
          </p:cNvPr>
          <p:cNvSpPr txBox="1"/>
          <p:nvPr/>
        </p:nvSpPr>
        <p:spPr>
          <a:xfrm>
            <a:off x="6136371" y="2831630"/>
            <a:ext cx="2909978" cy="830997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1600" dirty="0">
                <a:latin typeface="+mj-ea"/>
                <a:ea typeface="+mj-ea"/>
              </a:rPr>
              <a:t>Stress field of </a:t>
            </a:r>
            <a:r>
              <a:rPr kumimoji="1" lang="en-US" altLang="ja-JP" sz="1600" u="sng" dirty="0">
                <a:latin typeface="+mj-ea"/>
                <a:ea typeface="+mj-ea"/>
              </a:rPr>
              <a:t>Macrocrack</a:t>
            </a:r>
            <a:r>
              <a:rPr lang="ja-JP" altLang="en-US" sz="1600" dirty="0">
                <a:latin typeface="+mj-ea"/>
                <a:ea typeface="+mj-ea"/>
              </a:rPr>
              <a:t> </a:t>
            </a:r>
            <a:br>
              <a:rPr lang="en-US" altLang="ja-JP" sz="1600" dirty="0">
                <a:latin typeface="+mj-ea"/>
                <a:ea typeface="+mj-ea"/>
              </a:rPr>
            </a:br>
            <a:r>
              <a:rPr lang="en-US" altLang="ja-JP" sz="1600" dirty="0">
                <a:latin typeface="+mj-ea"/>
                <a:ea typeface="+mj-ea"/>
              </a:rPr>
              <a:t>and </a:t>
            </a:r>
            <a:r>
              <a:rPr lang="en-US" altLang="ja-JP" sz="1600" u="sng" dirty="0">
                <a:latin typeface="+mj-ea"/>
                <a:ea typeface="+mj-ea"/>
              </a:rPr>
              <a:t>dislocations of emitted from macrocrack</a:t>
            </a:r>
            <a:endParaRPr kumimoji="1" lang="ja-JP" altLang="en-US" sz="16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071740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B4AC6B-B5D2-58B5-BFAA-A3BC7BBBC6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379" y="1840566"/>
            <a:ext cx="9248857" cy="909617"/>
          </a:xfrm>
        </p:spPr>
        <p:txBody>
          <a:bodyPr/>
          <a:lstStyle/>
          <a:p>
            <a:r>
              <a:rPr kumimoji="1" lang="en-US" altLang="ja-JP" dirty="0">
                <a:latin typeface="+mj-ea"/>
                <a:ea typeface="+mj-ea"/>
              </a:rPr>
              <a:t>Investigate the detailed mechanism of fracture of microcracks near the macrocrack-tip using </a:t>
            </a:r>
            <a:r>
              <a:rPr kumimoji="1" lang="en-US" altLang="ja-JP" dirty="0">
                <a:solidFill>
                  <a:srgbClr val="FF0000"/>
                </a:solidFill>
                <a:latin typeface="+mj-ea"/>
                <a:ea typeface="+mj-ea"/>
              </a:rPr>
              <a:t>coupled model</a:t>
            </a:r>
            <a:endParaRPr kumimoji="1" lang="en-US" altLang="ja-JP" dirty="0">
              <a:latin typeface="+mj-ea"/>
              <a:ea typeface="+mj-ea"/>
            </a:endParaRPr>
          </a:p>
          <a:p>
            <a:endParaRPr kumimoji="1" lang="en-US" altLang="ja-JP" dirty="0">
              <a:latin typeface="+mj-ea"/>
              <a:ea typeface="+mj-ea"/>
            </a:endParaRPr>
          </a:p>
          <a:p>
            <a:r>
              <a:rPr lang="en" altLang="ja-JP" i="0" dirty="0">
                <a:effectLst/>
                <a:latin typeface="+mj-ea"/>
                <a:ea typeface="+mj-ea"/>
              </a:rPr>
              <a:t>Calculate the fracture toughness and ductile-brittle transition temperature</a:t>
            </a:r>
            <a:endParaRPr kumimoji="1" lang="en-US" altLang="ja-JP" dirty="0">
              <a:latin typeface="+mj-ea"/>
              <a:ea typeface="+mj-ea"/>
            </a:endParaRPr>
          </a:p>
          <a:p>
            <a:endParaRPr kumimoji="1" lang="en-US" altLang="ja-JP" dirty="0">
              <a:latin typeface="+mn-ea"/>
            </a:endParaRPr>
          </a:p>
          <a:p>
            <a:pPr lvl="2"/>
            <a:endParaRPr lang="en-US" altLang="ja-JP" dirty="0"/>
          </a:p>
          <a:p>
            <a:pPr lvl="2"/>
            <a:endParaRPr kumimoji="1" lang="en-US" altLang="ja-JP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792199E1-BCBC-1958-B718-3C723ECE3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Objectives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B65F5BC-3268-5F65-892F-65BD3A558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F6909-ABCB-BB45-AC56-A8377246EBB2}" type="slidenum">
              <a:rPr lang="ja-JP" altLang="en-US" smtClean="0"/>
              <a:pPr/>
              <a:t>5</a:t>
            </a:fld>
            <a:endParaRPr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45BC2DA-90B6-EB53-D030-9134C42E7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Tokyo University of Science - Computational Materials Science Laboratory -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6033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A7B38C-215E-B4F8-D345-DCDE7E178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Analysis procedure</a:t>
            </a:r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A3CA5AA-5EDA-1A85-B52A-0498BC195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F6909-ABCB-BB45-AC56-A8377246EBB2}" type="slidenum">
              <a:rPr lang="ja-JP" altLang="en-US" smtClean="0"/>
              <a:pPr/>
              <a:t>6</a:t>
            </a:fld>
            <a:endParaRPr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01A91DE-059B-6293-9964-C337ECFAC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Tokyo University of Science - Computational Materials Science Laboratory -</a:t>
            </a:r>
            <a:endParaRPr lang="ja-JP" altLang="en-US" dirty="0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36DB368A-CA72-E409-CB03-FF2E78EDB957}"/>
              </a:ext>
            </a:extLst>
          </p:cNvPr>
          <p:cNvCxnSpPr>
            <a:cxnSpLocks/>
          </p:cNvCxnSpPr>
          <p:nvPr/>
        </p:nvCxnSpPr>
        <p:spPr>
          <a:xfrm>
            <a:off x="298436" y="3623979"/>
            <a:ext cx="865718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62209E28-1B49-60C8-F2A2-F3D443F50470}"/>
              </a:ext>
            </a:extLst>
          </p:cNvPr>
          <p:cNvCxnSpPr>
            <a:cxnSpLocks/>
          </p:cNvCxnSpPr>
          <p:nvPr/>
        </p:nvCxnSpPr>
        <p:spPr>
          <a:xfrm>
            <a:off x="4572000" y="855931"/>
            <a:ext cx="0" cy="5796888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B42DD316-9200-00DA-A719-B19BE5D42B0B}"/>
              </a:ext>
            </a:extLst>
          </p:cNvPr>
          <p:cNvSpPr/>
          <p:nvPr/>
        </p:nvSpPr>
        <p:spPr>
          <a:xfrm>
            <a:off x="4734823" y="697265"/>
            <a:ext cx="4373073" cy="707886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altLang="ja-JP" sz="2000" b="1" u="sng" dirty="0">
                <a:latin typeface="+mn-ea"/>
              </a:rPr>
              <a:t>② Emission of</a:t>
            </a:r>
            <a:br>
              <a:rPr lang="en-US" altLang="ja-JP" sz="2000" b="1" u="sng" dirty="0">
                <a:latin typeface="+mn-ea"/>
              </a:rPr>
            </a:br>
            <a:r>
              <a:rPr lang="en-US" altLang="ja-JP" sz="2000" b="1" u="sng" dirty="0">
                <a:latin typeface="+mn-ea"/>
              </a:rPr>
              <a:t> dislocations at crack-tip</a:t>
            </a:r>
            <a:endParaRPr lang="en-US" altLang="ja-JP" sz="1400" b="1" u="sng" dirty="0">
              <a:latin typeface="+mn-ea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09990BB8-3300-F787-E9CD-F653BB960B70}"/>
              </a:ext>
            </a:extLst>
          </p:cNvPr>
          <p:cNvSpPr/>
          <p:nvPr/>
        </p:nvSpPr>
        <p:spPr>
          <a:xfrm>
            <a:off x="4734823" y="3640464"/>
            <a:ext cx="4373073" cy="707886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altLang="ja-JP" sz="2000" b="1" u="sng" dirty="0">
                <a:latin typeface="+mn-ea"/>
              </a:rPr>
              <a:t>④ Calculation of </a:t>
            </a:r>
            <a:br>
              <a:rPr lang="en-US" altLang="ja-JP" sz="2000" b="1" u="sng" dirty="0">
                <a:latin typeface="+mn-ea"/>
              </a:rPr>
            </a:br>
            <a:r>
              <a:rPr lang="en-US" altLang="ja-JP" sz="2000" b="1" u="sng" dirty="0">
                <a:latin typeface="+mn-ea"/>
              </a:rPr>
              <a:t>stress intensity factor</a:t>
            </a:r>
            <a:endParaRPr lang="en-US" altLang="ja-JP" sz="1400" b="1" u="sng" dirty="0"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C1082339-94EB-A0C5-B673-54A0113FF413}"/>
                  </a:ext>
                </a:extLst>
              </p:cNvPr>
              <p:cNvSpPr txBox="1"/>
              <p:nvPr/>
            </p:nvSpPr>
            <p:spPr>
              <a:xfrm>
                <a:off x="106346" y="711693"/>
                <a:ext cx="4413709" cy="7522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ja-JP" sz="2000" b="1" u="sng" dirty="0">
                    <a:latin typeface="+mn-ea"/>
                  </a:rPr>
                  <a:t>① Loading boundary condition </a:t>
                </a:r>
                <a:br>
                  <a:rPr lang="en-US" altLang="ja-JP" sz="2000" b="1" u="sng" dirty="0">
                    <a:latin typeface="+mn-ea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000" b="1" i="1" u="sng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altLang="ja-JP" sz="2000" b="1" i="1" u="sng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sz="2000" b="1" i="1" u="sng" smtClean="0">
                                <a:latin typeface="Cambria Math" panose="02040503050406030204" pitchFamily="18" charset="0"/>
                              </a:rPr>
                              <m:t>𝑲</m:t>
                            </m:r>
                          </m:e>
                        </m:acc>
                      </m:e>
                      <m:sub>
                        <m:r>
                          <a:rPr lang="en-US" altLang="ja-JP" sz="2000" b="1" i="1" u="sng" smtClean="0">
                            <a:latin typeface="Cambria Math" panose="02040503050406030204" pitchFamily="18" charset="0"/>
                          </a:rPr>
                          <m:t>𝒂𝒑𝒑</m:t>
                        </m:r>
                        <m:r>
                          <a:rPr lang="en-US" altLang="ja-JP" sz="2000" b="1" i="1" u="sng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altLang="ja-JP" sz="2000" b="1" u="sng" dirty="0">
                    <a:latin typeface="+mn-ea"/>
                  </a:rPr>
                  <a:t>on macrocrack</a:t>
                </a:r>
              </a:p>
            </p:txBody>
          </p:sp>
        </mc:Choice>
        <mc:Fallback xmlns="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C1082339-94EB-A0C5-B673-54A0113FF4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46" y="711693"/>
                <a:ext cx="4413709" cy="752257"/>
              </a:xfrm>
              <a:prstGeom prst="rect">
                <a:avLst/>
              </a:prstGeom>
              <a:blipFill>
                <a:blip r:embed="rId2"/>
                <a:stretch>
                  <a:fillRect l="-967" t="-5691" r="-967" b="-1300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右矢印 23">
            <a:extLst>
              <a:ext uri="{FF2B5EF4-FFF2-40B4-BE49-F238E27FC236}">
                <a16:creationId xmlns:a16="http://schemas.microsoft.com/office/drawing/2014/main" id="{56777CCC-BD3F-ADB1-A7F2-02823371FA9F}"/>
              </a:ext>
            </a:extLst>
          </p:cNvPr>
          <p:cNvSpPr/>
          <p:nvPr/>
        </p:nvSpPr>
        <p:spPr>
          <a:xfrm>
            <a:off x="4428704" y="2046789"/>
            <a:ext cx="381655" cy="484632"/>
          </a:xfrm>
          <a:prstGeom prst="rightArrow">
            <a:avLst/>
          </a:prstGeom>
          <a:solidFill>
            <a:srgbClr val="A9B5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右矢印 25">
            <a:extLst>
              <a:ext uri="{FF2B5EF4-FFF2-40B4-BE49-F238E27FC236}">
                <a16:creationId xmlns:a16="http://schemas.microsoft.com/office/drawing/2014/main" id="{0F6870E1-B16E-16B2-791F-7932611CDA6C}"/>
              </a:ext>
            </a:extLst>
          </p:cNvPr>
          <p:cNvSpPr/>
          <p:nvPr/>
        </p:nvSpPr>
        <p:spPr>
          <a:xfrm>
            <a:off x="4428704" y="5068555"/>
            <a:ext cx="381655" cy="484632"/>
          </a:xfrm>
          <a:prstGeom prst="rightArrow">
            <a:avLst/>
          </a:prstGeom>
          <a:solidFill>
            <a:srgbClr val="A9B5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528CBA8B-6FC4-48C7-B042-8DB65E070C9B}"/>
              </a:ext>
            </a:extLst>
          </p:cNvPr>
          <p:cNvSpPr/>
          <p:nvPr/>
        </p:nvSpPr>
        <p:spPr>
          <a:xfrm>
            <a:off x="127017" y="3635270"/>
            <a:ext cx="4373073" cy="707886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altLang="ja-JP" sz="2000" b="1" u="sng" dirty="0">
                <a:latin typeface="+mn-ea"/>
              </a:rPr>
              <a:t>③ Calculation of </a:t>
            </a:r>
            <a:br>
              <a:rPr lang="en-US" altLang="ja-JP" sz="2000" b="1" u="sng" dirty="0">
                <a:latin typeface="+mn-ea"/>
              </a:rPr>
            </a:br>
            <a:r>
              <a:rPr lang="en-US" altLang="ja-JP" sz="2000" b="1" u="sng" dirty="0">
                <a:latin typeface="+mn-ea"/>
              </a:rPr>
              <a:t>force on dislocations</a:t>
            </a:r>
            <a:endParaRPr lang="en-US" altLang="ja-JP" sz="1400" b="1" u="sng" dirty="0">
              <a:latin typeface="+mn-ea"/>
            </a:endParaRPr>
          </a:p>
        </p:txBody>
      </p:sp>
      <p:sp>
        <p:nvSpPr>
          <p:cNvPr id="96" name="右矢印 95">
            <a:extLst>
              <a:ext uri="{FF2B5EF4-FFF2-40B4-BE49-F238E27FC236}">
                <a16:creationId xmlns:a16="http://schemas.microsoft.com/office/drawing/2014/main" id="{0742B1EB-6B2C-ED17-4482-82F2177893A5}"/>
              </a:ext>
            </a:extLst>
          </p:cNvPr>
          <p:cNvSpPr/>
          <p:nvPr/>
        </p:nvSpPr>
        <p:spPr>
          <a:xfrm rot="8100000">
            <a:off x="4381172" y="3420328"/>
            <a:ext cx="381655" cy="484632"/>
          </a:xfrm>
          <a:prstGeom prst="rightArrow">
            <a:avLst/>
          </a:prstGeom>
          <a:solidFill>
            <a:srgbClr val="A9B5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76" name="グループ化 75">
            <a:extLst>
              <a:ext uri="{FF2B5EF4-FFF2-40B4-BE49-F238E27FC236}">
                <a16:creationId xmlns:a16="http://schemas.microsoft.com/office/drawing/2014/main" id="{04A12F6C-8639-9F2C-DF9E-445774B27BFA}"/>
              </a:ext>
            </a:extLst>
          </p:cNvPr>
          <p:cNvGrpSpPr/>
          <p:nvPr/>
        </p:nvGrpSpPr>
        <p:grpSpPr>
          <a:xfrm>
            <a:off x="5512948" y="1846912"/>
            <a:ext cx="2816821" cy="1740952"/>
            <a:chOff x="5508539" y="1741655"/>
            <a:chExt cx="2816821" cy="1740952"/>
          </a:xfrm>
        </p:grpSpPr>
        <p:grpSp>
          <p:nvGrpSpPr>
            <p:cNvPr id="58" name="グループ化 57">
              <a:extLst>
                <a:ext uri="{FF2B5EF4-FFF2-40B4-BE49-F238E27FC236}">
                  <a16:creationId xmlns:a16="http://schemas.microsoft.com/office/drawing/2014/main" id="{FC6576AF-3446-C805-4F8E-A44F88F1843B}"/>
                </a:ext>
              </a:extLst>
            </p:cNvPr>
            <p:cNvGrpSpPr/>
            <p:nvPr/>
          </p:nvGrpSpPr>
          <p:grpSpPr>
            <a:xfrm>
              <a:off x="5508539" y="1741655"/>
              <a:ext cx="2816821" cy="1740952"/>
              <a:chOff x="5508539" y="1741655"/>
              <a:chExt cx="2816821" cy="1740952"/>
            </a:xfrm>
          </p:grpSpPr>
          <p:sp>
            <p:nvSpPr>
              <p:cNvPr id="51" name="楕円 50">
                <a:extLst>
                  <a:ext uri="{FF2B5EF4-FFF2-40B4-BE49-F238E27FC236}">
                    <a16:creationId xmlns:a16="http://schemas.microsoft.com/office/drawing/2014/main" id="{32EC7B9E-5612-BC59-25D3-0150F6FF2E3A}"/>
                  </a:ext>
                </a:extLst>
              </p:cNvPr>
              <p:cNvSpPr/>
              <p:nvPr/>
            </p:nvSpPr>
            <p:spPr>
              <a:xfrm>
                <a:off x="7246951" y="2429081"/>
                <a:ext cx="81309" cy="81309"/>
              </a:xfrm>
              <a:prstGeom prst="ellipse">
                <a:avLst/>
              </a:prstGeom>
              <a:solidFill>
                <a:srgbClr val="E46C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2" name="楕円 51">
                <a:extLst>
                  <a:ext uri="{FF2B5EF4-FFF2-40B4-BE49-F238E27FC236}">
                    <a16:creationId xmlns:a16="http://schemas.microsoft.com/office/drawing/2014/main" id="{C111E00D-F637-F433-1A1C-7D3C76F64311}"/>
                  </a:ext>
                </a:extLst>
              </p:cNvPr>
              <p:cNvSpPr/>
              <p:nvPr/>
            </p:nvSpPr>
            <p:spPr>
              <a:xfrm>
                <a:off x="7254903" y="2721401"/>
                <a:ext cx="81309" cy="81309"/>
              </a:xfrm>
              <a:prstGeom prst="ellipse">
                <a:avLst/>
              </a:prstGeom>
              <a:solidFill>
                <a:srgbClr val="E46C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3" name="楕円 52">
                <a:extLst>
                  <a:ext uri="{FF2B5EF4-FFF2-40B4-BE49-F238E27FC236}">
                    <a16:creationId xmlns:a16="http://schemas.microsoft.com/office/drawing/2014/main" id="{D388328B-EABB-5F30-21FC-DD216B19E130}"/>
                  </a:ext>
                </a:extLst>
              </p:cNvPr>
              <p:cNvSpPr/>
              <p:nvPr/>
            </p:nvSpPr>
            <p:spPr>
              <a:xfrm>
                <a:off x="7976439" y="2506216"/>
                <a:ext cx="81309" cy="81309"/>
              </a:xfrm>
              <a:prstGeom prst="ellipse">
                <a:avLst/>
              </a:prstGeom>
              <a:solidFill>
                <a:srgbClr val="E46C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4" name="楕円 53">
                <a:extLst>
                  <a:ext uri="{FF2B5EF4-FFF2-40B4-BE49-F238E27FC236}">
                    <a16:creationId xmlns:a16="http://schemas.microsoft.com/office/drawing/2014/main" id="{D0FF51E8-F555-6DE1-DA89-4E880E34BB59}"/>
                  </a:ext>
                </a:extLst>
              </p:cNvPr>
              <p:cNvSpPr/>
              <p:nvPr/>
            </p:nvSpPr>
            <p:spPr>
              <a:xfrm>
                <a:off x="7988367" y="2622101"/>
                <a:ext cx="81309" cy="81309"/>
              </a:xfrm>
              <a:prstGeom prst="ellipse">
                <a:avLst/>
              </a:prstGeom>
              <a:solidFill>
                <a:srgbClr val="E46C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5" name="楕円 54">
                <a:extLst>
                  <a:ext uri="{FF2B5EF4-FFF2-40B4-BE49-F238E27FC236}">
                    <a16:creationId xmlns:a16="http://schemas.microsoft.com/office/drawing/2014/main" id="{A26826B3-C6FB-C1FC-E9C0-E993C1315B07}"/>
                  </a:ext>
                </a:extLst>
              </p:cNvPr>
              <p:cNvSpPr/>
              <p:nvPr/>
            </p:nvSpPr>
            <p:spPr>
              <a:xfrm>
                <a:off x="8179112" y="2506216"/>
                <a:ext cx="81309" cy="81309"/>
              </a:xfrm>
              <a:prstGeom prst="ellipse">
                <a:avLst/>
              </a:prstGeom>
              <a:solidFill>
                <a:srgbClr val="E46C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6" name="楕円 55">
                <a:extLst>
                  <a:ext uri="{FF2B5EF4-FFF2-40B4-BE49-F238E27FC236}">
                    <a16:creationId xmlns:a16="http://schemas.microsoft.com/office/drawing/2014/main" id="{CC920322-7C86-40C2-466A-3BF39A653F5D}"/>
                  </a:ext>
                </a:extLst>
              </p:cNvPr>
              <p:cNvSpPr/>
              <p:nvPr/>
            </p:nvSpPr>
            <p:spPr>
              <a:xfrm>
                <a:off x="8179112" y="2634029"/>
                <a:ext cx="81309" cy="81309"/>
              </a:xfrm>
              <a:prstGeom prst="ellipse">
                <a:avLst/>
              </a:prstGeom>
              <a:solidFill>
                <a:srgbClr val="E46C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89" name="図 88" descr="図形&#10;&#10;中程度の精度で自動的に生成された説明">
                <a:extLst>
                  <a:ext uri="{FF2B5EF4-FFF2-40B4-BE49-F238E27FC236}">
                    <a16:creationId xmlns:a16="http://schemas.microsoft.com/office/drawing/2014/main" id="{4F250856-F2B8-4BAA-C2FD-657F623BB4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08539" y="1741655"/>
                <a:ext cx="2816821" cy="1740952"/>
              </a:xfrm>
              <a:prstGeom prst="rect">
                <a:avLst/>
              </a:prstGeom>
            </p:spPr>
          </p:pic>
        </p:grpSp>
        <p:cxnSp>
          <p:nvCxnSpPr>
            <p:cNvPr id="66" name="直線矢印コネクタ 65">
              <a:extLst>
                <a:ext uri="{FF2B5EF4-FFF2-40B4-BE49-F238E27FC236}">
                  <a16:creationId xmlns:a16="http://schemas.microsoft.com/office/drawing/2014/main" id="{6A0DE1CD-8645-B477-0389-08DBFE1641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61496" y="2286760"/>
              <a:ext cx="98081" cy="156962"/>
            </a:xfrm>
            <a:prstGeom prst="straightConnector1">
              <a:avLst/>
            </a:prstGeom>
            <a:ln w="12700">
              <a:solidFill>
                <a:srgbClr val="E67418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テキスト ボックス 69">
                  <a:extLst>
                    <a:ext uri="{FF2B5EF4-FFF2-40B4-BE49-F238E27FC236}">
                      <a16:creationId xmlns:a16="http://schemas.microsoft.com/office/drawing/2014/main" id="{0E4FBCAD-1ACE-5383-5C0D-7C91984BC157}"/>
                    </a:ext>
                  </a:extLst>
                </p:cNvPr>
                <p:cNvSpPr txBox="1"/>
                <p:nvPr/>
              </p:nvSpPr>
              <p:spPr>
                <a:xfrm>
                  <a:off x="6889996" y="2094383"/>
                  <a:ext cx="37382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ja-JP" altLang="en-US" sz="2000" b="1" i="1" smtClean="0">
                            <a:solidFill>
                              <a:srgbClr val="E46C0B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oMath>
                    </m:oMathPara>
                  </a14:m>
                  <a:endParaRPr kumimoji="1" lang="ja-JP" altLang="en-US" sz="2000" b="1" dirty="0">
                    <a:solidFill>
                      <a:srgbClr val="E46C0B"/>
                    </a:solidFill>
                  </a:endParaRPr>
                </a:p>
              </p:txBody>
            </p:sp>
          </mc:Choice>
          <mc:Fallback xmlns="">
            <p:sp>
              <p:nvSpPr>
                <p:cNvPr id="70" name="テキスト ボックス 69">
                  <a:extLst>
                    <a:ext uri="{FF2B5EF4-FFF2-40B4-BE49-F238E27FC236}">
                      <a16:creationId xmlns:a16="http://schemas.microsoft.com/office/drawing/2014/main" id="{0E4FBCAD-1ACE-5383-5C0D-7C91984BC1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89996" y="2094383"/>
                  <a:ext cx="373820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テキスト ボックス 74">
                <a:extLst>
                  <a:ext uri="{FF2B5EF4-FFF2-40B4-BE49-F238E27FC236}">
                    <a16:creationId xmlns:a16="http://schemas.microsoft.com/office/drawing/2014/main" id="{C1CE8136-E10A-8683-C291-988775442E9A}"/>
                  </a:ext>
                </a:extLst>
              </p:cNvPr>
              <p:cNvSpPr txBox="1"/>
              <p:nvPr/>
            </p:nvSpPr>
            <p:spPr>
              <a:xfrm>
                <a:off x="5472380" y="1373811"/>
                <a:ext cx="3217869" cy="60420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ja-JP" altLang="en-US" sz="1600" b="1" i="1" smtClean="0">
                        <a:solidFill>
                          <a:srgbClr val="E46C0B"/>
                        </a:solidFill>
                        <a:latin typeface="Cambria Math" panose="02040503050406030204" pitchFamily="18" charset="0"/>
                      </a:rPr>
                      <m:t>𝝉</m:t>
                    </m:r>
                    <m:r>
                      <a:rPr kumimoji="1" lang="en-US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kumimoji="1" lang="en-US" altLang="ja-JP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ja-JP" alt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kumimoji="1" lang="en-US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altLang="ja-JP" sz="1600" dirty="0">
                    <a:latin typeface="+mn-ea"/>
                  </a:rPr>
                  <a:t> </a:t>
                </a:r>
                <a:r>
                  <a:rPr lang="ja-JP" altLang="en-US" sz="1600" dirty="0">
                    <a:latin typeface="+mn-ea"/>
                  </a:rPr>
                  <a:t>→ </a:t>
                </a:r>
                <a:r>
                  <a:rPr lang="en-US" altLang="ja-JP" sz="1600" dirty="0">
                    <a:latin typeface="+mn-ea"/>
                  </a:rPr>
                  <a:t>Dislocations emitted</a:t>
                </a:r>
                <a:br>
                  <a:rPr lang="en-US" altLang="ja-JP" sz="1600" dirty="0">
                    <a:latin typeface="+mn-ea"/>
                  </a:rPr>
                </a:br>
                <a:r>
                  <a:rPr lang="en-US" altLang="ja-JP" sz="1600" dirty="0">
                    <a:latin typeface="+mn-ea"/>
                  </a:rPr>
                  <a:t>            (Macrocrack blunting)</a:t>
                </a:r>
                <a:endParaRPr kumimoji="1" lang="ja-JP" altLang="en-US" sz="1600" dirty="0">
                  <a:solidFill>
                    <a:schemeClr val="tx1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75" name="テキスト ボックス 74">
                <a:extLst>
                  <a:ext uri="{FF2B5EF4-FFF2-40B4-BE49-F238E27FC236}">
                    <a16:creationId xmlns:a16="http://schemas.microsoft.com/office/drawing/2014/main" id="{C1CE8136-E10A-8683-C291-988775442E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2380" y="1373811"/>
                <a:ext cx="3217869" cy="604204"/>
              </a:xfrm>
              <a:prstGeom prst="rect">
                <a:avLst/>
              </a:prstGeom>
              <a:blipFill>
                <a:blip r:embed="rId7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3" name="グループ化 72">
            <a:extLst>
              <a:ext uri="{FF2B5EF4-FFF2-40B4-BE49-F238E27FC236}">
                <a16:creationId xmlns:a16="http://schemas.microsoft.com/office/drawing/2014/main" id="{9DCF349E-83AE-434B-D352-87A0AEF33082}"/>
              </a:ext>
            </a:extLst>
          </p:cNvPr>
          <p:cNvGrpSpPr/>
          <p:nvPr/>
        </p:nvGrpSpPr>
        <p:grpSpPr>
          <a:xfrm>
            <a:off x="6921358" y="3275782"/>
            <a:ext cx="2205236" cy="338554"/>
            <a:chOff x="4887088" y="1467850"/>
            <a:chExt cx="2205236" cy="338554"/>
          </a:xfrm>
        </p:grpSpPr>
        <p:sp>
          <p:nvSpPr>
            <p:cNvPr id="72" name="テキスト ボックス 71">
              <a:extLst>
                <a:ext uri="{FF2B5EF4-FFF2-40B4-BE49-F238E27FC236}">
                  <a16:creationId xmlns:a16="http://schemas.microsoft.com/office/drawing/2014/main" id="{657C1FB5-8C10-C6F8-1A81-D78E1A7E9D08}"/>
                </a:ext>
              </a:extLst>
            </p:cNvPr>
            <p:cNvSpPr txBox="1"/>
            <p:nvPr/>
          </p:nvSpPr>
          <p:spPr>
            <a:xfrm>
              <a:off x="5003291" y="1467850"/>
              <a:ext cx="2089033" cy="338554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ja-JP" sz="1600" dirty="0">
                  <a:latin typeface="+mn-ea"/>
                </a:rPr>
                <a:t>:Dislocation source</a:t>
              </a:r>
              <a:endParaRPr kumimoji="1" lang="ja-JP" altLang="en-US" sz="1600" dirty="0">
                <a:latin typeface="+mn-ea"/>
              </a:endParaRPr>
            </a:p>
          </p:txBody>
        </p:sp>
        <p:sp>
          <p:nvSpPr>
            <p:cNvPr id="71" name="楕円 70">
              <a:extLst>
                <a:ext uri="{FF2B5EF4-FFF2-40B4-BE49-F238E27FC236}">
                  <a16:creationId xmlns:a16="http://schemas.microsoft.com/office/drawing/2014/main" id="{C1468840-FAA9-D5C7-5DEA-B9F216890288}"/>
                </a:ext>
              </a:extLst>
            </p:cNvPr>
            <p:cNvSpPr/>
            <p:nvPr/>
          </p:nvSpPr>
          <p:spPr>
            <a:xfrm>
              <a:off x="4887088" y="1524621"/>
              <a:ext cx="177814" cy="177814"/>
            </a:xfrm>
            <a:prstGeom prst="ellipse">
              <a:avLst/>
            </a:prstGeom>
            <a:solidFill>
              <a:srgbClr val="E46C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pic>
        <p:nvPicPr>
          <p:cNvPr id="57" name="図 56" descr="図形&#10;&#10;中程度の精度で自動的に生成された説明">
            <a:extLst>
              <a:ext uri="{FF2B5EF4-FFF2-40B4-BE49-F238E27FC236}">
                <a16:creationId xmlns:a16="http://schemas.microsoft.com/office/drawing/2014/main" id="{C75F829B-B890-6F79-F92D-3894B7585D1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36665" y="4806284"/>
            <a:ext cx="2858659" cy="1766810"/>
          </a:xfrm>
          <a:prstGeom prst="rect">
            <a:avLst/>
          </a:prstGeom>
        </p:spPr>
      </p:pic>
      <p:grpSp>
        <p:nvGrpSpPr>
          <p:cNvPr id="49" name="グループ化 48">
            <a:extLst>
              <a:ext uri="{FF2B5EF4-FFF2-40B4-BE49-F238E27FC236}">
                <a16:creationId xmlns:a16="http://schemas.microsoft.com/office/drawing/2014/main" id="{9D24703D-ADD8-525E-6C16-19BA7B975B9E}"/>
              </a:ext>
            </a:extLst>
          </p:cNvPr>
          <p:cNvGrpSpPr/>
          <p:nvPr/>
        </p:nvGrpSpPr>
        <p:grpSpPr>
          <a:xfrm>
            <a:off x="7037562" y="5221442"/>
            <a:ext cx="1241549" cy="1172427"/>
            <a:chOff x="3339541" y="4830839"/>
            <a:chExt cx="942560" cy="890084"/>
          </a:xfrm>
        </p:grpSpPr>
        <p:sp>
          <p:nvSpPr>
            <p:cNvPr id="36" name="円/楕円 35">
              <a:extLst>
                <a:ext uri="{FF2B5EF4-FFF2-40B4-BE49-F238E27FC236}">
                  <a16:creationId xmlns:a16="http://schemas.microsoft.com/office/drawing/2014/main" id="{E086B56B-3685-EF4E-4B51-0CFEB20F3F3C}"/>
                </a:ext>
              </a:extLst>
            </p:cNvPr>
            <p:cNvSpPr/>
            <p:nvPr/>
          </p:nvSpPr>
          <p:spPr>
            <a:xfrm>
              <a:off x="4158645" y="5117517"/>
              <a:ext cx="123456" cy="123456"/>
            </a:xfrm>
            <a:prstGeom prst="ellipse">
              <a:avLst/>
            </a:prstGeom>
            <a:noFill/>
            <a:ln>
              <a:solidFill>
                <a:srgbClr val="37609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cxnSp>
          <p:nvCxnSpPr>
            <p:cNvPr id="41" name="直線コネクタ 40">
              <a:extLst>
                <a:ext uri="{FF2B5EF4-FFF2-40B4-BE49-F238E27FC236}">
                  <a16:creationId xmlns:a16="http://schemas.microsoft.com/office/drawing/2014/main" id="{161B3BBD-7775-50C6-B3C3-6142225372E2}"/>
                </a:ext>
              </a:extLst>
            </p:cNvPr>
            <p:cNvCxnSpPr>
              <a:cxnSpLocks/>
              <a:endCxn id="36" idx="4"/>
            </p:cNvCxnSpPr>
            <p:nvPr/>
          </p:nvCxnSpPr>
          <p:spPr>
            <a:xfrm flipV="1">
              <a:off x="3510802" y="5240973"/>
              <a:ext cx="709571" cy="479950"/>
            </a:xfrm>
            <a:prstGeom prst="line">
              <a:avLst/>
            </a:prstGeom>
            <a:ln w="12700">
              <a:solidFill>
                <a:srgbClr val="37609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線コネクタ 42">
              <a:extLst>
                <a:ext uri="{FF2B5EF4-FFF2-40B4-BE49-F238E27FC236}">
                  <a16:creationId xmlns:a16="http://schemas.microsoft.com/office/drawing/2014/main" id="{9428B685-665A-3EC1-9A31-054D81AD007E}"/>
                </a:ext>
              </a:extLst>
            </p:cNvPr>
            <p:cNvCxnSpPr>
              <a:cxnSpLocks/>
              <a:endCxn id="36" idx="0"/>
            </p:cNvCxnSpPr>
            <p:nvPr/>
          </p:nvCxnSpPr>
          <p:spPr>
            <a:xfrm>
              <a:off x="3339541" y="4830839"/>
              <a:ext cx="880833" cy="286678"/>
            </a:xfrm>
            <a:prstGeom prst="line">
              <a:avLst/>
            </a:prstGeom>
            <a:ln w="12700">
              <a:solidFill>
                <a:srgbClr val="37609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4130A6BF-7D51-66E0-2E7C-502BB6A90F2D}"/>
              </a:ext>
            </a:extLst>
          </p:cNvPr>
          <p:cNvSpPr txBox="1"/>
          <p:nvPr/>
        </p:nvSpPr>
        <p:spPr>
          <a:xfrm>
            <a:off x="5041233" y="4303807"/>
            <a:ext cx="39380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ja-JP" sz="1600" dirty="0">
                <a:latin typeface="+mj-ea"/>
                <a:ea typeface="+mj-ea"/>
              </a:rPr>
              <a:t>Calculate stress intensity factor from </a:t>
            </a:r>
            <a:br>
              <a:rPr lang="en-US" altLang="ja-JP" sz="1600" dirty="0">
                <a:latin typeface="+mj-ea"/>
                <a:ea typeface="+mj-ea"/>
              </a:rPr>
            </a:br>
            <a:r>
              <a:rPr kumimoji="1" lang="en-US" altLang="ja-JP" sz="1600" u="sng" dirty="0">
                <a:solidFill>
                  <a:srgbClr val="E46C0B"/>
                </a:solidFill>
                <a:latin typeface="+mj-ea"/>
                <a:ea typeface="+mj-ea"/>
              </a:rPr>
              <a:t>Peach-Koehler force </a:t>
            </a:r>
            <a:r>
              <a:rPr kumimoji="1" lang="en-US" altLang="ja-JP" sz="1600" dirty="0">
                <a:latin typeface="+mj-ea"/>
                <a:ea typeface="+mj-ea"/>
              </a:rPr>
              <a:t>at crack-tip</a:t>
            </a:r>
            <a:endParaRPr kumimoji="1" lang="ja-JP" altLang="en-US" sz="1600" dirty="0">
              <a:latin typeface="+mj-ea"/>
              <a:ea typeface="+mj-ea"/>
            </a:endParaRPr>
          </a:p>
        </p:txBody>
      </p:sp>
      <p:sp>
        <p:nvSpPr>
          <p:cNvPr id="103" name="テキスト ボックス 102">
            <a:extLst>
              <a:ext uri="{FF2B5EF4-FFF2-40B4-BE49-F238E27FC236}">
                <a16:creationId xmlns:a16="http://schemas.microsoft.com/office/drawing/2014/main" id="{297486BB-6F28-935A-2B74-4A69413FBB4A}"/>
              </a:ext>
            </a:extLst>
          </p:cNvPr>
          <p:cNvSpPr txBox="1"/>
          <p:nvPr/>
        </p:nvSpPr>
        <p:spPr>
          <a:xfrm>
            <a:off x="430319" y="1475197"/>
            <a:ext cx="39100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1600" dirty="0">
                <a:latin typeface="+mj-ea"/>
                <a:ea typeface="+mj-ea"/>
              </a:rPr>
              <a:t>Calculation of macrocrack stress field</a:t>
            </a:r>
            <a:endParaRPr kumimoji="1" lang="ja-JP" altLang="en-US" sz="1600" dirty="0">
              <a:latin typeface="+mj-ea"/>
              <a:ea typeface="+mj-ea"/>
            </a:endParaRPr>
          </a:p>
        </p:txBody>
      </p:sp>
      <p:sp>
        <p:nvSpPr>
          <p:cNvPr id="110" name="テキスト ボックス 109">
            <a:extLst>
              <a:ext uri="{FF2B5EF4-FFF2-40B4-BE49-F238E27FC236}">
                <a16:creationId xmlns:a16="http://schemas.microsoft.com/office/drawing/2014/main" id="{94FC6346-2159-CACF-1921-8A1F69CA2431}"/>
              </a:ext>
            </a:extLst>
          </p:cNvPr>
          <p:cNvSpPr txBox="1"/>
          <p:nvPr/>
        </p:nvSpPr>
        <p:spPr>
          <a:xfrm>
            <a:off x="1054560" y="4251219"/>
            <a:ext cx="27129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kumimoji="1" lang="en-US" altLang="ja-JP" sz="1600" dirty="0">
                <a:latin typeface="+mj-ea"/>
                <a:ea typeface="+mj-ea"/>
              </a:rPr>
              <a:t>All interaction consider</a:t>
            </a:r>
            <a:r>
              <a:rPr lang="en-US" altLang="ja-JP" sz="1600" dirty="0">
                <a:latin typeface="+mj-ea"/>
                <a:ea typeface="+mj-ea"/>
              </a:rPr>
              <a:t>ed</a:t>
            </a:r>
            <a:endParaRPr kumimoji="1" lang="ja-JP" altLang="en-US" sz="1600" dirty="0">
              <a:latin typeface="+mj-ea"/>
              <a:ea typeface="+mj-ea"/>
            </a:endParaRPr>
          </a:p>
        </p:txBody>
      </p:sp>
      <p:pic>
        <p:nvPicPr>
          <p:cNvPr id="6" name="図 5" descr="モニター画面に映る文字&#10;&#10;中程度の精度で自動的に生成された説明">
            <a:extLst>
              <a:ext uri="{FF2B5EF4-FFF2-40B4-BE49-F238E27FC236}">
                <a16:creationId xmlns:a16="http://schemas.microsoft.com/office/drawing/2014/main" id="{A7A71762-7F3D-3B48-F3E2-6385F50C51DA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-55679" r="47895" b="-22181"/>
          <a:stretch/>
        </p:blipFill>
        <p:spPr>
          <a:xfrm>
            <a:off x="5378304" y="5126795"/>
            <a:ext cx="2211556" cy="1485379"/>
          </a:xfrm>
          <a:prstGeom prst="ellipse">
            <a:avLst/>
          </a:prstGeom>
          <a:solidFill>
            <a:schemeClr val="bg1">
              <a:alpha val="85000"/>
            </a:schemeClr>
          </a:solidFill>
          <a:ln>
            <a:solidFill>
              <a:srgbClr val="1F4B7E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テキスト ボックス 101">
                <a:extLst>
                  <a:ext uri="{FF2B5EF4-FFF2-40B4-BE49-F238E27FC236}">
                    <a16:creationId xmlns:a16="http://schemas.microsoft.com/office/drawing/2014/main" id="{E0FF53E8-3060-E4F1-6D6F-F8F3E415EB1E}"/>
                  </a:ext>
                </a:extLst>
              </p:cNvPr>
              <p:cNvSpPr txBox="1"/>
              <p:nvPr/>
            </p:nvSpPr>
            <p:spPr>
              <a:xfrm>
                <a:off x="5675973" y="5207871"/>
                <a:ext cx="59336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b="1" i="1" smtClean="0">
                              <a:solidFill>
                                <a:srgbClr val="E46C0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1" i="1" smtClean="0">
                              <a:solidFill>
                                <a:srgbClr val="E46C0B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kumimoji="1" lang="en-US" altLang="ja-JP" sz="2400" b="1" i="1" smtClean="0">
                              <a:solidFill>
                                <a:srgbClr val="E46C0B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</m:oMath>
                  </m:oMathPara>
                </a14:m>
                <a:endParaRPr kumimoji="1" lang="ja-JP" altLang="en-US" sz="2400" b="1" dirty="0">
                  <a:solidFill>
                    <a:srgbClr val="E46C0B"/>
                  </a:solidFill>
                </a:endParaRPr>
              </a:p>
            </p:txBody>
          </p:sp>
        </mc:Choice>
        <mc:Fallback xmlns="">
          <p:sp>
            <p:nvSpPr>
              <p:cNvPr id="102" name="テキスト ボックス 101">
                <a:extLst>
                  <a:ext uri="{FF2B5EF4-FFF2-40B4-BE49-F238E27FC236}">
                    <a16:creationId xmlns:a16="http://schemas.microsoft.com/office/drawing/2014/main" id="{E0FF53E8-3060-E4F1-6D6F-F8F3E415EB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973" y="5207871"/>
                <a:ext cx="593368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" name="楕円 103">
            <a:extLst>
              <a:ext uri="{FF2B5EF4-FFF2-40B4-BE49-F238E27FC236}">
                <a16:creationId xmlns:a16="http://schemas.microsoft.com/office/drawing/2014/main" id="{F23682E0-0785-2162-AC63-D00DCE2B8B0E}"/>
              </a:ext>
            </a:extLst>
          </p:cNvPr>
          <p:cNvSpPr/>
          <p:nvPr/>
        </p:nvSpPr>
        <p:spPr>
          <a:xfrm>
            <a:off x="3042871" y="4875550"/>
            <a:ext cx="76564" cy="7656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9D51A68F-E642-C0C2-7B23-D9EA5166C9D1}"/>
              </a:ext>
            </a:extLst>
          </p:cNvPr>
          <p:cNvGrpSpPr/>
          <p:nvPr/>
        </p:nvGrpSpPr>
        <p:grpSpPr>
          <a:xfrm>
            <a:off x="942465" y="1966811"/>
            <a:ext cx="2741473" cy="1596361"/>
            <a:chOff x="856668" y="1910387"/>
            <a:chExt cx="2741473" cy="159636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テキスト ボックス 61">
                  <a:extLst>
                    <a:ext uri="{FF2B5EF4-FFF2-40B4-BE49-F238E27FC236}">
                      <a16:creationId xmlns:a16="http://schemas.microsoft.com/office/drawing/2014/main" id="{655ED939-97A2-0A67-3097-86FDDA263BE4}"/>
                    </a:ext>
                  </a:extLst>
                </p:cNvPr>
                <p:cNvSpPr txBox="1"/>
                <p:nvPr/>
              </p:nvSpPr>
              <p:spPr>
                <a:xfrm>
                  <a:off x="1854798" y="1910387"/>
                  <a:ext cx="610552" cy="33611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altLang="ja-JP" sz="140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sz="1400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ja-JP" sz="1400" b="0" i="1" smtClean="0">
                                <a:latin typeface="Cambria Math" panose="02040503050406030204" pitchFamily="18" charset="0"/>
                              </a:rPr>
                              <m:t>𝑎𝑝𝑝</m:t>
                            </m:r>
                          </m:sub>
                        </m:sSub>
                      </m:oMath>
                    </m:oMathPara>
                  </a14:m>
                  <a:endParaRPr lang="en-US" altLang="ja-JP" sz="1400" dirty="0"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62" name="テキスト ボックス 61">
                  <a:extLst>
                    <a:ext uri="{FF2B5EF4-FFF2-40B4-BE49-F238E27FC236}">
                      <a16:creationId xmlns:a16="http://schemas.microsoft.com/office/drawing/2014/main" id="{655ED939-97A2-0A67-3097-86FDDA263B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4798" y="1910387"/>
                  <a:ext cx="610552" cy="336118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85" name="図 84" descr="時計, 記号 が含まれている画像&#10;&#10;自動的に生成された説明">
              <a:extLst>
                <a:ext uri="{FF2B5EF4-FFF2-40B4-BE49-F238E27FC236}">
                  <a16:creationId xmlns:a16="http://schemas.microsoft.com/office/drawing/2014/main" id="{4E36C3A2-7AAA-9C24-50FD-08105BF647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56668" y="2055380"/>
              <a:ext cx="2741473" cy="1451368"/>
            </a:xfrm>
            <a:prstGeom prst="rect">
              <a:avLst/>
            </a:prstGeom>
          </p:spPr>
        </p:pic>
      </p:grpSp>
      <p:pic>
        <p:nvPicPr>
          <p:cNvPr id="95" name="図 94" descr="図形&#10;&#10;中程度の精度で自動的に生成された説明">
            <a:extLst>
              <a:ext uri="{FF2B5EF4-FFF2-40B4-BE49-F238E27FC236}">
                <a16:creationId xmlns:a16="http://schemas.microsoft.com/office/drawing/2014/main" id="{008215D0-FB74-EF3B-C79E-903D046989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792" y="4873840"/>
            <a:ext cx="2816821" cy="1740952"/>
          </a:xfrm>
          <a:prstGeom prst="rect">
            <a:avLst/>
          </a:prstGeom>
        </p:spPr>
      </p:pic>
      <p:sp>
        <p:nvSpPr>
          <p:cNvPr id="106" name="円弧 105">
            <a:extLst>
              <a:ext uri="{FF2B5EF4-FFF2-40B4-BE49-F238E27FC236}">
                <a16:creationId xmlns:a16="http://schemas.microsoft.com/office/drawing/2014/main" id="{3857E57E-F0DA-BC02-DDA8-E5C09A55AAF4}"/>
              </a:ext>
            </a:extLst>
          </p:cNvPr>
          <p:cNvSpPr/>
          <p:nvPr/>
        </p:nvSpPr>
        <p:spPr>
          <a:xfrm rot="15300000">
            <a:off x="2535606" y="4272772"/>
            <a:ext cx="1136237" cy="2324465"/>
          </a:xfrm>
          <a:prstGeom prst="arc">
            <a:avLst>
              <a:gd name="adj1" fmla="val 16539276"/>
              <a:gd name="adj2" fmla="val 464753"/>
            </a:avLst>
          </a:prstGeom>
          <a:ln w="1905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07" name="円弧 106">
            <a:extLst>
              <a:ext uri="{FF2B5EF4-FFF2-40B4-BE49-F238E27FC236}">
                <a16:creationId xmlns:a16="http://schemas.microsoft.com/office/drawing/2014/main" id="{F731E576-EA54-226A-84D2-791C331699B0}"/>
              </a:ext>
            </a:extLst>
          </p:cNvPr>
          <p:cNvSpPr/>
          <p:nvPr/>
        </p:nvSpPr>
        <p:spPr>
          <a:xfrm rot="15300000">
            <a:off x="2831143" y="5028586"/>
            <a:ext cx="892184" cy="246205"/>
          </a:xfrm>
          <a:prstGeom prst="arc">
            <a:avLst>
              <a:gd name="adj1" fmla="val 11239696"/>
              <a:gd name="adj2" fmla="val 19907660"/>
            </a:avLst>
          </a:prstGeom>
          <a:ln w="19050">
            <a:solidFill>
              <a:srgbClr val="E67418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08" name="円弧 107">
            <a:extLst>
              <a:ext uri="{FF2B5EF4-FFF2-40B4-BE49-F238E27FC236}">
                <a16:creationId xmlns:a16="http://schemas.microsoft.com/office/drawing/2014/main" id="{F05AFFD3-E9FE-5E90-0159-2D9E06DCD1A1}"/>
              </a:ext>
            </a:extLst>
          </p:cNvPr>
          <p:cNvSpPr/>
          <p:nvPr/>
        </p:nvSpPr>
        <p:spPr>
          <a:xfrm rot="6300000" flipH="1">
            <a:off x="1343284" y="4546169"/>
            <a:ext cx="2085880" cy="2268383"/>
          </a:xfrm>
          <a:prstGeom prst="arc">
            <a:avLst>
              <a:gd name="adj1" fmla="val 16985407"/>
              <a:gd name="adj2" fmla="val 19842117"/>
            </a:avLst>
          </a:prstGeom>
          <a:ln w="19050">
            <a:solidFill>
              <a:srgbClr val="37609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" name="円弧 108">
            <a:extLst>
              <a:ext uri="{FF2B5EF4-FFF2-40B4-BE49-F238E27FC236}">
                <a16:creationId xmlns:a16="http://schemas.microsoft.com/office/drawing/2014/main" id="{099AF214-C97C-E18F-20B8-20FC46DEB268}"/>
              </a:ext>
            </a:extLst>
          </p:cNvPr>
          <p:cNvSpPr/>
          <p:nvPr/>
        </p:nvSpPr>
        <p:spPr>
          <a:xfrm rot="15300000">
            <a:off x="2868167" y="4906707"/>
            <a:ext cx="325232" cy="374942"/>
          </a:xfrm>
          <a:prstGeom prst="arc">
            <a:avLst>
              <a:gd name="adj1" fmla="val 15000647"/>
              <a:gd name="adj2" fmla="val 1119812"/>
            </a:avLst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42872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9597F0-A7B5-C9AB-43FA-D57978C6D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Coupled model</a:t>
            </a:r>
            <a:endParaRPr kumimoji="1"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E7DA2D0-B9CE-2876-4307-34DC21CE15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879295"/>
            <a:ext cx="6492152" cy="3066370"/>
          </a:xfrm>
        </p:spPr>
        <p:txBody>
          <a:bodyPr/>
          <a:lstStyle/>
          <a:p>
            <a:r>
              <a:rPr lang="en-US" altLang="ja-JP" dirty="0"/>
              <a:t>Analysis condition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0DA222B-D120-6BC9-2356-471C4C49D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F6909-ABCB-BB45-AC56-A8377246EBB2}" type="slidenum">
              <a:rPr lang="ja-JP" altLang="en-US" smtClean="0"/>
              <a:pPr/>
              <a:t>7</a:t>
            </a:fld>
            <a:endParaRPr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C8D372A-AEF8-E4E6-E26D-52176CC79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Tokyo University of Science - Computational Materials Science Laboratory -</a:t>
            </a:r>
            <a:endParaRPr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 515">
                <a:extLst>
                  <a:ext uri="{FF2B5EF4-FFF2-40B4-BE49-F238E27FC236}">
                    <a16:creationId xmlns:a16="http://schemas.microsoft.com/office/drawing/2014/main" id="{84844850-7BCF-2261-E449-33A6C5BEE8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89894634"/>
                  </p:ext>
                </p:extLst>
              </p:nvPr>
            </p:nvGraphicFramePr>
            <p:xfrm>
              <a:off x="117660" y="1615155"/>
              <a:ext cx="4130220" cy="464400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11340">
                      <a:extLst>
                        <a:ext uri="{9D8B030D-6E8A-4147-A177-3AD203B41FA5}">
                          <a16:colId xmlns:a16="http://schemas.microsoft.com/office/drawing/2014/main" val="4131519347"/>
                        </a:ext>
                      </a:extLst>
                    </a:gridCol>
                    <a:gridCol w="818880">
                      <a:extLst>
                        <a:ext uri="{9D8B030D-6E8A-4147-A177-3AD203B41FA5}">
                          <a16:colId xmlns:a16="http://schemas.microsoft.com/office/drawing/2014/main" val="2137457119"/>
                        </a:ext>
                      </a:extLst>
                    </a:gridCol>
                  </a:tblGrid>
                  <a:tr h="5717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000" b="0" i="0" dirty="0">
                              <a:solidFill>
                                <a:schemeClr val="tx1"/>
                              </a:solidFill>
                              <a:latin typeface="+mn-ea"/>
                              <a:ea typeface="+mn-ea"/>
                            </a:rPr>
                            <a:t>Shear</a:t>
                          </a:r>
                          <a:r>
                            <a:rPr kumimoji="1" lang="en-US" altLang="ja-JP" sz="2000" b="0" i="0" baseline="0" dirty="0">
                              <a:solidFill>
                                <a:schemeClr val="tx1"/>
                              </a:solidFill>
                              <a:latin typeface="+mn-ea"/>
                              <a:ea typeface="+mn-ea"/>
                            </a:rPr>
                            <a:t> modulus</a:t>
                          </a:r>
                          <a14:m>
                            <m:oMath xmlns:m="http://schemas.openxmlformats.org/officeDocument/2006/math">
                              <m:r>
                                <a:rPr kumimoji="1" lang="ja-JP" alt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 </m:t>
                              </m:r>
                            </m:oMath>
                          </a14:m>
                          <a:r>
                            <a:rPr kumimoji="1" lang="en-US" altLang="ja-JP" sz="2000" b="0" dirty="0">
                              <a:solidFill>
                                <a:schemeClr val="tx1"/>
                              </a:solidFill>
                              <a:latin typeface="+mn-ea"/>
                              <a:ea typeface="+mn-ea"/>
                            </a:rPr>
                            <a:t>[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kumimoji="1" lang="en-US" altLang="ja-JP" sz="2000" b="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GPa</m:t>
                              </m:r>
                            </m:oMath>
                          </a14:m>
                          <a:r>
                            <a:rPr kumimoji="1" lang="en-US" altLang="ja-JP" sz="2000" b="0" dirty="0">
                              <a:solidFill>
                                <a:schemeClr val="tx1"/>
                              </a:solidFill>
                              <a:latin typeface="+mn-ea"/>
                              <a:ea typeface="+mn-ea"/>
                            </a:rPr>
                            <a:t>]</a:t>
                          </a:r>
                          <a:endParaRPr kumimoji="1" lang="ja-JP" altLang="en-US" sz="2000" b="0" dirty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sz="20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  <m:t>79.0</m:t>
                                </m:r>
                              </m:oMath>
                            </m:oMathPara>
                          </a14:m>
                          <a:endParaRPr kumimoji="1" lang="ja-JP" altLang="en-US" sz="2000" b="0" i="0" dirty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7592617"/>
                      </a:ext>
                    </a:extLst>
                  </a:tr>
                  <a:tr h="5717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000" dirty="0">
                              <a:solidFill>
                                <a:schemeClr val="tx1"/>
                              </a:solidFill>
                              <a:latin typeface="+mn-ea"/>
                              <a:ea typeface="+mn-ea"/>
                            </a:rPr>
                            <a:t>Poisson’s ratio [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−</m:t>
                              </m:r>
                            </m:oMath>
                          </a14:m>
                          <a:r>
                            <a:rPr kumimoji="1" lang="en-US" altLang="ja-JP" sz="2000" dirty="0">
                              <a:solidFill>
                                <a:schemeClr val="tx1"/>
                              </a:solidFill>
                              <a:latin typeface="+mn-ea"/>
                              <a:ea typeface="+mn-ea"/>
                            </a:rPr>
                            <a:t>]</a:t>
                          </a:r>
                          <a:endParaRPr kumimoji="1" lang="ja-JP" altLang="en-US" sz="2000" dirty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0.3</m:t>
                                </m:r>
                              </m:oMath>
                            </m:oMathPara>
                          </a14:m>
                          <a:endParaRPr kumimoji="1" lang="ja-JP" altLang="en-US" sz="2000" b="0" i="0" dirty="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13273458"/>
                      </a:ext>
                    </a:extLst>
                  </a:tr>
                  <a:tr h="5717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000" dirty="0">
                              <a:solidFill>
                                <a:schemeClr val="tx1"/>
                              </a:solidFill>
                              <a:latin typeface="+mn-ea"/>
                              <a:ea typeface="+mn-ea"/>
                            </a:rPr>
                            <a:t>Burgers</a:t>
                          </a:r>
                          <a:r>
                            <a:rPr kumimoji="1" lang="en-US" altLang="ja-JP" sz="2000" baseline="0" dirty="0">
                              <a:solidFill>
                                <a:schemeClr val="tx1"/>
                              </a:solidFill>
                              <a:latin typeface="+mn-ea"/>
                              <a:ea typeface="+mn-ea"/>
                            </a:rPr>
                            <a:t> vector</a:t>
                          </a:r>
                          <a:r>
                            <a:rPr kumimoji="1" lang="ja-JP" altLang="en-US" sz="2000" dirty="0">
                              <a:solidFill>
                                <a:schemeClr val="tx1"/>
                              </a:solidFill>
                              <a:latin typeface="+mn-ea"/>
                              <a:ea typeface="+mn-ea"/>
                            </a:rPr>
                            <a:t> </a:t>
                          </a:r>
                          <a:r>
                            <a:rPr kumimoji="1" lang="en-US" altLang="ja-JP" sz="2000" dirty="0">
                              <a:solidFill>
                                <a:schemeClr val="tx1"/>
                              </a:solidFill>
                              <a:latin typeface="+mn-ea"/>
                              <a:ea typeface="+mn-ea"/>
                            </a:rPr>
                            <a:t>[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kumimoji="1" lang="en-US" altLang="ja-JP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nm</m:t>
                              </m:r>
                            </m:oMath>
                          </a14:m>
                          <a:r>
                            <a:rPr kumimoji="1" lang="en-US" altLang="ja-JP" sz="2000" dirty="0">
                              <a:solidFill>
                                <a:schemeClr val="tx1"/>
                              </a:solidFill>
                              <a:latin typeface="+mn-ea"/>
                              <a:ea typeface="+mn-ea"/>
                            </a:rPr>
                            <a:t>]</a:t>
                          </a:r>
                          <a:endParaRPr kumimoji="1" lang="ja-JP" altLang="en-US" sz="2000" dirty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0.254</m:t>
                                </m:r>
                              </m:oMath>
                            </m:oMathPara>
                          </a14:m>
                          <a:endParaRPr kumimoji="1" lang="ja-JP" altLang="en-US" sz="2000" b="0" dirty="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70138913"/>
                      </a:ext>
                    </a:extLst>
                  </a:tr>
                  <a:tr h="5717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000" b="0" i="0" dirty="0">
                              <a:latin typeface="+mn-ea"/>
                              <a:ea typeface="+mn-ea"/>
                            </a:rPr>
                            <a:t>Slip-plane</a:t>
                          </a:r>
                          <a:r>
                            <a:rPr kumimoji="1" lang="en-US" altLang="ja-JP" sz="2000" b="0" i="0" baseline="0" dirty="0">
                              <a:latin typeface="+mn-ea"/>
                              <a:ea typeface="+mn-ea"/>
                            </a:rPr>
                            <a:t> angle</a:t>
                          </a:r>
                          <a:r>
                            <a:rPr kumimoji="1" lang="en-US" altLang="ja-JP" sz="2000" b="0" i="0" dirty="0">
                              <a:latin typeface="+mn-ea"/>
                              <a:ea typeface="+mn-ea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kumimoji="1" lang="ja-JP" altLang="en-US" sz="2000" b="0" i="1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𝛼</m:t>
                              </m:r>
                            </m:oMath>
                          </a14:m>
                          <a:r>
                            <a:rPr kumimoji="1" lang="en-US" altLang="ja-JP" sz="2000" dirty="0">
                              <a:latin typeface="+mn-ea"/>
                              <a:ea typeface="+mn-ea"/>
                            </a:rPr>
                            <a:t> [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sz="2000" i="1" dirty="0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°</m:t>
                              </m:r>
                            </m:oMath>
                          </a14:m>
                          <a:r>
                            <a:rPr kumimoji="1" lang="en-US" altLang="ja-JP" sz="2000" dirty="0">
                              <a:latin typeface="+mn-ea"/>
                              <a:ea typeface="+mn-ea"/>
                            </a:rPr>
                            <a:t>]</a:t>
                          </a:r>
                          <a:endParaRPr kumimoji="1" lang="ja-JP" altLang="en-US" sz="2000" dirty="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70.5</m:t>
                                </m:r>
                              </m:oMath>
                            </m:oMathPara>
                          </a14:m>
                          <a:endParaRPr kumimoji="1" lang="ja-JP" altLang="en-US" sz="2000" b="0" i="0" dirty="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54173628"/>
                      </a:ext>
                    </a:extLst>
                  </a:tr>
                  <a:tr h="7729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000" dirty="0">
                              <a:solidFill>
                                <a:schemeClr val="tx1"/>
                              </a:solidFill>
                              <a:latin typeface="+mn-ea"/>
                              <a:ea typeface="+mn-ea"/>
                            </a:rPr>
                            <a:t> Surface</a:t>
                          </a:r>
                          <a:r>
                            <a:rPr kumimoji="1" lang="en-US" altLang="ja-JP" sz="2000" baseline="0" dirty="0">
                              <a:solidFill>
                                <a:schemeClr val="tx1"/>
                              </a:solidFill>
                              <a:latin typeface="+mn-ea"/>
                              <a:ea typeface="+mn-ea"/>
                            </a:rPr>
                            <a:t> energy </a:t>
                          </a:r>
                          <a14:m>
                            <m:oMath xmlns:m="http://schemas.openxmlformats.org/officeDocument/2006/math">
                              <m:r>
                                <a:rPr kumimoji="1" lang="ja-JP" altLang="en-US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𝛾</m:t>
                              </m:r>
                            </m:oMath>
                          </a14:m>
                          <a:r>
                            <a:rPr kumimoji="1" lang="en-US" altLang="ja-JP" sz="2000" dirty="0">
                              <a:solidFill>
                                <a:schemeClr val="tx1"/>
                              </a:solidFill>
                              <a:latin typeface="+mn-ea"/>
                              <a:ea typeface="+mn-ea"/>
                            </a:rPr>
                            <a:t> [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kumimoji="1" lang="en-US" altLang="ja-JP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ja-JP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Jm</m:t>
                                  </m:r>
                                </m:e>
                                <m:sup>
                                  <m:r>
                                    <a:rPr kumimoji="1" lang="en-US" altLang="ja-JP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−2</m:t>
                                  </m:r>
                                </m:sup>
                              </m:sSup>
                            </m:oMath>
                          </a14:m>
                          <a:r>
                            <a:rPr kumimoji="1" lang="en-US" altLang="ja-JP" sz="2000" dirty="0">
                              <a:solidFill>
                                <a:schemeClr val="tx1"/>
                              </a:solidFill>
                              <a:latin typeface="+mn-ea"/>
                              <a:ea typeface="+mn-ea"/>
                            </a:rPr>
                            <a:t>]</a:t>
                          </a:r>
                          <a:endParaRPr kumimoji="1" lang="ja-JP" altLang="en-US" sz="2000" dirty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2.0</m:t>
                                </m:r>
                              </m:oMath>
                            </m:oMathPara>
                          </a14:m>
                          <a:endParaRPr kumimoji="1" lang="ja-JP" altLang="en-US" sz="2000" b="0" i="0" dirty="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11799904"/>
                      </a:ext>
                    </a:extLst>
                  </a:tr>
                  <a:tr h="77058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000" b="0" i="0" dirty="0">
                              <a:solidFill>
                                <a:schemeClr val="tx1"/>
                              </a:solidFill>
                              <a:latin typeface="+mn-ea"/>
                              <a:ea typeface="+mn-ea"/>
                            </a:rPr>
                            <a:t>Critical </a:t>
                          </a:r>
                          <a:r>
                            <a:rPr kumimoji="1" lang="en-US" altLang="ja-JP" sz="2000" b="0" i="0" baseline="0" dirty="0">
                              <a:solidFill>
                                <a:schemeClr val="tx1"/>
                              </a:solidFill>
                              <a:latin typeface="+mn-ea"/>
                              <a:ea typeface="+mn-ea"/>
                            </a:rPr>
                            <a:t>value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kumimoji="1" lang="en-US" altLang="ja-JP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kumimoji="1" lang="en-US" altLang="ja-JP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𝐼𝑐</m:t>
                                  </m:r>
                                </m:sub>
                              </m:sSub>
                              <m:r>
                                <a:rPr kumimoji="1" lang="en-US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 [</m:t>
                              </m:r>
                              <m:r>
                                <m:rPr>
                                  <m:sty m:val="p"/>
                                </m:rPr>
                                <a:rPr kumimoji="1" lang="en-US" altLang="ja-JP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MPa</m:t>
                              </m:r>
                              <m:rad>
                                <m:radPr>
                                  <m:degHide m:val="on"/>
                                  <m:ctrlPr>
                                    <a:rPr kumimoji="1" lang="en-US" altLang="ja-JP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ja-JP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m</m:t>
                                  </m:r>
                                </m:e>
                              </m:rad>
                            </m:oMath>
                          </a14:m>
                          <a:r>
                            <a:rPr kumimoji="1" lang="en-US" altLang="ja-JP" sz="2000" b="0" dirty="0">
                              <a:solidFill>
                                <a:schemeClr val="tx1"/>
                              </a:solidFill>
                              <a:latin typeface="+mn-ea"/>
                              <a:ea typeface="+mn-ea"/>
                            </a:rPr>
                            <a:t>]</a:t>
                          </a:r>
                          <a:endParaRPr kumimoji="1" lang="ja-JP" altLang="en-US" sz="2000" b="0" dirty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  <m:t>1.0</m:t>
                                </m:r>
                              </m:oMath>
                            </m:oMathPara>
                          </a14:m>
                          <a:endParaRPr kumimoji="1" lang="ja-JP" altLang="en-US" sz="2000" b="0" i="0" dirty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22222967"/>
                      </a:ext>
                    </a:extLst>
                  </a:tr>
                  <a:tr h="8133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000" dirty="0">
                              <a:latin typeface="+mn-ea"/>
                              <a:ea typeface="+mn-ea"/>
                            </a:rPr>
                            <a:t>Applied</a:t>
                          </a:r>
                          <a:r>
                            <a:rPr kumimoji="1" lang="en-US" altLang="ja-JP" sz="2000" baseline="0" dirty="0">
                              <a:latin typeface="+mn-ea"/>
                              <a:ea typeface="+mn-ea"/>
                            </a:rPr>
                            <a:t> load rate</a:t>
                          </a:r>
                          <a:r>
                            <a:rPr kumimoji="1" lang="ja-JP" altLang="en-US" sz="2000">
                              <a:latin typeface="+mn-ea"/>
                              <a:ea typeface="+mn-ea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ja-JP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kumimoji="1" lang="en-US" altLang="ja-JP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1" lang="en-US" altLang="ja-JP" sz="2000" b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  <m:t>𝐾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kumimoji="1" lang="en-US" altLang="ja-JP" sz="2000" b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𝑎𝑝𝑝</m:t>
                                  </m:r>
                                </m:sub>
                              </m:sSub>
                              <m:r>
                                <a:rPr kumimoji="1" lang="en-US" altLang="ja-JP" sz="2000" b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 </m:t>
                              </m:r>
                            </m:oMath>
                          </a14:m>
                          <a:r>
                            <a:rPr kumimoji="1" lang="en-US" altLang="ja-JP" sz="2000" b="0" dirty="0">
                              <a:latin typeface="+mn-ea"/>
                              <a:ea typeface="+mn-ea"/>
                            </a:rPr>
                            <a:t>[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kumimoji="1" lang="en-US" altLang="ja-JP" sz="2000" b="0" i="0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MPa</m:t>
                              </m:r>
                              <m:rad>
                                <m:radPr>
                                  <m:degHide m:val="on"/>
                                  <m:ctrlPr>
                                    <a:rPr kumimoji="1" lang="en-US" altLang="ja-JP" sz="2000" i="1" smtClean="0">
                                      <a:latin typeface="Cambria Math" panose="02040503050406030204" pitchFamily="18" charset="0"/>
                                      <a:ea typeface="+mn-ea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ja-JP" sz="2000" b="0" i="0" smtClean="0"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m</m:t>
                                  </m:r>
                                </m:e>
                              </m:rad>
                              <m:r>
                                <a:rPr kumimoji="1" lang="en-US" altLang="ja-JP" sz="2000" b="0" i="0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/</m:t>
                              </m:r>
                              <m:r>
                                <m:rPr>
                                  <m:sty m:val="p"/>
                                </m:rPr>
                                <a:rPr kumimoji="1" lang="en-US" altLang="ja-JP" sz="2000" b="0" i="0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s</m:t>
                              </m:r>
                            </m:oMath>
                          </a14:m>
                          <a:r>
                            <a:rPr kumimoji="1" lang="en" altLang="ja-JP" sz="2000" b="0" dirty="0">
                              <a:latin typeface="+mn-ea"/>
                              <a:ea typeface="+mn-ea"/>
                            </a:rPr>
                            <a:t>]</a:t>
                          </a:r>
                          <a:endParaRPr kumimoji="1" lang="ja-JP" altLang="en-US" sz="2000" dirty="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0.01</m:t>
                                </m:r>
                              </m:oMath>
                            </m:oMathPara>
                          </a14:m>
                          <a:endParaRPr kumimoji="1" lang="ja-JP" altLang="en-US" sz="2000" b="0" i="0" dirty="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988808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 515">
                <a:extLst>
                  <a:ext uri="{FF2B5EF4-FFF2-40B4-BE49-F238E27FC236}">
                    <a16:creationId xmlns:a16="http://schemas.microsoft.com/office/drawing/2014/main" id="{84844850-7BCF-2261-E449-33A6C5BEE8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89894634"/>
                  </p:ext>
                </p:extLst>
              </p:nvPr>
            </p:nvGraphicFramePr>
            <p:xfrm>
              <a:off x="117660" y="1615155"/>
              <a:ext cx="4130220" cy="464400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11340">
                      <a:extLst>
                        <a:ext uri="{9D8B030D-6E8A-4147-A177-3AD203B41FA5}">
                          <a16:colId xmlns:a16="http://schemas.microsoft.com/office/drawing/2014/main" val="4131519347"/>
                        </a:ext>
                      </a:extLst>
                    </a:gridCol>
                    <a:gridCol w="818880">
                      <a:extLst>
                        <a:ext uri="{9D8B030D-6E8A-4147-A177-3AD203B41FA5}">
                          <a16:colId xmlns:a16="http://schemas.microsoft.com/office/drawing/2014/main" val="2137457119"/>
                        </a:ext>
                      </a:extLst>
                    </a:gridCol>
                  </a:tblGrid>
                  <a:tr h="57178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68" t="-1064" r="-25184" b="-7234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7463" t="-1064" r="-2239" b="-7234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7592617"/>
                      </a:ext>
                    </a:extLst>
                  </a:tr>
                  <a:tr h="57178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68" t="-101064" r="-25184" b="-6234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7463" t="-101064" r="-2239" b="-6234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3273458"/>
                      </a:ext>
                    </a:extLst>
                  </a:tr>
                  <a:tr h="57178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68" t="-201064" r="-25184" b="-5234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7463" t="-201064" r="-2239" b="-5234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0138913"/>
                      </a:ext>
                    </a:extLst>
                  </a:tr>
                  <a:tr h="57178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68" t="-301064" r="-25184" b="-4234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7463" t="-301064" r="-2239" b="-4234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4173628"/>
                      </a:ext>
                    </a:extLst>
                  </a:tr>
                  <a:tr h="772939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68" t="-296850" r="-25184" b="-2133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7463" t="-296850" r="-2239" b="-2133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1799904"/>
                      </a:ext>
                    </a:extLst>
                  </a:tr>
                  <a:tr h="770585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68" t="-400000" r="-25184" b="-1150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7463" t="-400000" r="-2239" b="-1150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2222967"/>
                      </a:ext>
                    </a:extLst>
                  </a:tr>
                  <a:tr h="813358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68" t="-470149" r="-25184" b="-82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7463" t="-470149" r="-2239" b="-82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98880866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図 6" descr="凧, 飛ぶ, 水, 男 が含まれている画像&#10;&#10;自動的に生成された説明">
            <a:extLst>
              <a:ext uri="{FF2B5EF4-FFF2-40B4-BE49-F238E27FC236}">
                <a16:creationId xmlns:a16="http://schemas.microsoft.com/office/drawing/2014/main" id="{2B6A9D1A-881C-C407-C5D5-0314BABE41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2696" y="1444437"/>
            <a:ext cx="4698951" cy="33762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表 7">
                <a:extLst>
                  <a:ext uri="{FF2B5EF4-FFF2-40B4-BE49-F238E27FC236}">
                    <a16:creationId xmlns:a16="http://schemas.microsoft.com/office/drawing/2014/main" id="{12B98161-C2E3-A33E-362E-A914A32E331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62232018"/>
                  </p:ext>
                </p:extLst>
              </p:nvPr>
            </p:nvGraphicFramePr>
            <p:xfrm>
              <a:off x="4478004" y="4711158"/>
              <a:ext cx="4548336" cy="154799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57822">
                      <a:extLst>
                        <a:ext uri="{9D8B030D-6E8A-4147-A177-3AD203B41FA5}">
                          <a16:colId xmlns:a16="http://schemas.microsoft.com/office/drawing/2014/main" val="3216154813"/>
                        </a:ext>
                      </a:extLst>
                    </a:gridCol>
                    <a:gridCol w="1290514">
                      <a:extLst>
                        <a:ext uri="{9D8B030D-6E8A-4147-A177-3AD203B41FA5}">
                          <a16:colId xmlns:a16="http://schemas.microsoft.com/office/drawing/2014/main" val="4250522442"/>
                        </a:ext>
                      </a:extLst>
                    </a:gridCol>
                  </a:tblGrid>
                  <a:tr h="5189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000" b="0" baseline="0" dirty="0">
                              <a:solidFill>
                                <a:schemeClr val="tx1"/>
                              </a:solidFill>
                              <a:latin typeface="+mj-ea"/>
                              <a:ea typeface="+mj-ea"/>
                            </a:rPr>
                            <a:t>Temperature </a:t>
                          </a:r>
                          <a:r>
                            <a:rPr kumimoji="1" lang="en-US" altLang="ja-JP" sz="2000" b="0" dirty="0">
                              <a:solidFill>
                                <a:schemeClr val="tx1"/>
                              </a:solidFill>
                              <a:latin typeface="+mj-ea"/>
                              <a:ea typeface="+mj-ea"/>
                            </a:rPr>
                            <a:t>[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kumimoji="1" lang="en-US" altLang="ja-JP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  <m:t>K</m:t>
                              </m:r>
                            </m:oMath>
                          </a14:m>
                          <a:r>
                            <a:rPr kumimoji="1" lang="en-US" altLang="ja-JP" sz="2000" b="0" dirty="0">
                              <a:solidFill>
                                <a:schemeClr val="tx1"/>
                              </a:solidFill>
                              <a:latin typeface="+mj-ea"/>
                              <a:ea typeface="+mj-ea"/>
                            </a:rPr>
                            <a:t>]</a:t>
                          </a:r>
                          <a:endParaRPr kumimoji="1" lang="ja-JP" altLang="en-US" sz="2000" b="0" dirty="0">
                            <a:solidFill>
                              <a:schemeClr val="tx1"/>
                            </a:solidFill>
                            <a:latin typeface="+mj-ea"/>
                            <a:ea typeface="+mj-ea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sz="2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j-ea"/>
                                  </a:rPr>
                                  <m:t>93~213</m:t>
                                </m:r>
                              </m:oMath>
                            </m:oMathPara>
                          </a14:m>
                          <a:endParaRPr kumimoji="1" lang="ja-JP" altLang="en-US" sz="2000" b="0" i="0" dirty="0">
                            <a:solidFill>
                              <a:srgbClr val="FF0000"/>
                            </a:solidFill>
                            <a:latin typeface="+mj-ea"/>
                            <a:ea typeface="+mj-ea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90722426"/>
                      </a:ext>
                    </a:extLst>
                  </a:tr>
                  <a:tr h="5145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000" b="0" i="0" baseline="0" dirty="0">
                              <a:solidFill>
                                <a:schemeClr val="tx1"/>
                              </a:solidFill>
                              <a:latin typeface="+mj-ea"/>
                              <a:ea typeface="+mj-ea"/>
                            </a:rPr>
                            <a:t>Crack length 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sz="2000" b="0" i="1" kern="120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  <m:r>
                                <a:rPr kumimoji="1" lang="en-US" altLang="ja-JP" sz="2000" b="0" i="1" kern="120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𝑎</m:t>
                              </m:r>
                              <m:r>
                                <a:rPr kumimoji="1" lang="en-US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  <m:t> [</m:t>
                              </m:r>
                              <m:r>
                                <m:rPr>
                                  <m:sty m:val="p"/>
                                </m:rPr>
                                <a:rPr lang="en-US" altLang="ja-JP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  <m:t>μm</m:t>
                              </m:r>
                            </m:oMath>
                          </a14:m>
                          <a:r>
                            <a:rPr kumimoji="1" lang="en-US" altLang="ja-JP" sz="2000" b="0" dirty="0">
                              <a:solidFill>
                                <a:schemeClr val="tx1"/>
                              </a:solidFill>
                              <a:latin typeface="+mj-ea"/>
                              <a:ea typeface="+mj-ea"/>
                            </a:rPr>
                            <a:t>]</a:t>
                          </a:r>
                          <a:endParaRPr kumimoji="1" lang="ja-JP" altLang="en-US" sz="2000" b="0" dirty="0">
                            <a:solidFill>
                              <a:schemeClr val="tx1"/>
                            </a:solidFill>
                            <a:latin typeface="+mj-ea"/>
                            <a:ea typeface="+mj-ea"/>
                          </a:endParaRPr>
                        </a:p>
                      </a:txBody>
                      <a:tcPr marL="88032" marR="88032" marT="44016" marB="4401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sz="2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j-ea"/>
                                  </a:rPr>
                                  <m:t>1.0~3.0</m:t>
                                </m:r>
                              </m:oMath>
                            </m:oMathPara>
                          </a14:m>
                          <a:endParaRPr kumimoji="1" lang="ja-JP" altLang="en-US" sz="2000" b="0" i="0" dirty="0">
                            <a:solidFill>
                              <a:srgbClr val="FF0000"/>
                            </a:solidFill>
                            <a:latin typeface="+mj-ea"/>
                            <a:ea typeface="+mj-ea"/>
                          </a:endParaRPr>
                        </a:p>
                      </a:txBody>
                      <a:tcPr marL="88032" marR="88032" marT="44016" marB="4401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06120004"/>
                      </a:ext>
                    </a:extLst>
                  </a:tr>
                  <a:tr h="5145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000" dirty="0">
                              <a:latin typeface="+mj-ea"/>
                              <a:ea typeface="+mj-ea"/>
                            </a:rPr>
                            <a:t>Crack</a:t>
                          </a:r>
                          <a:r>
                            <a:rPr kumimoji="1" lang="en-US" altLang="ja-JP" sz="2000" baseline="0" dirty="0">
                              <a:latin typeface="+mj-ea"/>
                              <a:ea typeface="+mj-ea"/>
                            </a:rPr>
                            <a:t> length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ja-JP" sz="2000" b="0" i="1" kern="12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000" b="0" i="1" kern="12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kumimoji="1" lang="en-US" altLang="ja-JP" sz="2000" b="0" i="1" kern="12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𝑛𝑒𝑎𝑟</m:t>
                                  </m:r>
                                </m:sub>
                              </m:sSub>
                              <m:r>
                                <a:rPr kumimoji="1" lang="en-US" altLang="ja-JP" sz="2000" b="0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</m:t>
                              </m:r>
                            </m:oMath>
                          </a14:m>
                          <a:r>
                            <a:rPr kumimoji="1" lang="en-US" altLang="ja-JP" sz="2000" dirty="0">
                              <a:latin typeface="+mj-ea"/>
                              <a:ea typeface="+mj-ea"/>
                            </a:rPr>
                            <a:t>[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kumimoji="1" lang="ja-JP" altLang="en-US" sz="2000" i="0" smtClean="0">
                                  <a:latin typeface="Cambria Math" panose="02040503050406030204" pitchFamily="18" charset="0"/>
                                  <a:ea typeface="+mj-ea"/>
                                </a:rPr>
                                <m:t>μ</m:t>
                              </m:r>
                              <m:r>
                                <m:rPr>
                                  <m:sty m:val="p"/>
                                </m:rPr>
                                <a:rPr kumimoji="1" lang="en-US" altLang="ja-JP" sz="2000" b="0" i="0" smtClean="0">
                                  <a:latin typeface="Cambria Math" panose="02040503050406030204" pitchFamily="18" charset="0"/>
                                  <a:ea typeface="+mj-ea"/>
                                </a:rPr>
                                <m:t>m</m:t>
                              </m:r>
                            </m:oMath>
                          </a14:m>
                          <a:r>
                            <a:rPr kumimoji="1" lang="en-US" altLang="ja-JP" sz="2000" dirty="0">
                              <a:latin typeface="+mj-ea"/>
                              <a:ea typeface="+mj-ea"/>
                            </a:rPr>
                            <a:t>]</a:t>
                          </a:r>
                          <a:endParaRPr kumimoji="1" lang="ja-JP" altLang="en-US" sz="2000" dirty="0">
                            <a:latin typeface="+mj-ea"/>
                            <a:ea typeface="+mj-ea"/>
                          </a:endParaRPr>
                        </a:p>
                      </a:txBody>
                      <a:tcPr marL="88032" marR="88032" marT="44016" marB="4401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sz="2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j-ea"/>
                                  </a:rPr>
                                  <m:t>1.0~5.0</m:t>
                                </m:r>
                              </m:oMath>
                            </m:oMathPara>
                          </a14:m>
                          <a:endParaRPr kumimoji="1" lang="ja-JP" altLang="en-US" sz="2000" b="0" i="0" dirty="0">
                            <a:solidFill>
                              <a:srgbClr val="FF0000"/>
                            </a:solidFill>
                            <a:latin typeface="+mj-ea"/>
                            <a:ea typeface="+mj-ea"/>
                          </a:endParaRPr>
                        </a:p>
                      </a:txBody>
                      <a:tcPr marL="88032" marR="88032" marT="44016" marB="4401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21421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表 7">
                <a:extLst>
                  <a:ext uri="{FF2B5EF4-FFF2-40B4-BE49-F238E27FC236}">
                    <a16:creationId xmlns:a16="http://schemas.microsoft.com/office/drawing/2014/main" id="{12B98161-C2E3-A33E-362E-A914A32E331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62232018"/>
                  </p:ext>
                </p:extLst>
              </p:nvPr>
            </p:nvGraphicFramePr>
            <p:xfrm>
              <a:off x="4478004" y="4711158"/>
              <a:ext cx="4548336" cy="154799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57822">
                      <a:extLst>
                        <a:ext uri="{9D8B030D-6E8A-4147-A177-3AD203B41FA5}">
                          <a16:colId xmlns:a16="http://schemas.microsoft.com/office/drawing/2014/main" val="3216154813"/>
                        </a:ext>
                      </a:extLst>
                    </a:gridCol>
                    <a:gridCol w="1290514">
                      <a:extLst>
                        <a:ext uri="{9D8B030D-6E8A-4147-A177-3AD203B41FA5}">
                          <a16:colId xmlns:a16="http://schemas.microsoft.com/office/drawing/2014/main" val="4250522442"/>
                        </a:ext>
                      </a:extLst>
                    </a:gridCol>
                  </a:tblGrid>
                  <a:tr h="518977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89" r="-40467" b="-2121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52941" r="-1961" b="-2121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0722426"/>
                      </a:ext>
                    </a:extLst>
                  </a:tr>
                  <a:tr h="514511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88032" marR="88032" marT="44016" marB="4401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89" t="-100000" r="-40467" b="-1121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88032" marR="88032" marT="44016" marB="4401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52941" t="-100000" r="-1961" b="-1121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6120004"/>
                      </a:ext>
                    </a:extLst>
                  </a:tr>
                  <a:tr h="514511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88032" marR="88032" marT="44016" marB="4401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89" t="-200000" r="-40467" b="-121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88032" marR="88032" marT="44016" marB="4401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52941" t="-200000" r="-1961" b="-121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2142106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2" name="図 11" descr="モニター画面に映る文字&#10;&#10;中程度の精度で自動的に生成された説明">
            <a:extLst>
              <a:ext uri="{FF2B5EF4-FFF2-40B4-BE49-F238E27FC236}">
                <a16:creationId xmlns:a16="http://schemas.microsoft.com/office/drawing/2014/main" id="{E26293A6-49E0-9F32-64C9-5D53D20605B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-6698" t="-154660" r="-11324" b="-88441"/>
          <a:stretch/>
        </p:blipFill>
        <p:spPr>
          <a:xfrm>
            <a:off x="5936422" y="981591"/>
            <a:ext cx="3285067" cy="1547998"/>
          </a:xfrm>
          <a:prstGeom prst="ellipse">
            <a:avLst/>
          </a:prstGeom>
          <a:noFill/>
          <a:ln w="12700">
            <a:noFill/>
          </a:ln>
        </p:spPr>
      </p:pic>
      <p:sp>
        <p:nvSpPr>
          <p:cNvPr id="13" name="円/楕円 12">
            <a:extLst>
              <a:ext uri="{FF2B5EF4-FFF2-40B4-BE49-F238E27FC236}">
                <a16:creationId xmlns:a16="http://schemas.microsoft.com/office/drawing/2014/main" id="{FE7EE27B-9552-4447-C0F5-7013F1CE06B3}"/>
              </a:ext>
            </a:extLst>
          </p:cNvPr>
          <p:cNvSpPr/>
          <p:nvPr/>
        </p:nvSpPr>
        <p:spPr>
          <a:xfrm>
            <a:off x="7882467" y="2912335"/>
            <a:ext cx="720456" cy="268557"/>
          </a:xfrm>
          <a:prstGeom prst="ellipse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0267C8B-7F27-B008-46B1-1EC2202C801C}"/>
              </a:ext>
            </a:extLst>
          </p:cNvPr>
          <p:cNvSpPr txBox="1"/>
          <p:nvPr/>
        </p:nvSpPr>
        <p:spPr>
          <a:xfrm>
            <a:off x="6071960" y="1255634"/>
            <a:ext cx="11641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ja-JP" sz="2400" i="1" dirty="0">
                <a:solidFill>
                  <a:srgbClr val="E46C0B"/>
                </a:solidFill>
                <a:latin typeface="+mj-ea"/>
                <a:ea typeface="+mj-ea"/>
              </a:rPr>
              <a:t>K</a:t>
            </a:r>
            <a:r>
              <a:rPr lang="en-US" altLang="ja-JP" sz="2400" i="1" baseline="-25000" dirty="0">
                <a:solidFill>
                  <a:srgbClr val="E46C0B"/>
                </a:solidFill>
                <a:latin typeface="+mj-ea"/>
                <a:ea typeface="+mj-ea"/>
              </a:rPr>
              <a:t>tip near</a:t>
            </a:r>
            <a:endParaRPr kumimoji="1" lang="ja-JP" altLang="en-US" sz="2400" i="1" baseline="-25000">
              <a:solidFill>
                <a:srgbClr val="E46C0B"/>
              </a:solidFill>
              <a:latin typeface="+mj-ea"/>
              <a:ea typeface="+mj-ea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D8BC8243-D853-4597-170D-F8E915ADD2ED}"/>
              </a:ext>
            </a:extLst>
          </p:cNvPr>
          <p:cNvSpPr txBox="1"/>
          <p:nvPr/>
        </p:nvSpPr>
        <p:spPr>
          <a:xfrm>
            <a:off x="8173797" y="1255634"/>
            <a:ext cx="9877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ja-JP" sz="2400" i="1" dirty="0">
                <a:solidFill>
                  <a:srgbClr val="E46C0B"/>
                </a:solidFill>
                <a:latin typeface="+mj-ea"/>
                <a:ea typeface="+mj-ea"/>
              </a:rPr>
              <a:t>K</a:t>
            </a:r>
            <a:r>
              <a:rPr lang="en-US" altLang="ja-JP" sz="2400" i="1" baseline="-25000" dirty="0">
                <a:solidFill>
                  <a:srgbClr val="E46C0B"/>
                </a:solidFill>
                <a:latin typeface="+mj-ea"/>
                <a:ea typeface="+mj-ea"/>
              </a:rPr>
              <a:t>tip far</a:t>
            </a:r>
            <a:endParaRPr kumimoji="1" lang="ja-JP" altLang="en-US" sz="2400" i="1" baseline="-25000">
              <a:solidFill>
                <a:srgbClr val="E46C0B"/>
              </a:solidFill>
              <a:latin typeface="+mj-ea"/>
              <a:ea typeface="+mj-ea"/>
            </a:endParaRPr>
          </a:p>
        </p:txBody>
      </p: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2219F14B-6014-9BD2-55EB-9C148B6D987D}"/>
              </a:ext>
            </a:extLst>
          </p:cNvPr>
          <p:cNvCxnSpPr>
            <a:cxnSpLocks/>
          </p:cNvCxnSpPr>
          <p:nvPr/>
        </p:nvCxnSpPr>
        <p:spPr>
          <a:xfrm flipH="1" flipV="1">
            <a:off x="7578956" y="2178990"/>
            <a:ext cx="442450" cy="76941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300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7860D8-72F3-6FCC-B064-2D4A92803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Three fracture types of microcrack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58031F3-907E-94AB-318D-CB1550C86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F6909-ABCB-BB45-AC56-A8377246EBB2}" type="slidenum">
              <a:rPr lang="ja-JP" altLang="en-US" smtClean="0"/>
              <a:pPr/>
              <a:t>8</a:t>
            </a:fld>
            <a:endParaRPr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2C0F2E1-B0E7-4B02-5096-116314986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Tokyo University of Science - Computational Materials Science Laboratory -</a:t>
            </a:r>
            <a:endParaRPr lang="ja-JP" altLang="en-US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BD7076A5-9F92-06D1-1DE9-EBF371BB902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77090" y="570289"/>
            <a:ext cx="2893598" cy="4133711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7F487082-92BF-41AF-3F02-DA48260DBA8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3144864" y="570288"/>
            <a:ext cx="2893599" cy="4133714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25FAF08B-6FE4-C8E3-586F-7FBAC7BFB33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6202807" y="570289"/>
            <a:ext cx="2893598" cy="41337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AF31367C-1522-CB9F-4350-17C210C487D3}"/>
                  </a:ext>
                </a:extLst>
              </p:cNvPr>
              <p:cNvSpPr txBox="1"/>
              <p:nvPr/>
            </p:nvSpPr>
            <p:spPr>
              <a:xfrm>
                <a:off x="249978" y="720105"/>
                <a:ext cx="2776025" cy="4901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2400" dirty="0">
                    <a:latin typeface="+mj-ea"/>
                    <a:ea typeface="+mj-ea"/>
                    <a:cs typeface="Arial" panose="020B0604020202020204" pitchFamily="34" charset="0"/>
                  </a:rPr>
                  <a:t>(a)</a:t>
                </a:r>
                <a:r>
                  <a:rPr lang="ja-JP" altLang="en-US" sz="2400">
                    <a:latin typeface="+mj-ea"/>
                    <a:ea typeface="+mj-ea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𝑡𝑖𝑝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𝑛𝑒𝑎𝑟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𝐼𝑐</m:t>
                        </m:r>
                      </m:sub>
                    </m:sSub>
                  </m:oMath>
                </a14:m>
                <a:endParaRPr kumimoji="1" lang="ja-JP" altLang="en-US" sz="2400"/>
              </a:p>
            </p:txBody>
          </p:sp>
        </mc:Choice>
        <mc:Fallback xmlns="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AF31367C-1522-CB9F-4350-17C210C487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978" y="720105"/>
                <a:ext cx="2776025" cy="490199"/>
              </a:xfrm>
              <a:prstGeom prst="rect">
                <a:avLst/>
              </a:prstGeom>
              <a:blipFill>
                <a:blip r:embed="rId11"/>
                <a:stretch>
                  <a:fillRect l="-3182" t="-2500" b="-275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D4C1618C-F84A-194C-4D01-0278F6931F23}"/>
                  </a:ext>
                </a:extLst>
              </p:cNvPr>
              <p:cNvSpPr txBox="1"/>
              <p:nvPr/>
            </p:nvSpPr>
            <p:spPr>
              <a:xfrm>
                <a:off x="3375296" y="720105"/>
                <a:ext cx="2607893" cy="4901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2400" dirty="0">
                    <a:latin typeface="+mj-ea"/>
                    <a:ea typeface="+mj-ea"/>
                  </a:rPr>
                  <a:t>(b)</a:t>
                </a:r>
                <a:r>
                  <a:rPr lang="ja-JP" altLang="en-US" sz="2400">
                    <a:latin typeface="+mj-ea"/>
                    <a:ea typeface="+mj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𝑡𝑖𝑝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𝑓𝑎𝑟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𝐼𝑐</m:t>
                        </m:r>
                      </m:sub>
                    </m:sSub>
                  </m:oMath>
                </a14:m>
                <a:endParaRPr kumimoji="1" lang="ja-JP" altLang="en-US" sz="2400"/>
              </a:p>
            </p:txBody>
          </p:sp>
        </mc:Choice>
        <mc:Fallback xmlns="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D4C1618C-F84A-194C-4D01-0278F6931F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5296" y="720105"/>
                <a:ext cx="2607893" cy="490199"/>
              </a:xfrm>
              <a:prstGeom prst="rect">
                <a:avLst/>
              </a:prstGeom>
              <a:blipFill>
                <a:blip r:embed="rId12"/>
                <a:stretch>
                  <a:fillRect l="-3398" t="-2500" b="-275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4252C3F4-B2DC-7214-206A-F7A2E8002879}"/>
              </a:ext>
            </a:extLst>
          </p:cNvPr>
          <p:cNvSpPr txBox="1"/>
          <p:nvPr/>
        </p:nvSpPr>
        <p:spPr>
          <a:xfrm>
            <a:off x="6417833" y="729941"/>
            <a:ext cx="2863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>
                <a:latin typeface="+mj-ea"/>
                <a:ea typeface="+mj-ea"/>
              </a:rPr>
              <a:t>(</a:t>
            </a:r>
            <a:r>
              <a:rPr lang="en-US" altLang="ja-JP" sz="2400" dirty="0">
                <a:latin typeface="+mj-ea"/>
                <a:ea typeface="+mj-ea"/>
              </a:rPr>
              <a:t>c</a:t>
            </a:r>
            <a:r>
              <a:rPr kumimoji="1" lang="en-US" altLang="ja-JP" sz="2400" dirty="0">
                <a:latin typeface="+mj-ea"/>
                <a:ea typeface="+mj-ea"/>
              </a:rPr>
              <a:t>)</a:t>
            </a:r>
            <a:r>
              <a:rPr lang="en-US" altLang="ja-JP" sz="2400" dirty="0">
                <a:latin typeface="+mj-ea"/>
                <a:ea typeface="+mj-ea"/>
              </a:rPr>
              <a:t> Crack closing</a:t>
            </a:r>
            <a:endParaRPr kumimoji="1" lang="ja-JP" altLang="en-US" sz="2400" dirty="0">
              <a:latin typeface="+mj-ea"/>
              <a:ea typeface="+mj-ea"/>
            </a:endParaRP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2054827D-61F0-1E8A-C951-26FE96395C49}"/>
              </a:ext>
            </a:extLst>
          </p:cNvPr>
          <p:cNvCxnSpPr>
            <a:cxnSpLocks/>
          </p:cNvCxnSpPr>
          <p:nvPr/>
        </p:nvCxnSpPr>
        <p:spPr>
          <a:xfrm>
            <a:off x="371335" y="1171642"/>
            <a:ext cx="247013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C6BC216D-A551-1F4A-766D-6EB98776A9C0}"/>
              </a:ext>
            </a:extLst>
          </p:cNvPr>
          <p:cNvCxnSpPr>
            <a:cxnSpLocks/>
          </p:cNvCxnSpPr>
          <p:nvPr/>
        </p:nvCxnSpPr>
        <p:spPr>
          <a:xfrm>
            <a:off x="3439108" y="1171642"/>
            <a:ext cx="23619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9713FA19-95A2-10EF-87E3-676C4E767845}"/>
              </a:ext>
            </a:extLst>
          </p:cNvPr>
          <p:cNvCxnSpPr>
            <a:cxnSpLocks/>
          </p:cNvCxnSpPr>
          <p:nvPr/>
        </p:nvCxnSpPr>
        <p:spPr>
          <a:xfrm>
            <a:off x="6593697" y="1163582"/>
            <a:ext cx="249450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87195DAA-0E3D-0ECD-71DA-C989BDE6E5F5}"/>
              </a:ext>
            </a:extLst>
          </p:cNvPr>
          <p:cNvGrpSpPr/>
          <p:nvPr/>
        </p:nvGrpSpPr>
        <p:grpSpPr>
          <a:xfrm>
            <a:off x="1117048" y="1302314"/>
            <a:ext cx="1810474" cy="315014"/>
            <a:chOff x="986231" y="5515299"/>
            <a:chExt cx="1810474" cy="315014"/>
          </a:xfrm>
          <a:noFill/>
        </p:grpSpPr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48540B65-9F5E-911C-8B15-61DFB4ED8044}"/>
                </a:ext>
              </a:extLst>
            </p:cNvPr>
            <p:cNvSpPr/>
            <p:nvPr/>
          </p:nvSpPr>
          <p:spPr>
            <a:xfrm>
              <a:off x="1013302" y="5522536"/>
              <a:ext cx="1730453" cy="307777"/>
            </a:xfrm>
            <a:prstGeom prst="rect">
              <a:avLst/>
            </a:prstGeom>
            <a:grp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テキスト ボックス 28">
                  <a:extLst>
                    <a:ext uri="{FF2B5EF4-FFF2-40B4-BE49-F238E27FC236}">
                      <a16:creationId xmlns:a16="http://schemas.microsoft.com/office/drawing/2014/main" id="{B7511576-3735-5D1A-B1EC-7FAEA784F301}"/>
                    </a:ext>
                  </a:extLst>
                </p:cNvPr>
                <p:cNvSpPr txBox="1"/>
                <p:nvPr/>
              </p:nvSpPr>
              <p:spPr>
                <a:xfrm>
                  <a:off x="986231" y="5515299"/>
                  <a:ext cx="1810474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  <m:t>=1.0, </m:t>
                        </m:r>
                        <m:sSub>
                          <m:sSubPr>
                            <m:ctrlPr>
                              <a:rPr kumimoji="1" lang="en-US" altLang="ja-JP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1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kumimoji="1" lang="en-US" altLang="ja-JP" sz="1400" b="0" i="1" smtClean="0">
                                <a:latin typeface="Cambria Math" panose="02040503050406030204" pitchFamily="18" charset="0"/>
                              </a:rPr>
                              <m:t>𝑛𝑒𝑎𝑟</m:t>
                            </m:r>
                          </m:sub>
                        </m:sSub>
                        <m: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  <m:t>=1.0</m:t>
                        </m:r>
                      </m:oMath>
                    </m:oMathPara>
                  </a14:m>
                  <a:endParaRPr kumimoji="1" lang="ja-JP" altLang="en-US" sz="1400"/>
                </a:p>
              </p:txBody>
            </p:sp>
          </mc:Choice>
          <mc:Fallback xmlns="">
            <p:sp>
              <p:nvSpPr>
                <p:cNvPr id="29" name="テキスト ボックス 28">
                  <a:extLst>
                    <a:ext uri="{FF2B5EF4-FFF2-40B4-BE49-F238E27FC236}">
                      <a16:creationId xmlns:a16="http://schemas.microsoft.com/office/drawing/2014/main" id="{B7511576-3735-5D1A-B1EC-7FAEA784F3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6231" y="5515299"/>
                  <a:ext cx="1810474" cy="30777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" name="グループ化 32">
            <a:extLst>
              <a:ext uri="{FF2B5EF4-FFF2-40B4-BE49-F238E27FC236}">
                <a16:creationId xmlns:a16="http://schemas.microsoft.com/office/drawing/2014/main" id="{25ED3414-6121-B049-3898-314266CC72B1}"/>
              </a:ext>
            </a:extLst>
          </p:cNvPr>
          <p:cNvGrpSpPr/>
          <p:nvPr/>
        </p:nvGrpSpPr>
        <p:grpSpPr>
          <a:xfrm>
            <a:off x="4150713" y="1307951"/>
            <a:ext cx="1844582" cy="308577"/>
            <a:chOff x="943656" y="5521736"/>
            <a:chExt cx="1844582" cy="308577"/>
          </a:xfrm>
        </p:grpSpPr>
        <p:sp>
          <p:nvSpPr>
            <p:cNvPr id="34" name="正方形/長方形 33">
              <a:extLst>
                <a:ext uri="{FF2B5EF4-FFF2-40B4-BE49-F238E27FC236}">
                  <a16:creationId xmlns:a16="http://schemas.microsoft.com/office/drawing/2014/main" id="{93E8C929-5A75-AAB2-AB0D-C3B3CEF31231}"/>
                </a:ext>
              </a:extLst>
            </p:cNvPr>
            <p:cNvSpPr/>
            <p:nvPr/>
          </p:nvSpPr>
          <p:spPr>
            <a:xfrm>
              <a:off x="1013302" y="5522536"/>
              <a:ext cx="1730453" cy="3077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テキスト ボックス 34">
                  <a:extLst>
                    <a:ext uri="{FF2B5EF4-FFF2-40B4-BE49-F238E27FC236}">
                      <a16:creationId xmlns:a16="http://schemas.microsoft.com/office/drawing/2014/main" id="{5ADE06D7-C253-EC38-B7D1-6DFAB27CBFD7}"/>
                    </a:ext>
                  </a:extLst>
                </p:cNvPr>
                <p:cNvSpPr txBox="1"/>
                <p:nvPr/>
              </p:nvSpPr>
              <p:spPr>
                <a:xfrm>
                  <a:off x="943656" y="5521736"/>
                  <a:ext cx="184458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  <m:t>=1.0, </m:t>
                        </m:r>
                        <m:sSub>
                          <m:sSubPr>
                            <m:ctrlPr>
                              <a:rPr kumimoji="1" lang="en-US" altLang="ja-JP" sz="14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kumimoji="1" lang="en-US" altLang="ja-JP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𝑛𝑒𝑎𝑟</m:t>
                            </m:r>
                          </m:sub>
                        </m:sSub>
                        <m:r>
                          <a:rPr kumimoji="1" lang="en-US" altLang="ja-JP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=3.0</m:t>
                        </m:r>
                      </m:oMath>
                    </m:oMathPara>
                  </a14:m>
                  <a:endParaRPr kumimoji="1" lang="ja-JP" altLang="en-US" sz="1400"/>
                </a:p>
              </p:txBody>
            </p:sp>
          </mc:Choice>
          <mc:Fallback xmlns="">
            <p:sp>
              <p:nvSpPr>
                <p:cNvPr id="35" name="テキスト ボックス 34">
                  <a:extLst>
                    <a:ext uri="{FF2B5EF4-FFF2-40B4-BE49-F238E27FC236}">
                      <a16:creationId xmlns:a16="http://schemas.microsoft.com/office/drawing/2014/main" id="{5ADE06D7-C253-EC38-B7D1-6DFAB27CBF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3656" y="5521736"/>
                  <a:ext cx="1844582" cy="307777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0FA5381B-9DA8-54F2-D0A8-6517E33FEB02}"/>
              </a:ext>
            </a:extLst>
          </p:cNvPr>
          <p:cNvGrpSpPr/>
          <p:nvPr/>
        </p:nvGrpSpPr>
        <p:grpSpPr>
          <a:xfrm>
            <a:off x="7199383" y="1306297"/>
            <a:ext cx="1863421" cy="308577"/>
            <a:chOff x="943656" y="5521736"/>
            <a:chExt cx="1863421" cy="308577"/>
          </a:xfrm>
        </p:grpSpPr>
        <p:sp>
          <p:nvSpPr>
            <p:cNvPr id="38" name="正方形/長方形 37">
              <a:extLst>
                <a:ext uri="{FF2B5EF4-FFF2-40B4-BE49-F238E27FC236}">
                  <a16:creationId xmlns:a16="http://schemas.microsoft.com/office/drawing/2014/main" id="{5E5A2C2F-0A61-BAB7-0ACE-3BB3E4D984D0}"/>
                </a:ext>
              </a:extLst>
            </p:cNvPr>
            <p:cNvSpPr/>
            <p:nvPr/>
          </p:nvSpPr>
          <p:spPr>
            <a:xfrm>
              <a:off x="1013302" y="5522536"/>
              <a:ext cx="1730453" cy="3077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テキスト ボックス 38">
                  <a:extLst>
                    <a:ext uri="{FF2B5EF4-FFF2-40B4-BE49-F238E27FC236}">
                      <a16:creationId xmlns:a16="http://schemas.microsoft.com/office/drawing/2014/main" id="{A123F4DC-4E1C-F443-64CB-FB096D47879D}"/>
                    </a:ext>
                  </a:extLst>
                </p:cNvPr>
                <p:cNvSpPr txBox="1"/>
                <p:nvPr/>
              </p:nvSpPr>
              <p:spPr>
                <a:xfrm>
                  <a:off x="943656" y="5521736"/>
                  <a:ext cx="186342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1" lang="en-US" altLang="ja-JP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kumimoji="1" lang="en-US" altLang="ja-JP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=3.0, </m:t>
                        </m:r>
                        <m:sSub>
                          <m:sSubPr>
                            <m:ctrlPr>
                              <a:rPr kumimoji="1" lang="en-US" altLang="ja-JP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1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kumimoji="1" lang="en-US" altLang="ja-JP" sz="1400" b="0" i="1" smtClean="0">
                                <a:latin typeface="Cambria Math" panose="02040503050406030204" pitchFamily="18" charset="0"/>
                              </a:rPr>
                              <m:t>𝑛𝑒𝑎𝑟</m:t>
                            </m:r>
                          </m:sub>
                        </m:sSub>
                        <m: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  <m:t>=1.0</m:t>
                        </m:r>
                      </m:oMath>
                    </m:oMathPara>
                  </a14:m>
                  <a:endParaRPr kumimoji="1" lang="ja-JP" altLang="en-US" sz="1400"/>
                </a:p>
              </p:txBody>
            </p:sp>
          </mc:Choice>
          <mc:Fallback xmlns="">
            <p:sp>
              <p:nvSpPr>
                <p:cNvPr id="39" name="テキスト ボックス 38">
                  <a:extLst>
                    <a:ext uri="{FF2B5EF4-FFF2-40B4-BE49-F238E27FC236}">
                      <a16:creationId xmlns:a16="http://schemas.microsoft.com/office/drawing/2014/main" id="{A123F4DC-4E1C-F443-64CB-FB096D4787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3656" y="5521736"/>
                  <a:ext cx="1863421" cy="307777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1" name="2DD" descr="2DD">
            <a:hlinkClick r:id="" action="ppaction://media"/>
            <a:extLst>
              <a:ext uri="{FF2B5EF4-FFF2-40B4-BE49-F238E27FC236}">
                <a16:creationId xmlns:a16="http://schemas.microsoft.com/office/drawing/2014/main" id="{BB7552E1-4FD9-BACB-FCAE-B2180AB3E29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397954" y="4091181"/>
            <a:ext cx="2480072" cy="2480072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2" name="2DD" descr="2DD">
            <a:hlinkClick r:id="" action="ppaction://media"/>
            <a:extLst>
              <a:ext uri="{FF2B5EF4-FFF2-40B4-BE49-F238E27FC236}">
                <a16:creationId xmlns:a16="http://schemas.microsoft.com/office/drawing/2014/main" id="{799DC50D-9C2E-50EE-E01F-C0B6B66CC7CF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7"/>
          <a:stretch>
            <a:fillRect/>
          </a:stretch>
        </p:blipFill>
        <p:spPr>
          <a:xfrm>
            <a:off x="3465727" y="4091181"/>
            <a:ext cx="2480072" cy="2480072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3" name="2DD" descr="2DD">
            <a:hlinkClick r:id="" action="ppaction://media"/>
            <a:extLst>
              <a:ext uri="{FF2B5EF4-FFF2-40B4-BE49-F238E27FC236}">
                <a16:creationId xmlns:a16="http://schemas.microsoft.com/office/drawing/2014/main" id="{F334346F-FA9C-702A-591B-4A515A988C63}"/>
              </a:ext>
            </a:extLst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6466623" y="4091181"/>
            <a:ext cx="2480072" cy="2480072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44222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00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9330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7230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0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video>
              <p:cMediaNode vol="80000">
                <p:cTn id="21" repeatCount="indefinite" fill="remove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video>
              <p:cMediaNode vol="80000">
                <p:cTn id="22" repeatCount="indefinite" fill="remove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video>
              <p:cMediaNode vol="80000">
                <p:cTn id="23" repeatCount="indefinite" fill="remove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7B5688-4922-24BE-F910-4AC6A7F4A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Classification of fracture type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4B94A4B-71C6-06E7-9273-582815BEF9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845407"/>
            <a:ext cx="8955621" cy="3066370"/>
          </a:xfrm>
        </p:spPr>
        <p:txBody>
          <a:bodyPr/>
          <a:lstStyle/>
          <a:p>
            <a:r>
              <a:rPr lang="en-US" altLang="ja-JP" dirty="0"/>
              <a:t>Brittle fracture process</a:t>
            </a:r>
            <a:endParaRPr lang="en-US" altLang="ja-JP" u="sng" dirty="0">
              <a:solidFill>
                <a:srgbClr val="FF0000"/>
              </a:solidFill>
            </a:endParaRPr>
          </a:p>
          <a:p>
            <a:pPr marL="349200" lvl="1" indent="0">
              <a:buNone/>
            </a:pPr>
            <a:endParaRPr lang="en-US" altLang="ja-JP" dirty="0"/>
          </a:p>
          <a:p>
            <a:pPr marL="349200" lvl="1" indent="0">
              <a:buNone/>
            </a:pPr>
            <a:endParaRPr lang="en-US" altLang="ja-JP" dirty="0"/>
          </a:p>
          <a:p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ACF9B15-6F51-AB4C-2F9A-5A651D91F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F6909-ABCB-BB45-AC56-A8377246EBB2}" type="slidenum">
              <a:rPr lang="ja-JP" altLang="en-US" smtClean="0"/>
              <a:pPr/>
              <a:t>9</a:t>
            </a:fld>
            <a:endParaRPr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7F74647-C3C6-FED3-3362-C26D03589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dirty="0"/>
              <a:t>Tokyo University of Science - Computational Materials Science Laboratory -</a:t>
            </a:r>
            <a:endParaRPr lang="ja-JP" altLang="en-US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59B9B6F-C403-6996-65D6-C9A26F8CDA3D}"/>
              </a:ext>
            </a:extLst>
          </p:cNvPr>
          <p:cNvSpPr txBox="1"/>
          <p:nvPr/>
        </p:nvSpPr>
        <p:spPr>
          <a:xfrm>
            <a:off x="8854809" y="679071"/>
            <a:ext cx="466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[1]</a:t>
            </a:r>
            <a:endParaRPr kumimoji="1" lang="ja-JP" altLang="en-US" sz="1200" dirty="0"/>
          </a:p>
        </p:txBody>
      </p:sp>
      <p:sp>
        <p:nvSpPr>
          <p:cNvPr id="52" name="テキスト ボックス 2">
            <a:extLst>
              <a:ext uri="{FF2B5EF4-FFF2-40B4-BE49-F238E27FC236}">
                <a16:creationId xmlns:a16="http://schemas.microsoft.com/office/drawing/2014/main" id="{F21FD574-44A0-B089-A751-0C496571C6EA}"/>
              </a:ext>
            </a:extLst>
          </p:cNvPr>
          <p:cNvSpPr txBox="1"/>
          <p:nvPr/>
        </p:nvSpPr>
        <p:spPr>
          <a:xfrm>
            <a:off x="6215768" y="225435"/>
            <a:ext cx="3026791" cy="400110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none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algn="l"/>
            <a:r>
              <a:rPr lang="en-US" altLang="ja-JP" sz="1000" dirty="0"/>
              <a:t>[1] </a:t>
            </a:r>
            <a:r>
              <a:rPr lang="en-US" altLang="ja-JP" sz="1000" dirty="0" err="1"/>
              <a:t>P.Bowen</a:t>
            </a:r>
            <a:r>
              <a:rPr lang="en-US" altLang="ja-JP" sz="1000" dirty="0"/>
              <a:t>, S.G.D </a:t>
            </a:r>
            <a:r>
              <a:rPr lang="en-US" altLang="ja-JP" sz="1000" dirty="0" err="1"/>
              <a:t>Druce</a:t>
            </a:r>
            <a:r>
              <a:rPr lang="en-US" altLang="ja-JP" sz="1000" dirty="0"/>
              <a:t>, </a:t>
            </a:r>
            <a:r>
              <a:rPr lang="en-US" altLang="ja-JP" sz="1000" dirty="0" err="1"/>
              <a:t>J.F.Knott</a:t>
            </a:r>
            <a:r>
              <a:rPr lang="en-US" altLang="ja-JP" sz="1000" dirty="0"/>
              <a:t> Acta </a:t>
            </a:r>
            <a:r>
              <a:rPr lang="en-US" altLang="ja-JP" sz="1000" dirty="0" err="1"/>
              <a:t>Mattall</a:t>
            </a:r>
            <a:r>
              <a:rPr lang="en-US" altLang="ja-JP" sz="1000" dirty="0"/>
              <a:t>. </a:t>
            </a:r>
          </a:p>
          <a:p>
            <a:pPr algn="l"/>
            <a:r>
              <a:rPr lang="en-US" altLang="ja-JP" sz="1000" dirty="0"/>
              <a:t>      Vol. 34, No.6, pp.1121-1131, (1986) </a:t>
            </a:r>
            <a:endParaRPr kumimoji="1" lang="ja-JP" altLang="en-US" sz="1000" dirty="0"/>
          </a:p>
        </p:txBody>
      </p:sp>
      <p:pic>
        <p:nvPicPr>
          <p:cNvPr id="57" name="図 56" descr="コンピューターの画面&#10;&#10;中程度の精度で自動的に生成された説明">
            <a:extLst>
              <a:ext uri="{FF2B5EF4-FFF2-40B4-BE49-F238E27FC236}">
                <a16:creationId xmlns:a16="http://schemas.microsoft.com/office/drawing/2014/main" id="{127712CC-534F-799C-42B5-694A8CB94B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729" y="888776"/>
            <a:ext cx="3807129" cy="4911667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F3C1A43-ECC7-AFEF-C70E-CCD29339619F}"/>
              </a:ext>
            </a:extLst>
          </p:cNvPr>
          <p:cNvSpPr txBox="1"/>
          <p:nvPr/>
        </p:nvSpPr>
        <p:spPr>
          <a:xfrm>
            <a:off x="457237" y="1356524"/>
            <a:ext cx="453566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2400" dirty="0">
                <a:latin typeface="+mj-ea"/>
                <a:ea typeface="+mj-ea"/>
              </a:rPr>
              <a:t>Microcracks exist in material,</a:t>
            </a:r>
            <a:br>
              <a:rPr lang="en-US" altLang="ja-JP" sz="2400" dirty="0">
                <a:latin typeface="+mj-ea"/>
                <a:ea typeface="+mj-ea"/>
              </a:rPr>
            </a:br>
            <a:r>
              <a:rPr lang="en-US" altLang="ja-JP" sz="2400" dirty="0">
                <a:latin typeface="+mj-ea"/>
                <a:ea typeface="+mj-ea"/>
              </a:rPr>
              <a:t> mainly due to precipitates</a:t>
            </a:r>
          </a:p>
        </p:txBody>
      </p:sp>
      <p:sp>
        <p:nvSpPr>
          <p:cNvPr id="12" name="矢印: ストライプ 11">
            <a:extLst>
              <a:ext uri="{FF2B5EF4-FFF2-40B4-BE49-F238E27FC236}">
                <a16:creationId xmlns:a16="http://schemas.microsoft.com/office/drawing/2014/main" id="{281F8C85-B703-2259-E783-889388A9A03C}"/>
              </a:ext>
            </a:extLst>
          </p:cNvPr>
          <p:cNvSpPr/>
          <p:nvPr/>
        </p:nvSpPr>
        <p:spPr>
          <a:xfrm rot="5400000">
            <a:off x="2381952" y="2145330"/>
            <a:ext cx="513805" cy="844729"/>
          </a:xfrm>
          <a:prstGeom prst="striped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9692B4E1-7037-4C34-4E7B-3F3562A1DBD8}"/>
              </a:ext>
            </a:extLst>
          </p:cNvPr>
          <p:cNvSpPr txBox="1"/>
          <p:nvPr/>
        </p:nvSpPr>
        <p:spPr>
          <a:xfrm>
            <a:off x="3197634" y="2355152"/>
            <a:ext cx="13612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2400" u="sng" dirty="0">
                <a:latin typeface="+mj-ea"/>
                <a:ea typeface="+mj-ea"/>
              </a:rPr>
              <a:t>Loading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EE5C2B0E-6253-9E28-784C-039184F490C4}"/>
              </a:ext>
            </a:extLst>
          </p:cNvPr>
          <p:cNvSpPr txBox="1"/>
          <p:nvPr/>
        </p:nvSpPr>
        <p:spPr>
          <a:xfrm>
            <a:off x="560882" y="2964134"/>
            <a:ext cx="435131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ja-JP" altLang="en-US" sz="2400" dirty="0">
                <a:latin typeface="+mj-ea"/>
                <a:ea typeface="+mj-ea"/>
              </a:rPr>
              <a:t>① </a:t>
            </a:r>
            <a:r>
              <a:rPr lang="en-US" altLang="ja-JP" sz="2400" dirty="0">
                <a:latin typeface="+mj-ea"/>
                <a:ea typeface="+mj-ea"/>
              </a:rPr>
              <a:t>Blunting of macrocracks</a:t>
            </a:r>
          </a:p>
          <a:p>
            <a:pPr algn="just"/>
            <a:r>
              <a:rPr lang="ja-JP" altLang="en-US" sz="2400" dirty="0">
                <a:latin typeface="+mj-ea"/>
                <a:ea typeface="+mj-ea"/>
              </a:rPr>
              <a:t>② </a:t>
            </a:r>
            <a:r>
              <a:rPr lang="en-US" altLang="ja-JP" sz="2400" u="sng" dirty="0">
                <a:latin typeface="+mj-ea"/>
                <a:ea typeface="+mj-ea"/>
              </a:rPr>
              <a:t>Microcracks cleave and</a:t>
            </a:r>
          </a:p>
          <a:p>
            <a:pPr algn="just"/>
            <a:r>
              <a:rPr lang="en-US" altLang="ja-JP" sz="2400" dirty="0">
                <a:latin typeface="+mj-ea"/>
                <a:ea typeface="+mj-ea"/>
              </a:rPr>
              <a:t>    </a:t>
            </a:r>
            <a:r>
              <a:rPr lang="en-US" altLang="ja-JP" sz="2400" u="sng" dirty="0">
                <a:latin typeface="+mj-ea"/>
                <a:ea typeface="+mj-ea"/>
              </a:rPr>
              <a:t>propagate to macrocrack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4F02E207-5333-6C56-8FC3-1A62CBB3F6E1}"/>
              </a:ext>
            </a:extLst>
          </p:cNvPr>
          <p:cNvSpPr/>
          <p:nvPr/>
        </p:nvSpPr>
        <p:spPr>
          <a:xfrm>
            <a:off x="79467" y="4365194"/>
            <a:ext cx="5417536" cy="16473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200" dirty="0">
                <a:solidFill>
                  <a:schemeClr val="tx1"/>
                </a:solidFill>
                <a:latin typeface="+mn-ea"/>
              </a:rPr>
              <a:t>Brittle fracture requires </a:t>
            </a:r>
            <a:r>
              <a:rPr kumimoji="1" lang="en-US" altLang="ja-JP" sz="2200" u="sng" dirty="0">
                <a:solidFill>
                  <a:schemeClr val="tx1"/>
                </a:solidFill>
                <a:latin typeface="+mn-ea"/>
              </a:rPr>
              <a:t>microcracks propagate to macrocrack</a:t>
            </a:r>
          </a:p>
        </p:txBody>
      </p:sp>
      <p:sp>
        <p:nvSpPr>
          <p:cNvPr id="21" name="矢印: 下 20">
            <a:extLst>
              <a:ext uri="{FF2B5EF4-FFF2-40B4-BE49-F238E27FC236}">
                <a16:creationId xmlns:a16="http://schemas.microsoft.com/office/drawing/2014/main" id="{9D5FA9DE-57C4-E6A2-9ED9-B39F0D3AB000}"/>
              </a:ext>
            </a:extLst>
          </p:cNvPr>
          <p:cNvSpPr/>
          <p:nvPr/>
        </p:nvSpPr>
        <p:spPr>
          <a:xfrm>
            <a:off x="161461" y="1382751"/>
            <a:ext cx="318722" cy="2982444"/>
          </a:xfrm>
          <a:prstGeom prst="downArrow">
            <a:avLst>
              <a:gd name="adj1" fmla="val 17655"/>
              <a:gd name="adj2" fmla="val 118284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C941D083-2FF4-DB04-0557-23C7E698AEFD}"/>
              </a:ext>
            </a:extLst>
          </p:cNvPr>
          <p:cNvCxnSpPr>
            <a:cxnSpLocks/>
          </p:cNvCxnSpPr>
          <p:nvPr/>
        </p:nvCxnSpPr>
        <p:spPr>
          <a:xfrm flipH="1">
            <a:off x="6440556" y="1783383"/>
            <a:ext cx="445273" cy="0"/>
          </a:xfrm>
          <a:prstGeom prst="straightConnector1">
            <a:avLst/>
          </a:prstGeom>
          <a:ln w="19050">
            <a:solidFill>
              <a:srgbClr val="1F4B7E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846B0CA1-3D6D-5532-1E83-FF24A552DB31}"/>
              </a:ext>
            </a:extLst>
          </p:cNvPr>
          <p:cNvCxnSpPr>
            <a:cxnSpLocks/>
          </p:cNvCxnSpPr>
          <p:nvPr/>
        </p:nvCxnSpPr>
        <p:spPr>
          <a:xfrm flipH="1">
            <a:off x="8332579" y="4391411"/>
            <a:ext cx="270344" cy="0"/>
          </a:xfrm>
          <a:prstGeom prst="straightConnector1">
            <a:avLst/>
          </a:prstGeom>
          <a:ln w="19050">
            <a:solidFill>
              <a:srgbClr val="1F4B7E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4197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7860D8-72F3-6FCC-B064-2D4A92803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Three fracture types of microcrack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58031F3-907E-94AB-318D-CB1550C86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F6909-ABCB-BB45-AC56-A8377246EBB2}" type="slidenum">
              <a:rPr lang="ja-JP" altLang="en-US" smtClean="0"/>
              <a:pPr/>
              <a:t>10</a:t>
            </a:fld>
            <a:endParaRPr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2C0F2E1-B0E7-4B02-5096-116314986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Tokyo University of Science - Computational Materials Science Laboratory -</a:t>
            </a:r>
            <a:endParaRPr lang="ja-JP" altLang="en-US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BD7076A5-9F92-06D1-1DE9-EBF371BB902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77090" y="570289"/>
            <a:ext cx="2893598" cy="4133711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7F487082-92BF-41AF-3F02-DA48260DBA8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3144864" y="570288"/>
            <a:ext cx="2893599" cy="4133714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25FAF08B-6FE4-C8E3-586F-7FBAC7BFB33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6202807" y="570289"/>
            <a:ext cx="2893598" cy="41337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AF31367C-1522-CB9F-4350-17C210C487D3}"/>
                  </a:ext>
                </a:extLst>
              </p:cNvPr>
              <p:cNvSpPr txBox="1"/>
              <p:nvPr/>
            </p:nvSpPr>
            <p:spPr>
              <a:xfrm>
                <a:off x="249978" y="720105"/>
                <a:ext cx="2776025" cy="4901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2400" dirty="0">
                    <a:latin typeface="+mj-ea"/>
                    <a:ea typeface="+mj-ea"/>
                    <a:cs typeface="Arial" panose="020B0604020202020204" pitchFamily="34" charset="0"/>
                  </a:rPr>
                  <a:t>(a)</a:t>
                </a:r>
                <a:r>
                  <a:rPr lang="ja-JP" altLang="en-US" sz="2400">
                    <a:latin typeface="+mj-ea"/>
                    <a:ea typeface="+mj-ea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𝑡𝑖𝑝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𝑛𝑒𝑎𝑟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𝐼𝑐</m:t>
                        </m:r>
                      </m:sub>
                    </m:sSub>
                  </m:oMath>
                </a14:m>
                <a:endParaRPr kumimoji="1" lang="ja-JP" altLang="en-US" sz="2400"/>
              </a:p>
            </p:txBody>
          </p:sp>
        </mc:Choice>
        <mc:Fallback xmlns="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AF31367C-1522-CB9F-4350-17C210C487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978" y="720105"/>
                <a:ext cx="2776025" cy="490199"/>
              </a:xfrm>
              <a:prstGeom prst="rect">
                <a:avLst/>
              </a:prstGeom>
              <a:blipFill>
                <a:blip r:embed="rId11"/>
                <a:stretch>
                  <a:fillRect l="-3182" t="-2500" b="-275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D4C1618C-F84A-194C-4D01-0278F6931F23}"/>
                  </a:ext>
                </a:extLst>
              </p:cNvPr>
              <p:cNvSpPr txBox="1"/>
              <p:nvPr/>
            </p:nvSpPr>
            <p:spPr>
              <a:xfrm>
                <a:off x="3375296" y="720105"/>
                <a:ext cx="2607893" cy="4901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2400" dirty="0">
                    <a:latin typeface="+mj-ea"/>
                    <a:ea typeface="+mj-ea"/>
                  </a:rPr>
                  <a:t>(b)</a:t>
                </a:r>
                <a:r>
                  <a:rPr lang="ja-JP" altLang="en-US" sz="2400">
                    <a:latin typeface="+mj-ea"/>
                    <a:ea typeface="+mj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𝑡𝑖𝑝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𝑓𝑎𝑟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𝐼𝑐</m:t>
                        </m:r>
                      </m:sub>
                    </m:sSub>
                  </m:oMath>
                </a14:m>
                <a:endParaRPr kumimoji="1" lang="ja-JP" altLang="en-US" sz="2400"/>
              </a:p>
            </p:txBody>
          </p:sp>
        </mc:Choice>
        <mc:Fallback xmlns="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D4C1618C-F84A-194C-4D01-0278F6931F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5296" y="720105"/>
                <a:ext cx="2607893" cy="490199"/>
              </a:xfrm>
              <a:prstGeom prst="rect">
                <a:avLst/>
              </a:prstGeom>
              <a:blipFill>
                <a:blip r:embed="rId12"/>
                <a:stretch>
                  <a:fillRect l="-3398" t="-2500" b="-275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4252C3F4-B2DC-7214-206A-F7A2E8002879}"/>
              </a:ext>
            </a:extLst>
          </p:cNvPr>
          <p:cNvSpPr txBox="1"/>
          <p:nvPr/>
        </p:nvSpPr>
        <p:spPr>
          <a:xfrm>
            <a:off x="6417833" y="729941"/>
            <a:ext cx="2863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>
                <a:latin typeface="+mj-ea"/>
                <a:ea typeface="+mj-ea"/>
              </a:rPr>
              <a:t>(</a:t>
            </a:r>
            <a:r>
              <a:rPr lang="en-US" altLang="ja-JP" sz="2400" dirty="0">
                <a:latin typeface="+mj-ea"/>
                <a:ea typeface="+mj-ea"/>
              </a:rPr>
              <a:t>c</a:t>
            </a:r>
            <a:r>
              <a:rPr kumimoji="1" lang="en-US" altLang="ja-JP" sz="2400" dirty="0">
                <a:latin typeface="+mj-ea"/>
                <a:ea typeface="+mj-ea"/>
              </a:rPr>
              <a:t>)</a:t>
            </a:r>
            <a:r>
              <a:rPr lang="en-US" altLang="ja-JP" sz="2400" dirty="0">
                <a:latin typeface="+mj-ea"/>
                <a:ea typeface="+mj-ea"/>
              </a:rPr>
              <a:t> Crack closing</a:t>
            </a:r>
            <a:endParaRPr kumimoji="1" lang="ja-JP" altLang="en-US" sz="2400" dirty="0">
              <a:latin typeface="+mj-ea"/>
              <a:ea typeface="+mj-ea"/>
            </a:endParaRP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2054827D-61F0-1E8A-C951-26FE96395C49}"/>
              </a:ext>
            </a:extLst>
          </p:cNvPr>
          <p:cNvCxnSpPr>
            <a:cxnSpLocks/>
          </p:cNvCxnSpPr>
          <p:nvPr/>
        </p:nvCxnSpPr>
        <p:spPr>
          <a:xfrm>
            <a:off x="371335" y="1171642"/>
            <a:ext cx="247013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C6BC216D-A551-1F4A-766D-6EB98776A9C0}"/>
              </a:ext>
            </a:extLst>
          </p:cNvPr>
          <p:cNvCxnSpPr>
            <a:cxnSpLocks/>
          </p:cNvCxnSpPr>
          <p:nvPr/>
        </p:nvCxnSpPr>
        <p:spPr>
          <a:xfrm>
            <a:off x="3439108" y="1171642"/>
            <a:ext cx="23619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9713FA19-95A2-10EF-87E3-676C4E767845}"/>
              </a:ext>
            </a:extLst>
          </p:cNvPr>
          <p:cNvCxnSpPr>
            <a:cxnSpLocks/>
          </p:cNvCxnSpPr>
          <p:nvPr/>
        </p:nvCxnSpPr>
        <p:spPr>
          <a:xfrm>
            <a:off x="6593697" y="1163582"/>
            <a:ext cx="249450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87195DAA-0E3D-0ECD-71DA-C989BDE6E5F5}"/>
              </a:ext>
            </a:extLst>
          </p:cNvPr>
          <p:cNvGrpSpPr/>
          <p:nvPr/>
        </p:nvGrpSpPr>
        <p:grpSpPr>
          <a:xfrm>
            <a:off x="1117048" y="1302314"/>
            <a:ext cx="1810474" cy="315014"/>
            <a:chOff x="986231" y="5515299"/>
            <a:chExt cx="1810474" cy="315014"/>
          </a:xfrm>
          <a:noFill/>
        </p:grpSpPr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48540B65-9F5E-911C-8B15-61DFB4ED8044}"/>
                </a:ext>
              </a:extLst>
            </p:cNvPr>
            <p:cNvSpPr/>
            <p:nvPr/>
          </p:nvSpPr>
          <p:spPr>
            <a:xfrm>
              <a:off x="1013302" y="5522536"/>
              <a:ext cx="1730453" cy="307777"/>
            </a:xfrm>
            <a:prstGeom prst="rect">
              <a:avLst/>
            </a:prstGeom>
            <a:grp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テキスト ボックス 28">
                  <a:extLst>
                    <a:ext uri="{FF2B5EF4-FFF2-40B4-BE49-F238E27FC236}">
                      <a16:creationId xmlns:a16="http://schemas.microsoft.com/office/drawing/2014/main" id="{B7511576-3735-5D1A-B1EC-7FAEA784F301}"/>
                    </a:ext>
                  </a:extLst>
                </p:cNvPr>
                <p:cNvSpPr txBox="1"/>
                <p:nvPr/>
              </p:nvSpPr>
              <p:spPr>
                <a:xfrm>
                  <a:off x="986231" y="5515299"/>
                  <a:ext cx="1810474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  <m:t>=1.0, </m:t>
                        </m:r>
                        <m:sSub>
                          <m:sSubPr>
                            <m:ctrlPr>
                              <a:rPr kumimoji="1" lang="en-US" altLang="ja-JP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1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kumimoji="1" lang="en-US" altLang="ja-JP" sz="1400" b="0" i="1" smtClean="0">
                                <a:latin typeface="Cambria Math" panose="02040503050406030204" pitchFamily="18" charset="0"/>
                              </a:rPr>
                              <m:t>𝑛𝑒𝑎𝑟</m:t>
                            </m:r>
                          </m:sub>
                        </m:sSub>
                        <m: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  <m:t>=1.0</m:t>
                        </m:r>
                      </m:oMath>
                    </m:oMathPara>
                  </a14:m>
                  <a:endParaRPr kumimoji="1" lang="ja-JP" altLang="en-US" sz="1400"/>
                </a:p>
              </p:txBody>
            </p:sp>
          </mc:Choice>
          <mc:Fallback xmlns="">
            <p:sp>
              <p:nvSpPr>
                <p:cNvPr id="29" name="テキスト ボックス 28">
                  <a:extLst>
                    <a:ext uri="{FF2B5EF4-FFF2-40B4-BE49-F238E27FC236}">
                      <a16:creationId xmlns:a16="http://schemas.microsoft.com/office/drawing/2014/main" id="{B7511576-3735-5D1A-B1EC-7FAEA784F3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6231" y="5515299"/>
                  <a:ext cx="1810474" cy="30777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" name="グループ化 32">
            <a:extLst>
              <a:ext uri="{FF2B5EF4-FFF2-40B4-BE49-F238E27FC236}">
                <a16:creationId xmlns:a16="http://schemas.microsoft.com/office/drawing/2014/main" id="{25ED3414-6121-B049-3898-314266CC72B1}"/>
              </a:ext>
            </a:extLst>
          </p:cNvPr>
          <p:cNvGrpSpPr/>
          <p:nvPr/>
        </p:nvGrpSpPr>
        <p:grpSpPr>
          <a:xfrm>
            <a:off x="4150713" y="1307951"/>
            <a:ext cx="1844582" cy="308577"/>
            <a:chOff x="943656" y="5521736"/>
            <a:chExt cx="1844582" cy="308577"/>
          </a:xfrm>
        </p:grpSpPr>
        <p:sp>
          <p:nvSpPr>
            <p:cNvPr id="34" name="正方形/長方形 33">
              <a:extLst>
                <a:ext uri="{FF2B5EF4-FFF2-40B4-BE49-F238E27FC236}">
                  <a16:creationId xmlns:a16="http://schemas.microsoft.com/office/drawing/2014/main" id="{93E8C929-5A75-AAB2-AB0D-C3B3CEF31231}"/>
                </a:ext>
              </a:extLst>
            </p:cNvPr>
            <p:cNvSpPr/>
            <p:nvPr/>
          </p:nvSpPr>
          <p:spPr>
            <a:xfrm>
              <a:off x="1013302" y="5522536"/>
              <a:ext cx="1730453" cy="3077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テキスト ボックス 34">
                  <a:extLst>
                    <a:ext uri="{FF2B5EF4-FFF2-40B4-BE49-F238E27FC236}">
                      <a16:creationId xmlns:a16="http://schemas.microsoft.com/office/drawing/2014/main" id="{5ADE06D7-C253-EC38-B7D1-6DFAB27CBFD7}"/>
                    </a:ext>
                  </a:extLst>
                </p:cNvPr>
                <p:cNvSpPr txBox="1"/>
                <p:nvPr/>
              </p:nvSpPr>
              <p:spPr>
                <a:xfrm>
                  <a:off x="943656" y="5521736"/>
                  <a:ext cx="184458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  <m:t>=1.0, </m:t>
                        </m:r>
                        <m:sSub>
                          <m:sSubPr>
                            <m:ctrlPr>
                              <a:rPr kumimoji="1" lang="en-US" altLang="ja-JP" sz="14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kumimoji="1" lang="en-US" altLang="ja-JP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𝑛𝑒𝑎𝑟</m:t>
                            </m:r>
                          </m:sub>
                        </m:sSub>
                        <m:r>
                          <a:rPr kumimoji="1" lang="en-US" altLang="ja-JP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=3.0</m:t>
                        </m:r>
                      </m:oMath>
                    </m:oMathPara>
                  </a14:m>
                  <a:endParaRPr kumimoji="1" lang="ja-JP" altLang="en-US" sz="1400"/>
                </a:p>
              </p:txBody>
            </p:sp>
          </mc:Choice>
          <mc:Fallback xmlns="">
            <p:sp>
              <p:nvSpPr>
                <p:cNvPr id="35" name="テキスト ボックス 34">
                  <a:extLst>
                    <a:ext uri="{FF2B5EF4-FFF2-40B4-BE49-F238E27FC236}">
                      <a16:creationId xmlns:a16="http://schemas.microsoft.com/office/drawing/2014/main" id="{5ADE06D7-C253-EC38-B7D1-6DFAB27CBF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3656" y="5521736"/>
                  <a:ext cx="1844582" cy="307777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0FA5381B-9DA8-54F2-D0A8-6517E33FEB02}"/>
              </a:ext>
            </a:extLst>
          </p:cNvPr>
          <p:cNvGrpSpPr/>
          <p:nvPr/>
        </p:nvGrpSpPr>
        <p:grpSpPr>
          <a:xfrm>
            <a:off x="7199383" y="1306297"/>
            <a:ext cx="1863421" cy="308577"/>
            <a:chOff x="943656" y="5521736"/>
            <a:chExt cx="1863421" cy="308577"/>
          </a:xfrm>
        </p:grpSpPr>
        <p:sp>
          <p:nvSpPr>
            <p:cNvPr id="38" name="正方形/長方形 37">
              <a:extLst>
                <a:ext uri="{FF2B5EF4-FFF2-40B4-BE49-F238E27FC236}">
                  <a16:creationId xmlns:a16="http://schemas.microsoft.com/office/drawing/2014/main" id="{5E5A2C2F-0A61-BAB7-0ACE-3BB3E4D984D0}"/>
                </a:ext>
              </a:extLst>
            </p:cNvPr>
            <p:cNvSpPr/>
            <p:nvPr/>
          </p:nvSpPr>
          <p:spPr>
            <a:xfrm>
              <a:off x="1013302" y="5522536"/>
              <a:ext cx="1730453" cy="3077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テキスト ボックス 38">
                  <a:extLst>
                    <a:ext uri="{FF2B5EF4-FFF2-40B4-BE49-F238E27FC236}">
                      <a16:creationId xmlns:a16="http://schemas.microsoft.com/office/drawing/2014/main" id="{A123F4DC-4E1C-F443-64CB-FB096D47879D}"/>
                    </a:ext>
                  </a:extLst>
                </p:cNvPr>
                <p:cNvSpPr txBox="1"/>
                <p:nvPr/>
              </p:nvSpPr>
              <p:spPr>
                <a:xfrm>
                  <a:off x="943656" y="5521736"/>
                  <a:ext cx="186342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1" lang="en-US" altLang="ja-JP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kumimoji="1" lang="en-US" altLang="ja-JP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=3.0, </m:t>
                        </m:r>
                        <m:sSub>
                          <m:sSubPr>
                            <m:ctrlPr>
                              <a:rPr kumimoji="1" lang="en-US" altLang="ja-JP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1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kumimoji="1" lang="en-US" altLang="ja-JP" sz="1400" b="0" i="1" smtClean="0">
                                <a:latin typeface="Cambria Math" panose="02040503050406030204" pitchFamily="18" charset="0"/>
                              </a:rPr>
                              <m:t>𝑛𝑒𝑎𝑟</m:t>
                            </m:r>
                          </m:sub>
                        </m:sSub>
                        <m: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  <m:t>=1.0</m:t>
                        </m:r>
                      </m:oMath>
                    </m:oMathPara>
                  </a14:m>
                  <a:endParaRPr kumimoji="1" lang="ja-JP" altLang="en-US" sz="1400"/>
                </a:p>
              </p:txBody>
            </p:sp>
          </mc:Choice>
          <mc:Fallback xmlns="">
            <p:sp>
              <p:nvSpPr>
                <p:cNvPr id="39" name="テキスト ボックス 38">
                  <a:extLst>
                    <a:ext uri="{FF2B5EF4-FFF2-40B4-BE49-F238E27FC236}">
                      <a16:creationId xmlns:a16="http://schemas.microsoft.com/office/drawing/2014/main" id="{A123F4DC-4E1C-F443-64CB-FB096D4787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3656" y="5521736"/>
                  <a:ext cx="1863421" cy="307777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1" name="2DD" descr="2DD">
            <a:hlinkClick r:id="" action="ppaction://media"/>
            <a:extLst>
              <a:ext uri="{FF2B5EF4-FFF2-40B4-BE49-F238E27FC236}">
                <a16:creationId xmlns:a16="http://schemas.microsoft.com/office/drawing/2014/main" id="{BB7552E1-4FD9-BACB-FCAE-B2180AB3E29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397954" y="4091181"/>
            <a:ext cx="2480072" cy="2480072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2" name="2DD" descr="2DD">
            <a:hlinkClick r:id="" action="ppaction://media"/>
            <a:extLst>
              <a:ext uri="{FF2B5EF4-FFF2-40B4-BE49-F238E27FC236}">
                <a16:creationId xmlns:a16="http://schemas.microsoft.com/office/drawing/2014/main" id="{799DC50D-9C2E-50EE-E01F-C0B6B66CC7CF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7"/>
          <a:stretch>
            <a:fillRect/>
          </a:stretch>
        </p:blipFill>
        <p:spPr>
          <a:xfrm>
            <a:off x="3465727" y="4091181"/>
            <a:ext cx="2480072" cy="2480072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3" name="2DD" descr="2DD">
            <a:hlinkClick r:id="" action="ppaction://media"/>
            <a:extLst>
              <a:ext uri="{FF2B5EF4-FFF2-40B4-BE49-F238E27FC236}">
                <a16:creationId xmlns:a16="http://schemas.microsoft.com/office/drawing/2014/main" id="{F334346F-FA9C-702A-591B-4A515A988C63}"/>
              </a:ext>
            </a:extLst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6466623" y="4091181"/>
            <a:ext cx="2480072" cy="2480072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正方形/長方形 2">
                <a:extLst>
                  <a:ext uri="{FF2B5EF4-FFF2-40B4-BE49-F238E27FC236}">
                    <a16:creationId xmlns:a16="http://schemas.microsoft.com/office/drawing/2014/main" id="{6E677AB1-DD21-CA76-4C76-7A1CC89F9F03}"/>
                  </a:ext>
                </a:extLst>
              </p:cNvPr>
              <p:cNvSpPr/>
              <p:nvPr/>
            </p:nvSpPr>
            <p:spPr>
              <a:xfrm>
                <a:off x="2063023" y="2951177"/>
                <a:ext cx="5417536" cy="209599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2200" dirty="0">
                    <a:solidFill>
                      <a:schemeClr val="tx1"/>
                    </a:solidFill>
                    <a:latin typeface="+mn-ea"/>
                  </a:rPr>
                  <a:t>Brittle fracture requires </a:t>
                </a:r>
                <a:r>
                  <a:rPr kumimoji="1" lang="en-US" altLang="ja-JP" sz="2200" u="sng" dirty="0">
                    <a:solidFill>
                      <a:schemeClr val="tx1"/>
                    </a:solidFill>
                    <a:latin typeface="+mn-ea"/>
                  </a:rPr>
                  <a:t>microcracks propagate to macrocrack</a:t>
                </a:r>
              </a:p>
              <a:p>
                <a:pPr algn="ctr"/>
                <a:endParaRPr lang="en-US" altLang="ja-JP" sz="2000" dirty="0">
                  <a:solidFill>
                    <a:schemeClr val="tx1"/>
                  </a:solidFill>
                  <a:latin typeface="+mn-ea"/>
                </a:endParaRPr>
              </a:p>
              <a:p>
                <a:pPr algn="ctr"/>
                <a:r>
                  <a:rPr kumimoji="1" lang="en-US" altLang="ja-JP" sz="2000" dirty="0">
                    <a:solidFill>
                      <a:schemeClr val="tx1"/>
                    </a:solidFill>
                    <a:latin typeface="+mn-ea"/>
                  </a:rPr>
                  <a:t> </a:t>
                </a:r>
                <a:r>
                  <a:rPr kumimoji="1" lang="en-US" altLang="ja-JP" sz="2200" u="sng" dirty="0">
                    <a:solidFill>
                      <a:srgbClr val="FF0000"/>
                    </a:solidFill>
                    <a:latin typeface="+mn-ea"/>
                  </a:rPr>
                  <a:t>(a)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200" i="1" u="sng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200" b="0" i="1" u="sng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kumimoji="1" lang="en-US" altLang="ja-JP" sz="2200" b="0" i="1" u="sng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𝑡𝑖𝑝</m:t>
                        </m:r>
                        <m:r>
                          <a:rPr kumimoji="1" lang="en-US" altLang="ja-JP" sz="2200" b="0" i="1" u="sng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ja-JP" sz="2200" b="0" i="1" u="sng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𝑛𝑒𝑎𝑟</m:t>
                        </m:r>
                      </m:sub>
                    </m:sSub>
                    <m:r>
                      <a:rPr kumimoji="1" lang="en-US" altLang="ja-JP" sz="2200" b="0" i="1" u="sng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ja-JP" sz="2200" b="0" i="1" u="sng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200" b="0" i="1" u="sng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kumimoji="1" lang="en-US" altLang="ja-JP" sz="2200" b="0" i="1" u="sng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𝐼𝑐</m:t>
                        </m:r>
                      </m:sub>
                    </m:sSub>
                  </m:oMath>
                </a14:m>
                <a:r>
                  <a:rPr lang="en-US" altLang="ja-JP" sz="2200" u="sng" dirty="0">
                    <a:solidFill>
                      <a:srgbClr val="FF0000"/>
                    </a:solidFill>
                    <a:latin typeface="+mn-ea"/>
                  </a:rPr>
                  <a:t> has </a:t>
                </a:r>
                <a:r>
                  <a:rPr lang="en-US" altLang="ja-JP" sz="2200" b="1" u="sng" dirty="0">
                    <a:solidFill>
                      <a:srgbClr val="FF0000"/>
                    </a:solidFill>
                    <a:latin typeface="+mn-ea"/>
                  </a:rPr>
                  <a:t>brittle</a:t>
                </a:r>
                <a:r>
                  <a:rPr lang="en-US" altLang="ja-JP" sz="2200" u="sng" dirty="0">
                    <a:solidFill>
                      <a:srgbClr val="FF0000"/>
                    </a:solidFill>
                    <a:latin typeface="+mn-ea"/>
                  </a:rPr>
                  <a:t> feature</a:t>
                </a:r>
              </a:p>
              <a:p>
                <a:pPr algn="ctr"/>
                <a:r>
                  <a:rPr kumimoji="1" lang="en-US" altLang="ja-JP" sz="2200" dirty="0">
                    <a:solidFill>
                      <a:srgbClr val="FF0000"/>
                    </a:solidFill>
                    <a:latin typeface="+mn-ea"/>
                  </a:rPr>
                  <a:t>(b),(c) </a:t>
                </a:r>
                <a:r>
                  <a:rPr lang="en-US" altLang="ja-JP" sz="2200" dirty="0">
                    <a:solidFill>
                      <a:srgbClr val="FF0000"/>
                    </a:solidFill>
                    <a:latin typeface="+mn-ea"/>
                  </a:rPr>
                  <a:t>no propagation to macrocrack</a:t>
                </a:r>
                <a:r>
                  <a:rPr kumimoji="1" lang="en-US" altLang="ja-JP" sz="2200" dirty="0">
                    <a:solidFill>
                      <a:srgbClr val="FF0000"/>
                    </a:solidFill>
                    <a:latin typeface="+mn-ea"/>
                  </a:rPr>
                  <a:t> </a:t>
                </a:r>
                <a:endParaRPr kumimoji="1" lang="ja-JP" altLang="en-US" sz="2200" dirty="0">
                  <a:solidFill>
                    <a:schemeClr val="tx1"/>
                  </a:solidFill>
                  <a:latin typeface="+mn-ea"/>
                </a:endParaRPr>
              </a:p>
            </p:txBody>
          </p:sp>
        </mc:Choice>
        <mc:Fallback>
          <p:sp>
            <p:nvSpPr>
              <p:cNvPr id="3" name="正方形/長方形 2">
                <a:extLst>
                  <a:ext uri="{FF2B5EF4-FFF2-40B4-BE49-F238E27FC236}">
                    <a16:creationId xmlns:a16="http://schemas.microsoft.com/office/drawing/2014/main" id="{6E677AB1-DD21-CA76-4C76-7A1CC89F9F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3023" y="2951177"/>
                <a:ext cx="5417536" cy="2095990"/>
              </a:xfrm>
              <a:prstGeom prst="rect">
                <a:avLst/>
              </a:prstGeom>
              <a:blipFill>
                <a:blip r:embed="rId19"/>
                <a:stretch>
                  <a:fillRect r="-18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矢印: 右 24">
            <a:extLst>
              <a:ext uri="{FF2B5EF4-FFF2-40B4-BE49-F238E27FC236}">
                <a16:creationId xmlns:a16="http://schemas.microsoft.com/office/drawing/2014/main" id="{5E976B37-3BDD-78C5-5D78-C5A1A44AE4F8}"/>
              </a:ext>
            </a:extLst>
          </p:cNvPr>
          <p:cNvSpPr/>
          <p:nvPr/>
        </p:nvSpPr>
        <p:spPr>
          <a:xfrm rot="5400000">
            <a:off x="4492788" y="3609251"/>
            <a:ext cx="259244" cy="697172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8363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00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9330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7230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0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video>
              <p:cMediaNode vol="80000">
                <p:cTn id="21" repeatCount="indefinite" fill="remove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video>
              <p:cMediaNode vol="80000">
                <p:cTn id="22" repeatCount="indefinite" fill="remove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video>
              <p:cMediaNode vol="80000">
                <p:cTn id="23" repeatCount="indefinite" fill="remove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CE37B1D-0D25-9D0C-E4BC-BFDA49BEE24C}"/>
              </a:ext>
            </a:extLst>
          </p:cNvPr>
          <p:cNvSpPr/>
          <p:nvPr/>
        </p:nvSpPr>
        <p:spPr>
          <a:xfrm>
            <a:off x="299106" y="5148768"/>
            <a:ext cx="8579656" cy="129276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sz="2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5A82143E-E13C-EAA3-7105-D93420193E00}"/>
              </a:ext>
            </a:extLst>
          </p:cNvPr>
          <p:cNvSpPr txBox="1"/>
          <p:nvPr/>
        </p:nvSpPr>
        <p:spPr>
          <a:xfrm>
            <a:off x="836694" y="5639262"/>
            <a:ext cx="75044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200" dirty="0">
                <a:latin typeface="+mj-ea"/>
                <a:ea typeface="+mj-ea"/>
              </a:rPr>
              <a:t>Microcracks, which are the starting point </a:t>
            </a:r>
            <a:br>
              <a:rPr kumimoji="1" lang="en-US" altLang="ja-JP" sz="2200" dirty="0">
                <a:latin typeface="+mj-ea"/>
                <a:ea typeface="+mj-ea"/>
              </a:rPr>
            </a:br>
            <a:r>
              <a:rPr kumimoji="1" lang="en-US" altLang="ja-JP" sz="2200" dirty="0">
                <a:latin typeface="+mj-ea"/>
                <a:ea typeface="+mj-ea"/>
              </a:rPr>
              <a:t>of brittle fracture, are reduced </a:t>
            </a:r>
            <a:endParaRPr kumimoji="1" lang="ja-JP" altLang="en-US" sz="2200">
              <a:latin typeface="+mj-ea"/>
              <a:ea typeface="+mj-ea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6F677358-D631-44E2-6936-0AC2C6040AFE}"/>
              </a:ext>
            </a:extLst>
          </p:cNvPr>
          <p:cNvSpPr txBox="1"/>
          <p:nvPr/>
        </p:nvSpPr>
        <p:spPr>
          <a:xfrm>
            <a:off x="361866" y="5241207"/>
            <a:ext cx="857965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2200" u="sng" dirty="0">
                <a:latin typeface="+mj-ea"/>
                <a:ea typeface="+mj-ea"/>
              </a:rPr>
              <a:t>Increasing temperature decreases the area of brittle fracture</a:t>
            </a:r>
            <a:endParaRPr kumimoji="1" lang="ja-JP" altLang="en-US" sz="2200" u="sng">
              <a:latin typeface="+mj-ea"/>
              <a:ea typeface="+mj-ea"/>
            </a:endParaRPr>
          </a:p>
        </p:txBody>
      </p:sp>
      <p:sp>
        <p:nvSpPr>
          <p:cNvPr id="14" name="右矢印 13">
            <a:extLst>
              <a:ext uri="{FF2B5EF4-FFF2-40B4-BE49-F238E27FC236}">
                <a16:creationId xmlns:a16="http://schemas.microsoft.com/office/drawing/2014/main" id="{B4A35619-F9B8-2B9F-7219-E847C61B6350}"/>
              </a:ext>
            </a:extLst>
          </p:cNvPr>
          <p:cNvSpPr/>
          <p:nvPr/>
        </p:nvSpPr>
        <p:spPr>
          <a:xfrm>
            <a:off x="1213056" y="5672094"/>
            <a:ext cx="442662" cy="301872"/>
          </a:xfrm>
          <a:prstGeom prst="rightArrow">
            <a:avLst>
              <a:gd name="adj1" fmla="val 40272"/>
              <a:gd name="adj2" fmla="val 88279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7D214D4F-71CF-F6A0-8873-9BA03E05B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Fracture type mapping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DD077BA-1304-A135-41B0-471F6454E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F6909-ABCB-BB45-AC56-A8377246EBB2}" type="slidenum">
              <a:rPr lang="ja-JP" altLang="en-US" smtClean="0"/>
              <a:pPr/>
              <a:t>11</a:t>
            </a:fld>
            <a:endParaRPr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CF4CFD1-AE41-7575-3840-0947A7480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Tokyo University of Science - Computational Materials Science Laboratory -</a:t>
            </a:r>
            <a:endParaRPr lang="ja-JP" altLang="en-US" dirty="0"/>
          </a:p>
        </p:txBody>
      </p:sp>
      <p:pic>
        <p:nvPicPr>
          <p:cNvPr id="9" name="図 8" descr="グラフ, 等高線グラフ&#10;&#10;自動的に生成された説明">
            <a:extLst>
              <a:ext uri="{FF2B5EF4-FFF2-40B4-BE49-F238E27FC236}">
                <a16:creationId xmlns:a16="http://schemas.microsoft.com/office/drawing/2014/main" id="{C41BDAFB-B83C-A571-02B7-D6A1FFD4E9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421" y="725300"/>
            <a:ext cx="8144590" cy="4350984"/>
          </a:xfrm>
          <a:prstGeom prst="rect">
            <a:avLst/>
          </a:prstGeom>
        </p:spPr>
      </p:pic>
      <p:pic>
        <p:nvPicPr>
          <p:cNvPr id="3" name="図 2" descr="グラフ が含まれている画像&#10;&#10;自動的に生成された説明">
            <a:extLst>
              <a:ext uri="{FF2B5EF4-FFF2-40B4-BE49-F238E27FC236}">
                <a16:creationId xmlns:a16="http://schemas.microsoft.com/office/drawing/2014/main" id="{C879B239-A1F5-EE54-E6C2-19A2A7BB83B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827" b="11904"/>
          <a:stretch/>
        </p:blipFill>
        <p:spPr>
          <a:xfrm>
            <a:off x="2055084" y="4617452"/>
            <a:ext cx="4364836" cy="435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0492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7860D8-72F3-6FCC-B064-2D4A92803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BDTT 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39DB4ED-6876-9A07-155D-3FDD44E8C9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816274"/>
            <a:ext cx="8667750" cy="3066370"/>
          </a:xfrm>
        </p:spPr>
        <p:txBody>
          <a:bodyPr/>
          <a:lstStyle/>
          <a:p>
            <a:r>
              <a:rPr lang="en-US" altLang="ja-JP" dirty="0"/>
              <a:t>Fracture</a:t>
            </a:r>
            <a:r>
              <a:rPr lang="ja-JP" altLang="en-US" dirty="0"/>
              <a:t> </a:t>
            </a:r>
            <a:r>
              <a:rPr lang="en-US" altLang="ja-JP" dirty="0"/>
              <a:t>toughness</a:t>
            </a:r>
            <a:r>
              <a:rPr lang="ja-JP" altLang="en-US" dirty="0"/>
              <a:t> </a:t>
            </a:r>
            <a:r>
              <a:rPr lang="en-US" altLang="ja-JP" dirty="0"/>
              <a:t>vs. temperature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58031F3-907E-94AB-318D-CB1550C86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F6909-ABCB-BB45-AC56-A8377246EBB2}" type="slidenum">
              <a:rPr lang="ja-JP" altLang="en-US" smtClean="0"/>
              <a:pPr/>
              <a:t>12</a:t>
            </a:fld>
            <a:endParaRPr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2C0F2E1-B0E7-4B02-5096-116314986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Tokyo University of Science - Computational Materials Science Laboratory -</a:t>
            </a:r>
            <a:endParaRPr lang="ja-JP" altLang="en-US" dirty="0"/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26E1704B-1C1F-3CB5-3D94-8DE5B7DB427E}"/>
              </a:ext>
            </a:extLst>
          </p:cNvPr>
          <p:cNvGrpSpPr/>
          <p:nvPr/>
        </p:nvGrpSpPr>
        <p:grpSpPr>
          <a:xfrm>
            <a:off x="-73824" y="268289"/>
            <a:ext cx="5574530" cy="7304114"/>
            <a:chOff x="1614014" y="288973"/>
            <a:chExt cx="5574530" cy="7304114"/>
          </a:xfrm>
        </p:grpSpPr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70FDEF05-15BA-3BD8-ADFA-B89F3DE9014F}"/>
                </a:ext>
              </a:extLst>
            </p:cNvPr>
            <p:cNvSpPr/>
            <p:nvPr/>
          </p:nvSpPr>
          <p:spPr>
            <a:xfrm>
              <a:off x="6454262" y="1538633"/>
              <a:ext cx="550605" cy="140667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6" name="図 5">
              <a:extLst>
                <a:ext uri="{FF2B5EF4-FFF2-40B4-BE49-F238E27FC236}">
                  <a16:creationId xmlns:a16="http://schemas.microsoft.com/office/drawing/2014/main" id="{B3FD4B7E-28EC-740D-DEB7-A4BC1186B5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450194" y="-547206"/>
              <a:ext cx="3902171" cy="5574529"/>
            </a:xfrm>
            <a:prstGeom prst="rect">
              <a:avLst/>
            </a:prstGeom>
          </p:spPr>
        </p:pic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F949DCD9-9094-37A7-F33C-7DFA3AB6C445}"/>
                </a:ext>
              </a:extLst>
            </p:cNvPr>
            <p:cNvSpPr/>
            <p:nvPr/>
          </p:nvSpPr>
          <p:spPr>
            <a:xfrm>
              <a:off x="4399321" y="3150093"/>
              <a:ext cx="2594150" cy="140667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2C991F2C-2B38-5A2A-C806-A705BAD33E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2450195" y="1066168"/>
              <a:ext cx="3902170" cy="5574529"/>
            </a:xfrm>
            <a:prstGeom prst="rect">
              <a:avLst/>
            </a:prstGeom>
          </p:spPr>
        </p:pic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4ACA9E5E-8E5A-49A0-1685-3EB6525936B4}"/>
                </a:ext>
              </a:extLst>
            </p:cNvPr>
            <p:cNvSpPr/>
            <p:nvPr/>
          </p:nvSpPr>
          <p:spPr>
            <a:xfrm>
              <a:off x="3762953" y="4792903"/>
              <a:ext cx="3224981" cy="140667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8" name="図 7">
              <a:extLst>
                <a:ext uri="{FF2B5EF4-FFF2-40B4-BE49-F238E27FC236}">
                  <a16:creationId xmlns:a16="http://schemas.microsoft.com/office/drawing/2014/main" id="{B6844A72-22E3-D394-E575-8C4B3E3298B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5400000">
              <a:off x="2450193" y="2854737"/>
              <a:ext cx="3902171" cy="5574530"/>
            </a:xfrm>
            <a:prstGeom prst="rect">
              <a:avLst/>
            </a:prstGeom>
          </p:spPr>
        </p:pic>
        <p:grpSp>
          <p:nvGrpSpPr>
            <p:cNvPr id="21" name="グループ化 20">
              <a:extLst>
                <a:ext uri="{FF2B5EF4-FFF2-40B4-BE49-F238E27FC236}">
                  <a16:creationId xmlns:a16="http://schemas.microsoft.com/office/drawing/2014/main" id="{FC6609DD-B50F-AAB8-E7B2-A77650B24D46}"/>
                </a:ext>
              </a:extLst>
            </p:cNvPr>
            <p:cNvGrpSpPr/>
            <p:nvPr/>
          </p:nvGrpSpPr>
          <p:grpSpPr>
            <a:xfrm>
              <a:off x="2201455" y="3175832"/>
              <a:ext cx="2001890" cy="318264"/>
              <a:chOff x="911850" y="5522536"/>
              <a:chExt cx="2001890" cy="318264"/>
            </a:xfrm>
          </p:grpSpPr>
          <p:sp>
            <p:nvSpPr>
              <p:cNvPr id="22" name="正方形/長方形 21">
                <a:extLst>
                  <a:ext uri="{FF2B5EF4-FFF2-40B4-BE49-F238E27FC236}">
                    <a16:creationId xmlns:a16="http://schemas.microsoft.com/office/drawing/2014/main" id="{33105D43-A516-F2C0-DECE-9515B25E1C11}"/>
                  </a:ext>
                </a:extLst>
              </p:cNvPr>
              <p:cNvSpPr/>
              <p:nvPr/>
            </p:nvSpPr>
            <p:spPr>
              <a:xfrm>
                <a:off x="1013302" y="5522536"/>
                <a:ext cx="1798987" cy="30777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テキスト ボックス 22">
                    <a:extLst>
                      <a:ext uri="{FF2B5EF4-FFF2-40B4-BE49-F238E27FC236}">
                        <a16:creationId xmlns:a16="http://schemas.microsoft.com/office/drawing/2014/main" id="{5171EA6B-BE2B-10DC-5AA4-973639DE2CE7}"/>
                      </a:ext>
                    </a:extLst>
                  </p:cNvPr>
                  <p:cNvSpPr txBox="1"/>
                  <p:nvPr/>
                </p:nvSpPr>
                <p:spPr>
                  <a:xfrm>
                    <a:off x="911850" y="5533023"/>
                    <a:ext cx="2001890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=1.0, </m:t>
                          </m:r>
                          <m:sSub>
                            <m:sSubPr>
                              <m:ctrlPr>
                                <a:rPr kumimoji="1" lang="en-US" altLang="ja-JP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1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kumimoji="1" lang="en-US" altLang="ja-JP" sz="1400" b="0" i="1" smtClean="0">
                                  <a:latin typeface="Cambria Math" panose="02040503050406030204" pitchFamily="18" charset="0"/>
                                </a:rPr>
                                <m:t>𝑛𝑒𝑎𝑟</m:t>
                              </m:r>
                            </m:sub>
                          </m:sSub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=1.25</m:t>
                          </m:r>
                        </m:oMath>
                      </m:oMathPara>
                    </a14:m>
                    <a:endParaRPr kumimoji="1" lang="ja-JP" altLang="en-US" sz="1400"/>
                  </a:p>
                </p:txBody>
              </p:sp>
            </mc:Choice>
            <mc:Fallback xmlns="">
              <p:sp>
                <p:nvSpPr>
                  <p:cNvPr id="23" name="テキスト ボックス 22">
                    <a:extLst>
                      <a:ext uri="{FF2B5EF4-FFF2-40B4-BE49-F238E27FC236}">
                        <a16:creationId xmlns:a16="http://schemas.microsoft.com/office/drawing/2014/main" id="{5171EA6B-BE2B-10DC-5AA4-973639DE2CE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1850" y="5533023"/>
                    <a:ext cx="2001890" cy="30777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0" name="グループ化 29">
              <a:extLst>
                <a:ext uri="{FF2B5EF4-FFF2-40B4-BE49-F238E27FC236}">
                  <a16:creationId xmlns:a16="http://schemas.microsoft.com/office/drawing/2014/main" id="{47B65AB7-358E-0A3E-C479-1C99FB15F330}"/>
                </a:ext>
              </a:extLst>
            </p:cNvPr>
            <p:cNvGrpSpPr/>
            <p:nvPr/>
          </p:nvGrpSpPr>
          <p:grpSpPr>
            <a:xfrm>
              <a:off x="2223685" y="4812638"/>
              <a:ext cx="1869743" cy="308577"/>
              <a:chOff x="943656" y="5521736"/>
              <a:chExt cx="1869743" cy="308577"/>
            </a:xfrm>
          </p:grpSpPr>
          <p:sp>
            <p:nvSpPr>
              <p:cNvPr id="31" name="正方形/長方形 30">
                <a:extLst>
                  <a:ext uri="{FF2B5EF4-FFF2-40B4-BE49-F238E27FC236}">
                    <a16:creationId xmlns:a16="http://schemas.microsoft.com/office/drawing/2014/main" id="{B1364CC5-FEA1-9C5F-57B0-201541FF64BE}"/>
                  </a:ext>
                </a:extLst>
              </p:cNvPr>
              <p:cNvSpPr/>
              <p:nvPr/>
            </p:nvSpPr>
            <p:spPr>
              <a:xfrm>
                <a:off x="1013302" y="5522536"/>
                <a:ext cx="1730453" cy="30777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テキスト ボックス 31">
                    <a:extLst>
                      <a:ext uri="{FF2B5EF4-FFF2-40B4-BE49-F238E27FC236}">
                        <a16:creationId xmlns:a16="http://schemas.microsoft.com/office/drawing/2014/main" id="{C5A128F3-BB75-2E58-948D-27FA3E689F57}"/>
                      </a:ext>
                    </a:extLst>
                  </p:cNvPr>
                  <p:cNvSpPr txBox="1"/>
                  <p:nvPr/>
                </p:nvSpPr>
                <p:spPr>
                  <a:xfrm>
                    <a:off x="943656" y="5521736"/>
                    <a:ext cx="1869743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=1.0, </m:t>
                          </m:r>
                          <m:sSub>
                            <m:sSubPr>
                              <m:ctrlPr>
                                <a:rPr kumimoji="1" lang="en-US" altLang="ja-JP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1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kumimoji="1" lang="en-US" altLang="ja-JP" sz="1400" b="0" i="1" smtClean="0">
                                  <a:latin typeface="Cambria Math" panose="02040503050406030204" pitchFamily="18" charset="0"/>
                                </a:rPr>
                                <m:t>𝑛𝑒𝑎𝑟</m:t>
                              </m:r>
                            </m:sub>
                          </m:sSub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=1.5</m:t>
                          </m:r>
                        </m:oMath>
                      </m:oMathPara>
                    </a14:m>
                    <a:endParaRPr kumimoji="1" lang="ja-JP" altLang="en-US" sz="1400"/>
                  </a:p>
                </p:txBody>
              </p:sp>
            </mc:Choice>
            <mc:Fallback xmlns="">
              <p:sp>
                <p:nvSpPr>
                  <p:cNvPr id="32" name="テキスト ボックス 31">
                    <a:extLst>
                      <a:ext uri="{FF2B5EF4-FFF2-40B4-BE49-F238E27FC236}">
                        <a16:creationId xmlns:a16="http://schemas.microsoft.com/office/drawing/2014/main" id="{C5A128F3-BB75-2E58-948D-27FA3E689F5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3656" y="5521736"/>
                    <a:ext cx="1869743" cy="30777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3" name="グループ化 32">
              <a:extLst>
                <a:ext uri="{FF2B5EF4-FFF2-40B4-BE49-F238E27FC236}">
                  <a16:creationId xmlns:a16="http://schemas.microsoft.com/office/drawing/2014/main" id="{08CAADD5-6DF2-C95E-0FBB-B194A76EDE51}"/>
                </a:ext>
              </a:extLst>
            </p:cNvPr>
            <p:cNvGrpSpPr/>
            <p:nvPr/>
          </p:nvGrpSpPr>
          <p:grpSpPr>
            <a:xfrm>
              <a:off x="2232151" y="1562101"/>
              <a:ext cx="1869743" cy="308577"/>
              <a:chOff x="943656" y="5521736"/>
              <a:chExt cx="1869743" cy="308577"/>
            </a:xfrm>
          </p:grpSpPr>
          <p:sp>
            <p:nvSpPr>
              <p:cNvPr id="34" name="正方形/長方形 33">
                <a:extLst>
                  <a:ext uri="{FF2B5EF4-FFF2-40B4-BE49-F238E27FC236}">
                    <a16:creationId xmlns:a16="http://schemas.microsoft.com/office/drawing/2014/main" id="{B2468D9E-6ABC-3AC7-C3B2-71740D4663F7}"/>
                  </a:ext>
                </a:extLst>
              </p:cNvPr>
              <p:cNvSpPr/>
              <p:nvPr/>
            </p:nvSpPr>
            <p:spPr>
              <a:xfrm>
                <a:off x="1013302" y="5522536"/>
                <a:ext cx="1730453" cy="30777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テキスト ボックス 34">
                    <a:extLst>
                      <a:ext uri="{FF2B5EF4-FFF2-40B4-BE49-F238E27FC236}">
                        <a16:creationId xmlns:a16="http://schemas.microsoft.com/office/drawing/2014/main" id="{0AF01D41-2566-15D7-E8DE-A4BF46470CAE}"/>
                      </a:ext>
                    </a:extLst>
                  </p:cNvPr>
                  <p:cNvSpPr txBox="1"/>
                  <p:nvPr/>
                </p:nvSpPr>
                <p:spPr>
                  <a:xfrm>
                    <a:off x="943656" y="5521736"/>
                    <a:ext cx="1869743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=1.0, </m:t>
                          </m:r>
                          <m:sSub>
                            <m:sSubPr>
                              <m:ctrlPr>
                                <a:rPr kumimoji="1" lang="en-US" altLang="ja-JP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1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kumimoji="1" lang="en-US" altLang="ja-JP" sz="1400" b="0" i="1" smtClean="0">
                                  <a:latin typeface="Cambria Math" panose="02040503050406030204" pitchFamily="18" charset="0"/>
                                </a:rPr>
                                <m:t>𝑛𝑒𝑎𝑟</m:t>
                              </m:r>
                            </m:sub>
                          </m:sSub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=1.0</m:t>
                          </m:r>
                        </m:oMath>
                      </m:oMathPara>
                    </a14:m>
                    <a:endParaRPr kumimoji="1" lang="ja-JP" altLang="en-US" sz="1400"/>
                  </a:p>
                </p:txBody>
              </p:sp>
            </mc:Choice>
            <mc:Fallback xmlns="">
              <p:sp>
                <p:nvSpPr>
                  <p:cNvPr id="35" name="テキスト ボックス 34">
                    <a:extLst>
                      <a:ext uri="{FF2B5EF4-FFF2-40B4-BE49-F238E27FC236}">
                        <a16:creationId xmlns:a16="http://schemas.microsoft.com/office/drawing/2014/main" id="{0AF01D41-2566-15D7-E8DE-A4BF46470CA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3656" y="5521736"/>
                    <a:ext cx="1869743" cy="30777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6" name="テキスト ボックス 35">
              <a:extLst>
                <a:ext uri="{FF2B5EF4-FFF2-40B4-BE49-F238E27FC236}">
                  <a16:creationId xmlns:a16="http://schemas.microsoft.com/office/drawing/2014/main" id="{B263CF20-0EE3-3E55-A786-78AB5CFE69DD}"/>
                </a:ext>
              </a:extLst>
            </p:cNvPr>
            <p:cNvSpPr txBox="1"/>
            <p:nvPr/>
          </p:nvSpPr>
          <p:spPr>
            <a:xfrm>
              <a:off x="6081326" y="2581970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(a)</a:t>
              </a:r>
              <a:endParaRPr kumimoji="1" lang="ja-JP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id="{8658394F-F1CC-E059-25BA-9AFFA7A06664}"/>
                </a:ext>
              </a:extLst>
            </p:cNvPr>
            <p:cNvSpPr txBox="1"/>
            <p:nvPr/>
          </p:nvSpPr>
          <p:spPr>
            <a:xfrm>
              <a:off x="6408958" y="2580117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(b)</a:t>
              </a:r>
              <a:endParaRPr kumimoji="1" lang="ja-JP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テキスト ボックス 37">
              <a:extLst>
                <a:ext uri="{FF2B5EF4-FFF2-40B4-BE49-F238E27FC236}">
                  <a16:creationId xmlns:a16="http://schemas.microsoft.com/office/drawing/2014/main" id="{02F505AF-CB4A-91C4-B9C3-96C5BE45ECB4}"/>
                </a:ext>
              </a:extLst>
            </p:cNvPr>
            <p:cNvSpPr txBox="1"/>
            <p:nvPr/>
          </p:nvSpPr>
          <p:spPr>
            <a:xfrm>
              <a:off x="4029753" y="4191026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(a)</a:t>
              </a:r>
              <a:endParaRPr kumimoji="1" lang="ja-JP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テキスト ボックス 38">
              <a:extLst>
                <a:ext uri="{FF2B5EF4-FFF2-40B4-BE49-F238E27FC236}">
                  <a16:creationId xmlns:a16="http://schemas.microsoft.com/office/drawing/2014/main" id="{1C20CF01-82CE-57B5-9102-63921883CD6B}"/>
                </a:ext>
              </a:extLst>
            </p:cNvPr>
            <p:cNvSpPr txBox="1"/>
            <p:nvPr/>
          </p:nvSpPr>
          <p:spPr>
            <a:xfrm>
              <a:off x="4357385" y="4189173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(b)</a:t>
              </a:r>
              <a:endParaRPr kumimoji="1" lang="ja-JP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テキスト ボックス 39">
              <a:extLst>
                <a:ext uri="{FF2B5EF4-FFF2-40B4-BE49-F238E27FC236}">
                  <a16:creationId xmlns:a16="http://schemas.microsoft.com/office/drawing/2014/main" id="{356CAA36-E13C-A162-6D3F-DE16224916ED}"/>
                </a:ext>
              </a:extLst>
            </p:cNvPr>
            <p:cNvSpPr txBox="1"/>
            <p:nvPr/>
          </p:nvSpPr>
          <p:spPr>
            <a:xfrm>
              <a:off x="3387875" y="5833644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(a)</a:t>
              </a:r>
              <a:endParaRPr kumimoji="1" lang="ja-JP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DD1B6484-0733-AF8A-47B5-CB043E4D5131}"/>
                </a:ext>
              </a:extLst>
            </p:cNvPr>
            <p:cNvSpPr txBox="1"/>
            <p:nvPr/>
          </p:nvSpPr>
          <p:spPr>
            <a:xfrm>
              <a:off x="3715507" y="5831791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(b)</a:t>
              </a:r>
              <a:endParaRPr kumimoji="1" lang="ja-JP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2" name="グループ化 91">
            <a:extLst>
              <a:ext uri="{FF2B5EF4-FFF2-40B4-BE49-F238E27FC236}">
                <a16:creationId xmlns:a16="http://schemas.microsoft.com/office/drawing/2014/main" id="{F11A3694-0BBD-5BF2-4442-5FD92EBD1F05}"/>
              </a:ext>
            </a:extLst>
          </p:cNvPr>
          <p:cNvGrpSpPr/>
          <p:nvPr/>
        </p:nvGrpSpPr>
        <p:grpSpPr>
          <a:xfrm>
            <a:off x="5338121" y="4809941"/>
            <a:ext cx="3856376" cy="1562263"/>
            <a:chOff x="5346380" y="4734078"/>
            <a:chExt cx="3856376" cy="1562263"/>
          </a:xfrm>
        </p:grpSpPr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028A3E26-5938-16BD-44D3-422C1B66442F}"/>
                </a:ext>
              </a:extLst>
            </p:cNvPr>
            <p:cNvSpPr/>
            <p:nvPr/>
          </p:nvSpPr>
          <p:spPr>
            <a:xfrm>
              <a:off x="5500706" y="4734078"/>
              <a:ext cx="3587500" cy="156226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0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2876588F-53F6-182A-2437-C5DAF79DE126}"/>
                </a:ext>
              </a:extLst>
            </p:cNvPr>
            <p:cNvSpPr txBox="1"/>
            <p:nvPr/>
          </p:nvSpPr>
          <p:spPr>
            <a:xfrm>
              <a:off x="5346380" y="4820380"/>
              <a:ext cx="3856376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200" dirty="0">
                  <a:latin typeface="+mj-ea"/>
                  <a:ea typeface="+mj-ea"/>
                </a:rPr>
                <a:t>Fracture type </a:t>
              </a:r>
              <a:r>
                <a:rPr lang="en-US" altLang="ja-JP" sz="2200" b="1" dirty="0">
                  <a:solidFill>
                    <a:srgbClr val="FF0000"/>
                  </a:solidFill>
                  <a:latin typeface="+mj-ea"/>
                  <a:ea typeface="+mj-ea"/>
                </a:rPr>
                <a:t>shifts</a:t>
              </a:r>
              <a:r>
                <a:rPr kumimoji="1" lang="en-US" altLang="ja-JP" sz="2200" dirty="0">
                  <a:latin typeface="+mj-ea"/>
                  <a:ea typeface="+mj-ea"/>
                </a:rPr>
                <a:t> </a:t>
              </a:r>
            </a:p>
            <a:p>
              <a:pPr algn="ctr"/>
              <a:r>
                <a:rPr kumimoji="1" lang="en-US" altLang="ja-JP" sz="2200" dirty="0">
                  <a:latin typeface="+mj-ea"/>
                  <a:ea typeface="+mj-ea"/>
                </a:rPr>
                <a:t>at certain temperature</a:t>
              </a:r>
            </a:p>
            <a:p>
              <a:pPr algn="ctr"/>
              <a:r>
                <a:rPr lang="en-US" altLang="ja-JP" sz="2200" dirty="0">
                  <a:latin typeface="+mj-ea"/>
                  <a:ea typeface="+mj-ea"/>
                </a:rPr>
                <a:t> It is the </a:t>
              </a:r>
              <a:r>
                <a:rPr lang="en-US" altLang="ja-JP" sz="2200" u="sng" dirty="0">
                  <a:latin typeface="+mj-ea"/>
                  <a:ea typeface="+mj-ea"/>
                </a:rPr>
                <a:t>limit temperature</a:t>
              </a:r>
              <a:br>
                <a:rPr lang="en-US" altLang="ja-JP" sz="2200" u="sng" dirty="0">
                  <a:latin typeface="+mj-ea"/>
                  <a:ea typeface="+mj-ea"/>
                </a:rPr>
              </a:br>
              <a:r>
                <a:rPr lang="en-US" altLang="ja-JP" sz="2200" u="sng" dirty="0">
                  <a:latin typeface="+mj-ea"/>
                  <a:ea typeface="+mj-ea"/>
                </a:rPr>
                <a:t> for fully brittle fracture</a:t>
              </a:r>
              <a:endParaRPr kumimoji="1" lang="en-US" altLang="ja-JP" sz="2200" u="sng" dirty="0">
                <a:latin typeface="+mj-ea"/>
                <a:ea typeface="+mj-ea"/>
              </a:endParaRPr>
            </a:p>
          </p:txBody>
        </p:sp>
      </p:grp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2802D36F-5DDD-2756-F8E7-536F7C07BB5A}"/>
              </a:ext>
            </a:extLst>
          </p:cNvPr>
          <p:cNvSpPr txBox="1"/>
          <p:nvPr/>
        </p:nvSpPr>
        <p:spPr>
          <a:xfrm>
            <a:off x="5369092" y="2851845"/>
            <a:ext cx="36603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dirty="0">
                <a:latin typeface="+mn-ea"/>
              </a:rPr>
              <a:t>(b) Valid fracture toughness </a:t>
            </a:r>
          </a:p>
          <a:p>
            <a:pPr algn="l"/>
            <a:r>
              <a:rPr lang="en-US" altLang="ja-JP" dirty="0">
                <a:latin typeface="+mn-ea"/>
              </a:rPr>
              <a:t>     </a:t>
            </a:r>
            <a:r>
              <a:rPr kumimoji="1" lang="en-US" altLang="ja-JP" dirty="0">
                <a:latin typeface="+mn-ea"/>
              </a:rPr>
              <a:t>value cannot be estimated</a:t>
            </a:r>
            <a:endParaRPr kumimoji="1" lang="ja-JP" altLang="en-US">
              <a:latin typeface="+mn-ea"/>
            </a:endParaRPr>
          </a:p>
        </p:txBody>
      </p:sp>
      <p:grpSp>
        <p:nvGrpSpPr>
          <p:cNvPr id="88" name="グループ化 87">
            <a:extLst>
              <a:ext uri="{FF2B5EF4-FFF2-40B4-BE49-F238E27FC236}">
                <a16:creationId xmlns:a16="http://schemas.microsoft.com/office/drawing/2014/main" id="{CC7A1587-06EE-7584-E269-821DFF25CE58}"/>
              </a:ext>
            </a:extLst>
          </p:cNvPr>
          <p:cNvGrpSpPr/>
          <p:nvPr/>
        </p:nvGrpSpPr>
        <p:grpSpPr>
          <a:xfrm>
            <a:off x="6514916" y="3433564"/>
            <a:ext cx="1787840" cy="1366286"/>
            <a:chOff x="6239969" y="3505021"/>
            <a:chExt cx="1787840" cy="1366286"/>
          </a:xfrm>
        </p:grpSpPr>
        <p:sp>
          <p:nvSpPr>
            <p:cNvPr id="73" name="爆発 2 72">
              <a:extLst>
                <a:ext uri="{FF2B5EF4-FFF2-40B4-BE49-F238E27FC236}">
                  <a16:creationId xmlns:a16="http://schemas.microsoft.com/office/drawing/2014/main" id="{0AFC5C2F-73A0-352A-9442-70ACC71721C3}"/>
                </a:ext>
              </a:extLst>
            </p:cNvPr>
            <p:cNvSpPr/>
            <p:nvPr/>
          </p:nvSpPr>
          <p:spPr>
            <a:xfrm>
              <a:off x="7641471" y="4060446"/>
              <a:ext cx="277507" cy="277507"/>
            </a:xfrm>
            <a:prstGeom prst="irregularSeal2">
              <a:avLst/>
            </a:prstGeom>
            <a:solidFill>
              <a:srgbClr val="C00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71" name="図 70" descr="ダイアグラム&#10;&#10;自動的に生成された説明">
              <a:extLst>
                <a:ext uri="{FF2B5EF4-FFF2-40B4-BE49-F238E27FC236}">
                  <a16:creationId xmlns:a16="http://schemas.microsoft.com/office/drawing/2014/main" id="{5D6F39CF-7D5C-D032-6120-968D962BBDC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239969" y="3505021"/>
              <a:ext cx="1668228" cy="1366286"/>
            </a:xfrm>
            <a:prstGeom prst="rect">
              <a:avLst/>
            </a:prstGeom>
          </p:spPr>
        </p:pic>
        <p:cxnSp>
          <p:nvCxnSpPr>
            <p:cNvPr id="80" name="直線矢印コネクタ 79">
              <a:extLst>
                <a:ext uri="{FF2B5EF4-FFF2-40B4-BE49-F238E27FC236}">
                  <a16:creationId xmlns:a16="http://schemas.microsoft.com/office/drawing/2014/main" id="{1AA36770-CF6A-2200-5A22-09D835212DB0}"/>
                </a:ext>
              </a:extLst>
            </p:cNvPr>
            <p:cNvCxnSpPr>
              <a:cxnSpLocks/>
            </p:cNvCxnSpPr>
            <p:nvPr/>
          </p:nvCxnSpPr>
          <p:spPr>
            <a:xfrm>
              <a:off x="7744845" y="4202835"/>
              <a:ext cx="282964" cy="0"/>
            </a:xfrm>
            <a:prstGeom prst="straightConnector1">
              <a:avLst/>
            </a:prstGeom>
            <a:ln w="19050">
              <a:solidFill>
                <a:srgbClr val="C001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B1EC76D1-4624-3621-F598-BA7C83E9AF38}"/>
              </a:ext>
            </a:extLst>
          </p:cNvPr>
          <p:cNvSpPr txBox="1"/>
          <p:nvPr/>
        </p:nvSpPr>
        <p:spPr>
          <a:xfrm>
            <a:off x="5364568" y="1292561"/>
            <a:ext cx="3786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u="sng" dirty="0">
                <a:solidFill>
                  <a:srgbClr val="FF0000"/>
                </a:solidFill>
                <a:latin typeface="+mn-ea"/>
              </a:rPr>
              <a:t>(a) Contribute to brittle fracture</a:t>
            </a:r>
            <a:endParaRPr kumimoji="1" lang="ja-JP" altLang="en-US" u="sng">
              <a:solidFill>
                <a:srgbClr val="FF0000"/>
              </a:solidFill>
              <a:latin typeface="+mn-ea"/>
            </a:endParaRPr>
          </a:p>
        </p:txBody>
      </p:sp>
      <p:grpSp>
        <p:nvGrpSpPr>
          <p:cNvPr id="87" name="グループ化 86">
            <a:extLst>
              <a:ext uri="{FF2B5EF4-FFF2-40B4-BE49-F238E27FC236}">
                <a16:creationId xmlns:a16="http://schemas.microsoft.com/office/drawing/2014/main" id="{204132AE-CE95-EECB-CAE3-59B9F8B340C0}"/>
              </a:ext>
            </a:extLst>
          </p:cNvPr>
          <p:cNvGrpSpPr/>
          <p:nvPr/>
        </p:nvGrpSpPr>
        <p:grpSpPr>
          <a:xfrm>
            <a:off x="6514916" y="1590377"/>
            <a:ext cx="1668228" cy="1366286"/>
            <a:chOff x="5782998" y="1883929"/>
            <a:chExt cx="1668228" cy="1366286"/>
          </a:xfrm>
        </p:grpSpPr>
        <p:sp>
          <p:nvSpPr>
            <p:cNvPr id="72" name="爆発 2 71">
              <a:extLst>
                <a:ext uri="{FF2B5EF4-FFF2-40B4-BE49-F238E27FC236}">
                  <a16:creationId xmlns:a16="http://schemas.microsoft.com/office/drawing/2014/main" id="{18BDCD55-3403-6D8D-7638-013F2E27522D}"/>
                </a:ext>
              </a:extLst>
            </p:cNvPr>
            <p:cNvSpPr/>
            <p:nvPr/>
          </p:nvSpPr>
          <p:spPr>
            <a:xfrm>
              <a:off x="6947440" y="2432346"/>
              <a:ext cx="277507" cy="277507"/>
            </a:xfrm>
            <a:prstGeom prst="irregularSeal2">
              <a:avLst/>
            </a:prstGeom>
            <a:solidFill>
              <a:srgbClr val="C00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70" name="図 69" descr="ダイアグラム&#10;&#10;自動的に生成された説明">
              <a:extLst>
                <a:ext uri="{FF2B5EF4-FFF2-40B4-BE49-F238E27FC236}">
                  <a16:creationId xmlns:a16="http://schemas.microsoft.com/office/drawing/2014/main" id="{8C3C5491-999F-5009-F16E-6E9BFCC5F72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782998" y="1883929"/>
              <a:ext cx="1668228" cy="1366286"/>
            </a:xfrm>
            <a:prstGeom prst="rect">
              <a:avLst/>
            </a:prstGeom>
          </p:spPr>
        </p:pic>
        <p:cxnSp>
          <p:nvCxnSpPr>
            <p:cNvPr id="75" name="直線矢印コネクタ 74">
              <a:extLst>
                <a:ext uri="{FF2B5EF4-FFF2-40B4-BE49-F238E27FC236}">
                  <a16:creationId xmlns:a16="http://schemas.microsoft.com/office/drawing/2014/main" id="{E7463184-B63A-8624-0892-CD0C294005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88507" y="2567072"/>
              <a:ext cx="294372" cy="0"/>
            </a:xfrm>
            <a:prstGeom prst="straightConnector1">
              <a:avLst/>
            </a:prstGeom>
            <a:ln w="19050">
              <a:solidFill>
                <a:srgbClr val="C001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767600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346089-E78C-E3B5-DB7D-8B0837665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Why does fracture type shift?</a:t>
            </a:r>
            <a:endParaRPr kumimoji="1"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A940848-5B85-8ABF-3EE8-1A9A1FE626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-498" y="711989"/>
            <a:ext cx="8261700" cy="3066370"/>
          </a:xfrm>
        </p:spPr>
        <p:txBody>
          <a:bodyPr/>
          <a:lstStyle/>
          <a:p>
            <a:r>
              <a:rPr kumimoji="1" lang="en-US" altLang="ja-JP" sz="2400" dirty="0"/>
              <a:t>Situations</a:t>
            </a:r>
            <a:r>
              <a:rPr lang="en-US" altLang="ja-JP" sz="2400" dirty="0"/>
              <a:t> where the fracture type shifts</a:t>
            </a:r>
            <a:endParaRPr kumimoji="1" lang="ja-JP" altLang="en-US" sz="240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32650E4-E74A-3AB4-98F3-060D01361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F6909-ABCB-BB45-AC56-A8377246EBB2}" type="slidenum">
              <a:rPr lang="ja-JP" altLang="en-US" smtClean="0"/>
              <a:pPr/>
              <a:t>13</a:t>
            </a:fld>
            <a:endParaRPr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295193D-3C5B-7F6B-97FD-51584276A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Tokyo University of Science - Computational Materials Science Laboratory -</a:t>
            </a:r>
            <a:endParaRPr lang="ja-JP" altLang="en-US" dirty="0"/>
          </a:p>
        </p:txBody>
      </p:sp>
      <p:grpSp>
        <p:nvGrpSpPr>
          <p:cNvPr id="105" name="グループ化 104">
            <a:extLst>
              <a:ext uri="{FF2B5EF4-FFF2-40B4-BE49-F238E27FC236}">
                <a16:creationId xmlns:a16="http://schemas.microsoft.com/office/drawing/2014/main" id="{3126917E-6529-42ED-F80B-E1B7592A37BE}"/>
              </a:ext>
            </a:extLst>
          </p:cNvPr>
          <p:cNvGrpSpPr/>
          <p:nvPr/>
        </p:nvGrpSpPr>
        <p:grpSpPr>
          <a:xfrm>
            <a:off x="3082597" y="1133030"/>
            <a:ext cx="5984192" cy="4294677"/>
            <a:chOff x="0" y="1121819"/>
            <a:chExt cx="5984192" cy="4294677"/>
          </a:xfrm>
        </p:grpSpPr>
        <p:sp>
          <p:nvSpPr>
            <p:cNvPr id="82" name="右矢印 23">
              <a:extLst>
                <a:ext uri="{FF2B5EF4-FFF2-40B4-BE49-F238E27FC236}">
                  <a16:creationId xmlns:a16="http://schemas.microsoft.com/office/drawing/2014/main" id="{25F0FEE6-A467-BFAB-AAAE-80077C2737BD}"/>
                </a:ext>
              </a:extLst>
            </p:cNvPr>
            <p:cNvSpPr/>
            <p:nvPr/>
          </p:nvSpPr>
          <p:spPr>
            <a:xfrm rot="5400000">
              <a:off x="4684777" y="3261695"/>
              <a:ext cx="213222" cy="475053"/>
            </a:xfrm>
            <a:prstGeom prst="rightArrow">
              <a:avLst/>
            </a:prstGeom>
            <a:solidFill>
              <a:srgbClr val="A9B5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右矢印 23">
              <a:extLst>
                <a:ext uri="{FF2B5EF4-FFF2-40B4-BE49-F238E27FC236}">
                  <a16:creationId xmlns:a16="http://schemas.microsoft.com/office/drawing/2014/main" id="{4DF91A23-E84B-8CC7-1C0D-FE6ECE184429}"/>
                </a:ext>
              </a:extLst>
            </p:cNvPr>
            <p:cNvSpPr/>
            <p:nvPr/>
          </p:nvSpPr>
          <p:spPr>
            <a:xfrm rot="5400000">
              <a:off x="1611451" y="3294084"/>
              <a:ext cx="211264" cy="470691"/>
            </a:xfrm>
            <a:prstGeom prst="rightArrow">
              <a:avLst/>
            </a:prstGeom>
            <a:solidFill>
              <a:srgbClr val="A9B5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正方形/長方形 19">
                  <a:extLst>
                    <a:ext uri="{FF2B5EF4-FFF2-40B4-BE49-F238E27FC236}">
                      <a16:creationId xmlns:a16="http://schemas.microsoft.com/office/drawing/2014/main" id="{1D3E8D37-07F9-664E-C61B-0FE56EA5667D}"/>
                    </a:ext>
                  </a:extLst>
                </p:cNvPr>
                <p:cNvSpPr/>
                <p:nvPr/>
              </p:nvSpPr>
              <p:spPr>
                <a:xfrm>
                  <a:off x="267465" y="1121819"/>
                  <a:ext cx="2537351" cy="369332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ajor"/>
              </p:style>
              <p:txBody>
                <a:bodyPr wrap="square">
                  <a:spAutoFit/>
                </a:bodyPr>
                <a:lstStyle>
                  <a:lvl1pPr>
                    <a:defRPr>
                      <a:latin typeface="+mj-lt"/>
                      <a:ea typeface="+mj-ea"/>
                      <a:cs typeface="+mj-cs"/>
                    </a:defRPr>
                  </a:lvl1pPr>
                  <a:lvl2pPr>
                    <a:defRPr>
                      <a:latin typeface="+mj-lt"/>
                      <a:ea typeface="+mj-ea"/>
                      <a:cs typeface="+mj-cs"/>
                    </a:defRPr>
                  </a:lvl2pPr>
                  <a:lvl3pPr>
                    <a:defRPr>
                      <a:latin typeface="+mj-lt"/>
                      <a:ea typeface="+mj-ea"/>
                      <a:cs typeface="+mj-cs"/>
                    </a:defRPr>
                  </a:lvl3pPr>
                  <a:lvl4pPr>
                    <a:defRPr>
                      <a:latin typeface="+mj-lt"/>
                      <a:ea typeface="+mj-ea"/>
                      <a:cs typeface="+mj-cs"/>
                    </a:defRPr>
                  </a:lvl4pPr>
                  <a:lvl5pPr>
                    <a:defRPr>
                      <a:latin typeface="+mj-lt"/>
                      <a:ea typeface="+mj-ea"/>
                      <a:cs typeface="+mj-cs"/>
                    </a:defRPr>
                  </a:lvl5pPr>
                  <a:lvl6pPr>
                    <a:defRPr>
                      <a:latin typeface="+mj-lt"/>
                      <a:ea typeface="+mj-ea"/>
                      <a:cs typeface="+mj-cs"/>
                    </a:defRPr>
                  </a:lvl6pPr>
                  <a:lvl7pPr>
                    <a:defRPr>
                      <a:latin typeface="+mj-lt"/>
                      <a:ea typeface="+mj-ea"/>
                      <a:cs typeface="+mj-cs"/>
                    </a:defRPr>
                  </a:lvl7pPr>
                  <a:lvl8pPr>
                    <a:defRPr>
                      <a:latin typeface="+mj-lt"/>
                      <a:ea typeface="+mj-ea"/>
                      <a:cs typeface="+mj-cs"/>
                    </a:defRPr>
                  </a:lvl8pPr>
                  <a:lvl9pPr>
                    <a:defRPr>
                      <a:latin typeface="+mj-lt"/>
                      <a:ea typeface="+mj-ea"/>
                      <a:cs typeface="+mj-cs"/>
                    </a:defRPr>
                  </a:lvl9pPr>
                </a:lstStyle>
                <a:p>
                  <a:pPr algn="ctr"/>
                  <a:r>
                    <a:rPr lang="en-US" altLang="ja-JP" b="1" dirty="0">
                      <a:solidFill>
                        <a:srgbClr val="C00000"/>
                      </a:solidFill>
                      <a:latin typeface="+mn-ea"/>
                    </a:rPr>
                    <a:t>Crack length </a:t>
                  </a:r>
                  <a14:m>
                    <m:oMath xmlns:m="http://schemas.openxmlformats.org/officeDocument/2006/math">
                      <m:r>
                        <a:rPr lang="en-US" altLang="ja-JP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ja-JP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a14:m>
                  <a:r>
                    <a:rPr lang="en-US" altLang="ja-JP" b="1" dirty="0">
                      <a:solidFill>
                        <a:srgbClr val="C00000"/>
                      </a:solidFill>
                      <a:latin typeface="+mn-ea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0" name="正方形/長方形 19">
                  <a:extLst>
                    <a:ext uri="{FF2B5EF4-FFF2-40B4-BE49-F238E27FC236}">
                      <a16:creationId xmlns:a16="http://schemas.microsoft.com/office/drawing/2014/main" id="{1D3E8D37-07F9-664E-C61B-0FE56EA5667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7465" y="1121819"/>
                  <a:ext cx="2537351" cy="369332"/>
                </a:xfrm>
                <a:prstGeom prst="rect">
                  <a:avLst/>
                </a:prstGeom>
                <a:blipFill>
                  <a:blip r:embed="rId2"/>
                  <a:stretch>
                    <a:fillRect t="-6667" b="-26667"/>
                  </a:stretch>
                </a:blipFill>
                <a:ln w="12700">
                  <a:noFill/>
                </a:ln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テキスト ボックス 13">
                  <a:extLst>
                    <a:ext uri="{FF2B5EF4-FFF2-40B4-BE49-F238E27FC236}">
                      <a16:creationId xmlns:a16="http://schemas.microsoft.com/office/drawing/2014/main" id="{90412784-6045-442A-EF5B-06566B29964F}"/>
                    </a:ext>
                  </a:extLst>
                </p:cNvPr>
                <p:cNvSpPr txBox="1"/>
                <p:nvPr/>
              </p:nvSpPr>
              <p:spPr>
                <a:xfrm>
                  <a:off x="6868" y="1464196"/>
                  <a:ext cx="133921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1600" b="0" i="1" u="sng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1" lang="en-US" altLang="ja-JP" sz="1600" b="0" i="1" u="sng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kumimoji="1" lang="en-US" altLang="ja-JP" sz="1600" b="0" i="1" u="sng" smtClean="0">
                            <a:latin typeface="Cambria Math" panose="02040503050406030204" pitchFamily="18" charset="0"/>
                          </a:rPr>
                          <m:t>=1.0 </m:t>
                        </m:r>
                        <m:r>
                          <m:rPr>
                            <m:sty m:val="p"/>
                          </m:rPr>
                          <a:rPr kumimoji="1" lang="ja-JP" altLang="en-US" sz="1600" b="0" i="0" u="sng" smtClean="0">
                            <a:latin typeface="Cambria Math" panose="02040503050406030204" pitchFamily="18" charset="0"/>
                          </a:rPr>
                          <m:t>μ</m:t>
                        </m:r>
                        <m:r>
                          <m:rPr>
                            <m:sty m:val="p"/>
                          </m:rPr>
                          <a:rPr kumimoji="1" lang="en-US" altLang="ja-JP" sz="1600" b="0" i="0" u="sng" smtClean="0">
                            <a:latin typeface="Cambria Math" panose="02040503050406030204" pitchFamily="18" charset="0"/>
                          </a:rPr>
                          <m:t>m</m:t>
                        </m:r>
                      </m:oMath>
                    </m:oMathPara>
                  </a14:m>
                  <a:endParaRPr kumimoji="1" lang="ja-JP" altLang="en-US" sz="1600" u="sng" dirty="0"/>
                </a:p>
              </p:txBody>
            </p:sp>
          </mc:Choice>
          <mc:Fallback xmlns="">
            <p:sp>
              <p:nvSpPr>
                <p:cNvPr id="14" name="テキスト ボックス 13">
                  <a:extLst>
                    <a:ext uri="{FF2B5EF4-FFF2-40B4-BE49-F238E27FC236}">
                      <a16:creationId xmlns:a16="http://schemas.microsoft.com/office/drawing/2014/main" id="{90412784-6045-442A-EF5B-06566B2996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68" y="1464196"/>
                  <a:ext cx="1339213" cy="338554"/>
                </a:xfrm>
                <a:prstGeom prst="rect">
                  <a:avLst/>
                </a:prstGeom>
                <a:blipFill>
                  <a:blip r:embed="rId3"/>
                  <a:stretch>
                    <a:fillRect b="-1071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8527FE90-A2A9-199B-D1B6-81F1266A5F81}"/>
                    </a:ext>
                  </a:extLst>
                </p:cNvPr>
                <p:cNvSpPr txBox="1"/>
                <p:nvPr/>
              </p:nvSpPr>
              <p:spPr>
                <a:xfrm>
                  <a:off x="0" y="3322335"/>
                  <a:ext cx="133921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1600" b="0" i="1" u="sng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1" lang="en-US" altLang="ja-JP" sz="1600" b="0" i="1" u="sng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kumimoji="1" lang="en-US" altLang="ja-JP" sz="1600" b="0" i="1" u="sng" smtClean="0">
                            <a:latin typeface="Cambria Math" panose="02040503050406030204" pitchFamily="18" charset="0"/>
                          </a:rPr>
                          <m:t>=3.0</m:t>
                        </m:r>
                        <m:r>
                          <a:rPr kumimoji="1" lang="en-US" altLang="ja-JP" sz="1600" b="0" i="0" u="sng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kumimoji="1" lang="el-GR" altLang="ja-JP" sz="1600" b="0" i="0" u="sng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μ</m:t>
                        </m:r>
                        <m:r>
                          <m:rPr>
                            <m:sty m:val="p"/>
                          </m:rPr>
                          <a:rPr kumimoji="1" lang="en-US" altLang="ja-JP" sz="1600" b="0" i="0" u="sng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</m:oMath>
                    </m:oMathPara>
                  </a14:m>
                  <a:endParaRPr kumimoji="1" lang="ja-JP" altLang="en-US" sz="1600" u="sng" dirty="0"/>
                </a:p>
              </p:txBody>
            </p:sp>
          </mc:Choice>
          <mc:Fallback xmlns=""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8527FE90-A2A9-199B-D1B6-81F1266A5F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3322335"/>
                  <a:ext cx="1339213" cy="338554"/>
                </a:xfrm>
                <a:prstGeom prst="rect">
                  <a:avLst/>
                </a:prstGeom>
                <a:blipFill>
                  <a:blip r:embed="rId4"/>
                  <a:stretch>
                    <a:fillRect b="-1481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7" name="グループ化 56">
              <a:extLst>
                <a:ext uri="{FF2B5EF4-FFF2-40B4-BE49-F238E27FC236}">
                  <a16:creationId xmlns:a16="http://schemas.microsoft.com/office/drawing/2014/main" id="{5111C586-3157-9E1A-301A-F5068FEDD968}"/>
                </a:ext>
              </a:extLst>
            </p:cNvPr>
            <p:cNvGrpSpPr/>
            <p:nvPr/>
          </p:nvGrpSpPr>
          <p:grpSpPr>
            <a:xfrm>
              <a:off x="225612" y="1736767"/>
              <a:ext cx="2272407" cy="1755562"/>
              <a:chOff x="547605" y="1975235"/>
              <a:chExt cx="2272407" cy="1755562"/>
            </a:xfrm>
          </p:grpSpPr>
          <p:sp>
            <p:nvSpPr>
              <p:cNvPr id="8" name="爆発: 14 pt 95">
                <a:extLst>
                  <a:ext uri="{FF2B5EF4-FFF2-40B4-BE49-F238E27FC236}">
                    <a16:creationId xmlns:a16="http://schemas.microsoft.com/office/drawing/2014/main" id="{0189F38F-32FA-B2D9-19F2-06ACD3D28E00}"/>
                  </a:ext>
                </a:extLst>
              </p:cNvPr>
              <p:cNvSpPr/>
              <p:nvPr/>
            </p:nvSpPr>
            <p:spPr>
              <a:xfrm>
                <a:off x="2645983" y="2778654"/>
                <a:ext cx="148529" cy="148529"/>
              </a:xfrm>
              <a:prstGeom prst="irregularSeal2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10" name="図 9" descr="図形&#10;&#10;中程度の精度で自動的に生成された説明">
                <a:extLst>
                  <a:ext uri="{FF2B5EF4-FFF2-40B4-BE49-F238E27FC236}">
                    <a16:creationId xmlns:a16="http://schemas.microsoft.com/office/drawing/2014/main" id="{4FF20869-D780-D5D2-A5A1-62C18AB2AA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7605" y="1975235"/>
                <a:ext cx="2272407" cy="1755562"/>
              </a:xfrm>
              <a:prstGeom prst="rect">
                <a:avLst/>
              </a:prstGeom>
            </p:spPr>
          </p:pic>
          <p:cxnSp>
            <p:nvCxnSpPr>
              <p:cNvPr id="12" name="直線矢印コネクタ 11">
                <a:extLst>
                  <a:ext uri="{FF2B5EF4-FFF2-40B4-BE49-F238E27FC236}">
                    <a16:creationId xmlns:a16="http://schemas.microsoft.com/office/drawing/2014/main" id="{5BD96C58-2DDA-99C9-534E-44478D4EE2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20608" y="2769867"/>
                <a:ext cx="207629" cy="0"/>
              </a:xfrm>
              <a:prstGeom prst="straightConnector1">
                <a:avLst/>
              </a:prstGeom>
              <a:ln w="12700">
                <a:solidFill>
                  <a:srgbClr val="FF0000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テキスト ボックス 15">
                    <a:extLst>
                      <a:ext uri="{FF2B5EF4-FFF2-40B4-BE49-F238E27FC236}">
                        <a16:creationId xmlns:a16="http://schemas.microsoft.com/office/drawing/2014/main" id="{AF47C62A-12FB-66EC-2BC9-E05E1B4DE851}"/>
                      </a:ext>
                    </a:extLst>
                  </p:cNvPr>
                  <p:cNvSpPr txBox="1"/>
                  <p:nvPr/>
                </p:nvSpPr>
                <p:spPr>
                  <a:xfrm>
                    <a:off x="2417438" y="2491957"/>
                    <a:ext cx="323438" cy="2935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a14:m>
                    <a:r>
                      <a:rPr lang="ja-JP" altLang="en-US" sz="1600" dirty="0"/>
                      <a:t> </a:t>
                    </a:r>
                  </a:p>
                </p:txBody>
              </p:sp>
            </mc:Choice>
            <mc:Fallback xmlns="">
              <p:sp>
                <p:nvSpPr>
                  <p:cNvPr id="16" name="テキスト ボックス 15">
                    <a:extLst>
                      <a:ext uri="{FF2B5EF4-FFF2-40B4-BE49-F238E27FC236}">
                        <a16:creationId xmlns:a16="http://schemas.microsoft.com/office/drawing/2014/main" id="{AF47C62A-12FB-66EC-2BC9-E05E1B4DE85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17438" y="2491957"/>
                    <a:ext cx="323438" cy="29352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r="-23077" b="-4167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8" name="グループ化 57">
              <a:extLst>
                <a:ext uri="{FF2B5EF4-FFF2-40B4-BE49-F238E27FC236}">
                  <a16:creationId xmlns:a16="http://schemas.microsoft.com/office/drawing/2014/main" id="{169F62FE-C800-7653-2297-921B80A00D7C}"/>
                </a:ext>
              </a:extLst>
            </p:cNvPr>
            <p:cNvGrpSpPr/>
            <p:nvPr/>
          </p:nvGrpSpPr>
          <p:grpSpPr>
            <a:xfrm>
              <a:off x="225612" y="3660934"/>
              <a:ext cx="2494522" cy="1755562"/>
              <a:chOff x="547605" y="4028011"/>
              <a:chExt cx="2494522" cy="1755562"/>
            </a:xfrm>
          </p:grpSpPr>
          <p:sp>
            <p:nvSpPr>
              <p:cNvPr id="7" name="爆発: 14 pt 96">
                <a:extLst>
                  <a:ext uri="{FF2B5EF4-FFF2-40B4-BE49-F238E27FC236}">
                    <a16:creationId xmlns:a16="http://schemas.microsoft.com/office/drawing/2014/main" id="{F258A390-07EE-B6BA-774F-1A65A6B54837}"/>
                  </a:ext>
                </a:extLst>
              </p:cNvPr>
              <p:cNvSpPr/>
              <p:nvPr/>
            </p:nvSpPr>
            <p:spPr>
              <a:xfrm>
                <a:off x="2462703" y="4823451"/>
                <a:ext cx="148529" cy="148529"/>
              </a:xfrm>
              <a:prstGeom prst="irregularSeal2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11" name="図 10" descr="図形&#10;&#10;低い精度で自動的に生成された説明">
                <a:extLst>
                  <a:ext uri="{FF2B5EF4-FFF2-40B4-BE49-F238E27FC236}">
                    <a16:creationId xmlns:a16="http://schemas.microsoft.com/office/drawing/2014/main" id="{14C7A882-4154-929A-7D60-976F730E03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7605" y="4028011"/>
                <a:ext cx="2494522" cy="1755562"/>
              </a:xfrm>
              <a:prstGeom prst="rect">
                <a:avLst/>
              </a:prstGeom>
            </p:spPr>
          </p:pic>
          <p:cxnSp>
            <p:nvCxnSpPr>
              <p:cNvPr id="13" name="直線矢印コネクタ 12">
                <a:extLst>
                  <a:ext uri="{FF2B5EF4-FFF2-40B4-BE49-F238E27FC236}">
                    <a16:creationId xmlns:a16="http://schemas.microsoft.com/office/drawing/2014/main" id="{FDB99D74-51AD-F1B3-F2E2-3DDD5A5D50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20608" y="4801981"/>
                <a:ext cx="415259" cy="0"/>
              </a:xfrm>
              <a:prstGeom prst="straightConnector1">
                <a:avLst/>
              </a:prstGeom>
              <a:ln w="12700">
                <a:solidFill>
                  <a:srgbClr val="FF0000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テキスト ボックス 16">
                    <a:extLst>
                      <a:ext uri="{FF2B5EF4-FFF2-40B4-BE49-F238E27FC236}">
                        <a16:creationId xmlns:a16="http://schemas.microsoft.com/office/drawing/2014/main" id="{03969B40-D8A3-25A3-1B0E-3EEB930F0880}"/>
                      </a:ext>
                    </a:extLst>
                  </p:cNvPr>
                  <p:cNvSpPr txBox="1"/>
                  <p:nvPr/>
                </p:nvSpPr>
                <p:spPr>
                  <a:xfrm>
                    <a:off x="2533840" y="4563022"/>
                    <a:ext cx="323438" cy="2935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a14:m>
                    <a:r>
                      <a:rPr lang="ja-JP" altLang="en-US" sz="1600" dirty="0"/>
                      <a:t> </a:t>
                    </a:r>
                  </a:p>
                </p:txBody>
              </p:sp>
            </mc:Choice>
            <mc:Fallback xmlns="">
              <p:sp>
                <p:nvSpPr>
                  <p:cNvPr id="17" name="テキスト ボックス 16">
                    <a:extLst>
                      <a:ext uri="{FF2B5EF4-FFF2-40B4-BE49-F238E27FC236}">
                        <a16:creationId xmlns:a16="http://schemas.microsoft.com/office/drawing/2014/main" id="{03969B40-D8A3-25A3-1B0E-3EEB930F088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33840" y="4563022"/>
                    <a:ext cx="323438" cy="29352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r="-19231" b="-4167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正方形/長方形 60">
                  <a:extLst>
                    <a:ext uri="{FF2B5EF4-FFF2-40B4-BE49-F238E27FC236}">
                      <a16:creationId xmlns:a16="http://schemas.microsoft.com/office/drawing/2014/main" id="{8C3E3377-10A9-1346-24AB-E9043D8501E0}"/>
                    </a:ext>
                  </a:extLst>
                </p:cNvPr>
                <p:cNvSpPr/>
                <p:nvPr/>
              </p:nvSpPr>
              <p:spPr>
                <a:xfrm>
                  <a:off x="3328774" y="1122801"/>
                  <a:ext cx="2537352" cy="369332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ajor"/>
              </p:style>
              <p:txBody>
                <a:bodyPr wrap="square">
                  <a:spAutoFit/>
                </a:bodyPr>
                <a:lstStyle>
                  <a:lvl1pPr>
                    <a:defRPr>
                      <a:latin typeface="+mj-lt"/>
                      <a:ea typeface="+mj-ea"/>
                      <a:cs typeface="+mj-cs"/>
                    </a:defRPr>
                  </a:lvl1pPr>
                  <a:lvl2pPr>
                    <a:defRPr>
                      <a:latin typeface="+mj-lt"/>
                      <a:ea typeface="+mj-ea"/>
                      <a:cs typeface="+mj-cs"/>
                    </a:defRPr>
                  </a:lvl2pPr>
                  <a:lvl3pPr>
                    <a:defRPr>
                      <a:latin typeface="+mj-lt"/>
                      <a:ea typeface="+mj-ea"/>
                      <a:cs typeface="+mj-cs"/>
                    </a:defRPr>
                  </a:lvl3pPr>
                  <a:lvl4pPr>
                    <a:defRPr>
                      <a:latin typeface="+mj-lt"/>
                      <a:ea typeface="+mj-ea"/>
                      <a:cs typeface="+mj-cs"/>
                    </a:defRPr>
                  </a:lvl4pPr>
                  <a:lvl5pPr>
                    <a:defRPr>
                      <a:latin typeface="+mj-lt"/>
                      <a:ea typeface="+mj-ea"/>
                      <a:cs typeface="+mj-cs"/>
                    </a:defRPr>
                  </a:lvl5pPr>
                  <a:lvl6pPr>
                    <a:defRPr>
                      <a:latin typeface="+mj-lt"/>
                      <a:ea typeface="+mj-ea"/>
                      <a:cs typeface="+mj-cs"/>
                    </a:defRPr>
                  </a:lvl6pPr>
                  <a:lvl7pPr>
                    <a:defRPr>
                      <a:latin typeface="+mj-lt"/>
                      <a:ea typeface="+mj-ea"/>
                      <a:cs typeface="+mj-cs"/>
                    </a:defRPr>
                  </a:lvl7pPr>
                  <a:lvl8pPr>
                    <a:defRPr>
                      <a:latin typeface="+mj-lt"/>
                      <a:ea typeface="+mj-ea"/>
                      <a:cs typeface="+mj-cs"/>
                    </a:defRPr>
                  </a:lvl8pPr>
                  <a:lvl9pPr>
                    <a:defRPr>
                      <a:latin typeface="+mj-lt"/>
                      <a:ea typeface="+mj-ea"/>
                      <a:cs typeface="+mj-cs"/>
                    </a:defRPr>
                  </a:lvl9pPr>
                </a:lstStyle>
                <a:p>
                  <a:pPr algn="ctr"/>
                  <a:r>
                    <a:rPr lang="en-US" altLang="ja-JP" b="1" dirty="0">
                      <a:solidFill>
                        <a:srgbClr val="C00000"/>
                      </a:solidFill>
                      <a:latin typeface="+mn-ea"/>
                    </a:rPr>
                    <a:t>Crack </a:t>
                  </a:r>
                  <a:r>
                    <a:rPr lang="en-US" altLang="ja-JP" sz="1600" b="1" dirty="0">
                      <a:solidFill>
                        <a:srgbClr val="C00000"/>
                      </a:solidFill>
                      <a:latin typeface="+mn-ea"/>
                    </a:rPr>
                    <a:t>position</a:t>
                  </a:r>
                  <a:r>
                    <a:rPr lang="en-US" altLang="ja-JP" b="1" dirty="0">
                      <a:solidFill>
                        <a:srgbClr val="C00000"/>
                      </a:solidFill>
                      <a:latin typeface="+mn-ea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ja-JP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ja-JP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𝒏𝒆𝒂𝒓</m:t>
                          </m:r>
                        </m:sub>
                      </m:sSub>
                    </m:oMath>
                  </a14:m>
                  <a:endParaRPr lang="en-US" altLang="ja-JP" sz="2000" b="1" dirty="0">
                    <a:solidFill>
                      <a:srgbClr val="C00000"/>
                    </a:solidFill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61" name="正方形/長方形 60">
                  <a:extLst>
                    <a:ext uri="{FF2B5EF4-FFF2-40B4-BE49-F238E27FC236}">
                      <a16:creationId xmlns:a16="http://schemas.microsoft.com/office/drawing/2014/main" id="{8C3E3377-10A9-1346-24AB-E9043D8501E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8774" y="1122801"/>
                  <a:ext cx="2537352" cy="369332"/>
                </a:xfrm>
                <a:prstGeom prst="rect">
                  <a:avLst/>
                </a:prstGeom>
                <a:blipFill>
                  <a:blip r:embed="rId9"/>
                  <a:stretch>
                    <a:fillRect t="-3333" b="-26667"/>
                  </a:stretch>
                </a:blipFill>
                <a:ln w="12700">
                  <a:noFill/>
                </a:ln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テキスト ボックス 69">
                  <a:extLst>
                    <a:ext uri="{FF2B5EF4-FFF2-40B4-BE49-F238E27FC236}">
                      <a16:creationId xmlns:a16="http://schemas.microsoft.com/office/drawing/2014/main" id="{02CE5C7C-1A53-071A-386A-B30C7E18D394}"/>
                    </a:ext>
                  </a:extLst>
                </p:cNvPr>
                <p:cNvSpPr txBox="1"/>
                <p:nvPr/>
              </p:nvSpPr>
              <p:spPr>
                <a:xfrm>
                  <a:off x="3012473" y="1460584"/>
                  <a:ext cx="159492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sz="1600" b="0" i="1" u="sng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1600" b="0" i="1" u="sng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kumimoji="1" lang="en-US" altLang="ja-JP" sz="1600" b="0" i="1" u="sng" smtClean="0">
                                <a:latin typeface="Cambria Math" panose="02040503050406030204" pitchFamily="18" charset="0"/>
                              </a:rPr>
                              <m:t>𝑛𝑒𝑎𝑟</m:t>
                            </m:r>
                          </m:sub>
                        </m:sSub>
                        <m:r>
                          <a:rPr kumimoji="1" lang="en-US" altLang="ja-JP" sz="1600" b="0" i="1" u="sng" smtClean="0">
                            <a:latin typeface="Cambria Math" panose="02040503050406030204" pitchFamily="18" charset="0"/>
                          </a:rPr>
                          <m:t>=1.0 </m:t>
                        </m:r>
                        <m:r>
                          <m:rPr>
                            <m:sty m:val="p"/>
                          </m:rPr>
                          <a:rPr kumimoji="1" lang="ja-JP" altLang="en-US" sz="1600" b="0" i="0" u="sng" smtClean="0">
                            <a:latin typeface="Cambria Math" panose="02040503050406030204" pitchFamily="18" charset="0"/>
                          </a:rPr>
                          <m:t>μ</m:t>
                        </m:r>
                        <m:r>
                          <m:rPr>
                            <m:sty m:val="p"/>
                          </m:rPr>
                          <a:rPr kumimoji="1" lang="en-US" altLang="ja-JP" sz="1600" b="0" i="0" u="sng" smtClean="0">
                            <a:latin typeface="Cambria Math" panose="02040503050406030204" pitchFamily="18" charset="0"/>
                          </a:rPr>
                          <m:t>m</m:t>
                        </m:r>
                      </m:oMath>
                    </m:oMathPara>
                  </a14:m>
                  <a:endParaRPr kumimoji="1" lang="ja-JP" altLang="en-US" sz="1600" u="sng" dirty="0"/>
                </a:p>
              </p:txBody>
            </p:sp>
          </mc:Choice>
          <mc:Fallback xmlns="">
            <p:sp>
              <p:nvSpPr>
                <p:cNvPr id="70" name="テキスト ボックス 69">
                  <a:extLst>
                    <a:ext uri="{FF2B5EF4-FFF2-40B4-BE49-F238E27FC236}">
                      <a16:creationId xmlns:a16="http://schemas.microsoft.com/office/drawing/2014/main" id="{02CE5C7C-1A53-071A-386A-B30C7E18D3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12473" y="1460584"/>
                  <a:ext cx="1594924" cy="338554"/>
                </a:xfrm>
                <a:prstGeom prst="rect">
                  <a:avLst/>
                </a:prstGeom>
                <a:blipFill>
                  <a:blip r:embed="rId10"/>
                  <a:stretch>
                    <a:fillRect b="-1428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テキスト ボックス 70">
                  <a:extLst>
                    <a:ext uri="{FF2B5EF4-FFF2-40B4-BE49-F238E27FC236}">
                      <a16:creationId xmlns:a16="http://schemas.microsoft.com/office/drawing/2014/main" id="{D2062B4E-1487-859F-7498-9EC9D4C628B8}"/>
                    </a:ext>
                  </a:extLst>
                </p:cNvPr>
                <p:cNvSpPr txBox="1"/>
                <p:nvPr/>
              </p:nvSpPr>
              <p:spPr>
                <a:xfrm>
                  <a:off x="3068632" y="3323426"/>
                  <a:ext cx="159492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sz="1600" b="0" i="1" u="sng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1600" b="0" i="1" u="sng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kumimoji="1" lang="en-US" altLang="ja-JP" sz="1600" b="0" i="1" u="sng" smtClean="0">
                                <a:latin typeface="Cambria Math" panose="02040503050406030204" pitchFamily="18" charset="0"/>
                              </a:rPr>
                              <m:t>𝑛𝑒𝑎𝑟</m:t>
                            </m:r>
                          </m:sub>
                        </m:sSub>
                        <m:r>
                          <a:rPr kumimoji="1" lang="en-US" altLang="ja-JP" sz="1600" b="0" i="1" u="sng" smtClean="0">
                            <a:latin typeface="Cambria Math" panose="02040503050406030204" pitchFamily="18" charset="0"/>
                          </a:rPr>
                          <m:t>=3.0 </m:t>
                        </m:r>
                        <m:r>
                          <m:rPr>
                            <m:sty m:val="p"/>
                          </m:rPr>
                          <a:rPr kumimoji="1" lang="ja-JP" altLang="en-US" sz="1600" b="0" i="0" u="sng" smtClean="0">
                            <a:latin typeface="Cambria Math" panose="02040503050406030204" pitchFamily="18" charset="0"/>
                          </a:rPr>
                          <m:t>μ</m:t>
                        </m:r>
                        <m:r>
                          <m:rPr>
                            <m:sty m:val="p"/>
                          </m:rPr>
                          <a:rPr kumimoji="1" lang="en-US" altLang="ja-JP" sz="1600" b="0" i="0" u="sng" smtClean="0">
                            <a:latin typeface="Cambria Math" panose="02040503050406030204" pitchFamily="18" charset="0"/>
                          </a:rPr>
                          <m:t>m</m:t>
                        </m:r>
                      </m:oMath>
                    </m:oMathPara>
                  </a14:m>
                  <a:endParaRPr kumimoji="1" lang="ja-JP" altLang="en-US" u="sng" dirty="0"/>
                </a:p>
              </p:txBody>
            </p:sp>
          </mc:Choice>
          <mc:Fallback xmlns="">
            <p:sp>
              <p:nvSpPr>
                <p:cNvPr id="71" name="テキスト ボックス 70">
                  <a:extLst>
                    <a:ext uri="{FF2B5EF4-FFF2-40B4-BE49-F238E27FC236}">
                      <a16:creationId xmlns:a16="http://schemas.microsoft.com/office/drawing/2014/main" id="{D2062B4E-1487-859F-7498-9EC9D4C628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8632" y="3323426"/>
                  <a:ext cx="1594924" cy="338554"/>
                </a:xfrm>
                <a:prstGeom prst="rect">
                  <a:avLst/>
                </a:prstGeom>
                <a:blipFill>
                  <a:blip r:embed="rId11"/>
                  <a:stretch>
                    <a:fillRect b="-1071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2" name="グループ化 71">
              <a:extLst>
                <a:ext uri="{FF2B5EF4-FFF2-40B4-BE49-F238E27FC236}">
                  <a16:creationId xmlns:a16="http://schemas.microsoft.com/office/drawing/2014/main" id="{D696B62F-1F74-5579-BD34-2FFF91AD6825}"/>
                </a:ext>
              </a:extLst>
            </p:cNvPr>
            <p:cNvGrpSpPr/>
            <p:nvPr/>
          </p:nvGrpSpPr>
          <p:grpSpPr>
            <a:xfrm>
              <a:off x="3236036" y="1676008"/>
              <a:ext cx="2273747" cy="1756597"/>
              <a:chOff x="545859" y="2016316"/>
              <a:chExt cx="2621053" cy="2024911"/>
            </a:xfrm>
          </p:grpSpPr>
          <p:sp>
            <p:nvSpPr>
              <p:cNvPr id="73" name="爆発: 14 pt 30">
                <a:extLst>
                  <a:ext uri="{FF2B5EF4-FFF2-40B4-BE49-F238E27FC236}">
                    <a16:creationId xmlns:a16="http://schemas.microsoft.com/office/drawing/2014/main" id="{5652B2A5-E9E7-E556-3978-39B7CE8AE9D0}"/>
                  </a:ext>
                </a:extLst>
              </p:cNvPr>
              <p:cNvSpPr/>
              <p:nvPr/>
            </p:nvSpPr>
            <p:spPr>
              <a:xfrm>
                <a:off x="2753806" y="2918606"/>
                <a:ext cx="207750" cy="207750"/>
              </a:xfrm>
              <a:prstGeom prst="irregularSeal2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74" name="図 73" descr="図形&#10;&#10;中程度の精度で自動的に生成された説明">
                <a:extLst>
                  <a:ext uri="{FF2B5EF4-FFF2-40B4-BE49-F238E27FC236}">
                    <a16:creationId xmlns:a16="http://schemas.microsoft.com/office/drawing/2014/main" id="{59904893-509D-7171-6CD6-C94FF63A07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5859" y="2016316"/>
                <a:ext cx="2621053" cy="2024911"/>
              </a:xfrm>
              <a:prstGeom prst="rect">
                <a:avLst/>
              </a:prstGeom>
            </p:spPr>
          </p:pic>
          <p:cxnSp>
            <p:nvCxnSpPr>
              <p:cNvPr id="75" name="直線矢印コネクタ 74">
                <a:extLst>
                  <a:ext uri="{FF2B5EF4-FFF2-40B4-BE49-F238E27FC236}">
                    <a16:creationId xmlns:a16="http://schemas.microsoft.com/office/drawing/2014/main" id="{EF8A4A94-D2E0-6FE7-8BC3-BD8D1A67A9F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71572" y="3028771"/>
                <a:ext cx="767418" cy="2841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6" name="テキスト ボックス 75">
                    <a:extLst>
                      <a:ext uri="{FF2B5EF4-FFF2-40B4-BE49-F238E27FC236}">
                        <a16:creationId xmlns:a16="http://schemas.microsoft.com/office/drawing/2014/main" id="{B7EEEEFF-175F-C860-91E6-F4602D360DD2}"/>
                      </a:ext>
                    </a:extLst>
                  </p:cNvPr>
                  <p:cNvSpPr txBox="1"/>
                  <p:nvPr/>
                </p:nvSpPr>
                <p:spPr>
                  <a:xfrm>
                    <a:off x="2071572" y="2659439"/>
                    <a:ext cx="78733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ja-JP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𝑛𝑒𝑎𝑟</m:t>
                              </m:r>
                            </m:sub>
                          </m:sSub>
                        </m:oMath>
                      </m:oMathPara>
                    </a14:m>
                    <a:endParaRPr kumimoji="1" lang="ja-JP" altLang="en-US" dirty="0"/>
                  </a:p>
                </p:txBody>
              </p:sp>
            </mc:Choice>
            <mc:Fallback xmlns="">
              <p:sp>
                <p:nvSpPr>
                  <p:cNvPr id="76" name="テキスト ボックス 75">
                    <a:extLst>
                      <a:ext uri="{FF2B5EF4-FFF2-40B4-BE49-F238E27FC236}">
                        <a16:creationId xmlns:a16="http://schemas.microsoft.com/office/drawing/2014/main" id="{B7EEEEFF-175F-C860-91E6-F4602D360DD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71572" y="2659439"/>
                    <a:ext cx="787331" cy="36933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b="-7407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7" name="グループ化 76">
              <a:extLst>
                <a:ext uri="{FF2B5EF4-FFF2-40B4-BE49-F238E27FC236}">
                  <a16:creationId xmlns:a16="http://schemas.microsoft.com/office/drawing/2014/main" id="{4702F0E5-6952-525F-C7E2-51D42F33448B}"/>
                </a:ext>
              </a:extLst>
            </p:cNvPr>
            <p:cNvGrpSpPr/>
            <p:nvPr/>
          </p:nvGrpSpPr>
          <p:grpSpPr>
            <a:xfrm>
              <a:off x="3236036" y="3595948"/>
              <a:ext cx="2748156" cy="1756597"/>
              <a:chOff x="586116" y="4376265"/>
              <a:chExt cx="3167928" cy="2024912"/>
            </a:xfrm>
          </p:grpSpPr>
          <p:sp>
            <p:nvSpPr>
              <p:cNvPr id="78" name="爆発: 14 pt 31">
                <a:extLst>
                  <a:ext uri="{FF2B5EF4-FFF2-40B4-BE49-F238E27FC236}">
                    <a16:creationId xmlns:a16="http://schemas.microsoft.com/office/drawing/2014/main" id="{683AE470-ED64-1484-265F-F10A10AFECBF}"/>
                  </a:ext>
                </a:extLst>
              </p:cNvPr>
              <p:cNvSpPr/>
              <p:nvPr/>
            </p:nvSpPr>
            <p:spPr>
              <a:xfrm>
                <a:off x="3519152" y="5284846"/>
                <a:ext cx="207750" cy="207750"/>
              </a:xfrm>
              <a:prstGeom prst="irregularSeal2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79" name="図 78" descr="図形&#10;&#10;中程度の精度で自動的に生成された説明">
                <a:extLst>
                  <a:ext uri="{FF2B5EF4-FFF2-40B4-BE49-F238E27FC236}">
                    <a16:creationId xmlns:a16="http://schemas.microsoft.com/office/drawing/2014/main" id="{A0450CF1-648D-9DCA-51F3-FDC3BE72B9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86116" y="4376265"/>
                <a:ext cx="3167928" cy="2024912"/>
              </a:xfrm>
              <a:prstGeom prst="rect">
                <a:avLst/>
              </a:prstGeom>
            </p:spPr>
          </p:pic>
          <p:cxnSp>
            <p:nvCxnSpPr>
              <p:cNvPr id="80" name="直線矢印コネクタ 79">
                <a:extLst>
                  <a:ext uri="{FF2B5EF4-FFF2-40B4-BE49-F238E27FC236}">
                    <a16:creationId xmlns:a16="http://schemas.microsoft.com/office/drawing/2014/main" id="{9FF3193B-EABD-0DAE-B112-78DE58D61F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5236" y="5388721"/>
                <a:ext cx="1299815" cy="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1" name="テキスト ボックス 80">
                    <a:extLst>
                      <a:ext uri="{FF2B5EF4-FFF2-40B4-BE49-F238E27FC236}">
                        <a16:creationId xmlns:a16="http://schemas.microsoft.com/office/drawing/2014/main" id="{1C4D3544-BDC4-426E-8A0C-F6A8B14D1F38}"/>
                      </a:ext>
                    </a:extLst>
                  </p:cNvPr>
                  <p:cNvSpPr txBox="1"/>
                  <p:nvPr/>
                </p:nvSpPr>
                <p:spPr>
                  <a:xfrm>
                    <a:off x="2379581" y="5019389"/>
                    <a:ext cx="78733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ja-JP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𝑛𝑒𝑎𝑟</m:t>
                              </m:r>
                            </m:sub>
                          </m:sSub>
                        </m:oMath>
                      </m:oMathPara>
                    </a14:m>
                    <a:endParaRPr kumimoji="1" lang="ja-JP" altLang="en-US" dirty="0"/>
                  </a:p>
                </p:txBody>
              </p:sp>
            </mc:Choice>
            <mc:Fallback xmlns="">
              <p:sp>
                <p:nvSpPr>
                  <p:cNvPr id="81" name="テキスト ボックス 80">
                    <a:extLst>
                      <a:ext uri="{FF2B5EF4-FFF2-40B4-BE49-F238E27FC236}">
                        <a16:creationId xmlns:a16="http://schemas.microsoft.com/office/drawing/2014/main" id="{1C4D3544-BDC4-426E-8A0C-F6A8B14D1F3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79581" y="5019389"/>
                    <a:ext cx="787331" cy="36933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b="-7407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03" name="グループ化 102">
            <a:extLst>
              <a:ext uri="{FF2B5EF4-FFF2-40B4-BE49-F238E27FC236}">
                <a16:creationId xmlns:a16="http://schemas.microsoft.com/office/drawing/2014/main" id="{6C8673BC-F971-C969-C647-6E6435BB57E5}"/>
              </a:ext>
            </a:extLst>
          </p:cNvPr>
          <p:cNvGrpSpPr/>
          <p:nvPr/>
        </p:nvGrpSpPr>
        <p:grpSpPr>
          <a:xfrm>
            <a:off x="142086" y="1133030"/>
            <a:ext cx="2757334" cy="4161570"/>
            <a:chOff x="6152338" y="1121819"/>
            <a:chExt cx="2757334" cy="416157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正方形/長方形 63">
                  <a:extLst>
                    <a:ext uri="{FF2B5EF4-FFF2-40B4-BE49-F238E27FC236}">
                      <a16:creationId xmlns:a16="http://schemas.microsoft.com/office/drawing/2014/main" id="{367C630A-D1C8-8985-2C77-D3334660A435}"/>
                    </a:ext>
                  </a:extLst>
                </p:cNvPr>
                <p:cNvSpPr/>
                <p:nvPr/>
              </p:nvSpPr>
              <p:spPr>
                <a:xfrm>
                  <a:off x="6372320" y="1121819"/>
                  <a:ext cx="2537352" cy="369332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ajor"/>
              </p:style>
              <p:txBody>
                <a:bodyPr wrap="square">
                  <a:spAutoFit/>
                </a:bodyPr>
                <a:lstStyle>
                  <a:lvl1pPr>
                    <a:defRPr>
                      <a:latin typeface="+mj-lt"/>
                      <a:ea typeface="+mj-ea"/>
                      <a:cs typeface="+mj-cs"/>
                    </a:defRPr>
                  </a:lvl1pPr>
                  <a:lvl2pPr>
                    <a:defRPr>
                      <a:latin typeface="+mj-lt"/>
                      <a:ea typeface="+mj-ea"/>
                      <a:cs typeface="+mj-cs"/>
                    </a:defRPr>
                  </a:lvl2pPr>
                  <a:lvl3pPr>
                    <a:defRPr>
                      <a:latin typeface="+mj-lt"/>
                      <a:ea typeface="+mj-ea"/>
                      <a:cs typeface="+mj-cs"/>
                    </a:defRPr>
                  </a:lvl3pPr>
                  <a:lvl4pPr>
                    <a:defRPr>
                      <a:latin typeface="+mj-lt"/>
                      <a:ea typeface="+mj-ea"/>
                      <a:cs typeface="+mj-cs"/>
                    </a:defRPr>
                  </a:lvl4pPr>
                  <a:lvl5pPr>
                    <a:defRPr>
                      <a:latin typeface="+mj-lt"/>
                      <a:ea typeface="+mj-ea"/>
                      <a:cs typeface="+mj-cs"/>
                    </a:defRPr>
                  </a:lvl5pPr>
                  <a:lvl6pPr>
                    <a:defRPr>
                      <a:latin typeface="+mj-lt"/>
                      <a:ea typeface="+mj-ea"/>
                      <a:cs typeface="+mj-cs"/>
                    </a:defRPr>
                  </a:lvl6pPr>
                  <a:lvl7pPr>
                    <a:defRPr>
                      <a:latin typeface="+mj-lt"/>
                      <a:ea typeface="+mj-ea"/>
                      <a:cs typeface="+mj-cs"/>
                    </a:defRPr>
                  </a:lvl7pPr>
                  <a:lvl8pPr>
                    <a:defRPr>
                      <a:latin typeface="+mj-lt"/>
                      <a:ea typeface="+mj-ea"/>
                      <a:cs typeface="+mj-cs"/>
                    </a:defRPr>
                  </a:lvl8pPr>
                  <a:lvl9pPr>
                    <a:defRPr>
                      <a:latin typeface="+mj-lt"/>
                      <a:ea typeface="+mj-ea"/>
                      <a:cs typeface="+mj-cs"/>
                    </a:defRPr>
                  </a:lvl9pPr>
                </a:lstStyle>
                <a:p>
                  <a:pPr algn="ctr"/>
                  <a:r>
                    <a:rPr lang="en-US" altLang="ja-JP" b="1" dirty="0">
                      <a:solidFill>
                        <a:srgbClr val="C00000"/>
                      </a:solidFill>
                      <a:latin typeface="+mn-ea"/>
                    </a:rPr>
                    <a:t>Temperature </a:t>
                  </a:r>
                  <a14:m>
                    <m:oMath xmlns:m="http://schemas.openxmlformats.org/officeDocument/2006/math">
                      <m:r>
                        <a:rPr lang="en-US" altLang="ja-JP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</m:oMath>
                  </a14:m>
                  <a:r>
                    <a:rPr lang="en-US" altLang="ja-JP" b="1" dirty="0">
                      <a:solidFill>
                        <a:srgbClr val="C00000"/>
                      </a:solidFill>
                      <a:latin typeface="+mn-ea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64" name="正方形/長方形 63">
                  <a:extLst>
                    <a:ext uri="{FF2B5EF4-FFF2-40B4-BE49-F238E27FC236}">
                      <a16:creationId xmlns:a16="http://schemas.microsoft.com/office/drawing/2014/main" id="{367C630A-D1C8-8985-2C77-D3334660A43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72320" y="1121819"/>
                  <a:ext cx="2537352" cy="369332"/>
                </a:xfrm>
                <a:prstGeom prst="rect">
                  <a:avLst/>
                </a:prstGeom>
                <a:blipFill>
                  <a:blip r:embed="rId15"/>
                  <a:stretch>
                    <a:fillRect t="-6667" b="-26667"/>
                  </a:stretch>
                </a:blipFill>
                <a:ln w="12700">
                  <a:noFill/>
                </a:ln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3" name="グループ化 82">
              <a:extLst>
                <a:ext uri="{FF2B5EF4-FFF2-40B4-BE49-F238E27FC236}">
                  <a16:creationId xmlns:a16="http://schemas.microsoft.com/office/drawing/2014/main" id="{15D5CDB4-B727-7E9B-2C81-27CEC0DA88BC}"/>
                </a:ext>
              </a:extLst>
            </p:cNvPr>
            <p:cNvGrpSpPr/>
            <p:nvPr/>
          </p:nvGrpSpPr>
          <p:grpSpPr>
            <a:xfrm>
              <a:off x="6504951" y="3522795"/>
              <a:ext cx="2278921" cy="1760594"/>
              <a:chOff x="705731" y="4186562"/>
              <a:chExt cx="2850952" cy="2202520"/>
            </a:xfrm>
          </p:grpSpPr>
          <p:sp>
            <p:nvSpPr>
              <p:cNvPr id="84" name="爆発: 14 pt 16">
                <a:extLst>
                  <a:ext uri="{FF2B5EF4-FFF2-40B4-BE49-F238E27FC236}">
                    <a16:creationId xmlns:a16="http://schemas.microsoft.com/office/drawing/2014/main" id="{DC39CA81-4731-50D9-C557-E75A812A7722}"/>
                  </a:ext>
                </a:extLst>
              </p:cNvPr>
              <p:cNvSpPr/>
              <p:nvPr/>
            </p:nvSpPr>
            <p:spPr>
              <a:xfrm>
                <a:off x="3296787" y="5183947"/>
                <a:ext cx="207750" cy="207750"/>
              </a:xfrm>
              <a:prstGeom prst="irregularSeal2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85" name="図 84" descr="図形&#10;&#10;中程度の精度で自動的に生成された説明">
                <a:extLst>
                  <a:ext uri="{FF2B5EF4-FFF2-40B4-BE49-F238E27FC236}">
                    <a16:creationId xmlns:a16="http://schemas.microsoft.com/office/drawing/2014/main" id="{9B880E4E-6FA7-9474-6827-BCF2ED2E00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05731" y="4186562"/>
                <a:ext cx="2850952" cy="2202520"/>
              </a:xfrm>
              <a:prstGeom prst="rect">
                <a:avLst/>
              </a:prstGeom>
            </p:spPr>
          </p:pic>
        </p:grpSp>
        <p:grpSp>
          <p:nvGrpSpPr>
            <p:cNvPr id="86" name="グループ化 85">
              <a:extLst>
                <a:ext uri="{FF2B5EF4-FFF2-40B4-BE49-F238E27FC236}">
                  <a16:creationId xmlns:a16="http://schemas.microsoft.com/office/drawing/2014/main" id="{4782C0D9-C85B-3932-8E9D-0FDAD4AB3E05}"/>
                </a:ext>
              </a:extLst>
            </p:cNvPr>
            <p:cNvGrpSpPr/>
            <p:nvPr/>
          </p:nvGrpSpPr>
          <p:grpSpPr>
            <a:xfrm>
              <a:off x="6466691" y="1810293"/>
              <a:ext cx="2205666" cy="1515344"/>
              <a:chOff x="641352" y="2052084"/>
              <a:chExt cx="2759310" cy="1895710"/>
            </a:xfrm>
          </p:grpSpPr>
          <p:sp>
            <p:nvSpPr>
              <p:cNvPr id="87" name="爆発: 14 pt 15">
                <a:extLst>
                  <a:ext uri="{FF2B5EF4-FFF2-40B4-BE49-F238E27FC236}">
                    <a16:creationId xmlns:a16="http://schemas.microsoft.com/office/drawing/2014/main" id="{110B9FA2-04C1-4CA5-9740-65010C467A84}"/>
                  </a:ext>
                </a:extLst>
              </p:cNvPr>
              <p:cNvSpPr/>
              <p:nvPr/>
            </p:nvSpPr>
            <p:spPr>
              <a:xfrm>
                <a:off x="2997361" y="2884553"/>
                <a:ext cx="207750" cy="207750"/>
              </a:xfrm>
              <a:prstGeom prst="irregularSeal2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88" name="図 87" descr="図形&#10;&#10;低い精度で自動的に生成された説明">
                <a:extLst>
                  <a:ext uri="{FF2B5EF4-FFF2-40B4-BE49-F238E27FC236}">
                    <a16:creationId xmlns:a16="http://schemas.microsoft.com/office/drawing/2014/main" id="{85E6AE90-57C6-F2BB-4087-8FD22192C5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41352" y="2052084"/>
                <a:ext cx="2759310" cy="1895710"/>
              </a:xfrm>
              <a:prstGeom prst="rect">
                <a:avLst/>
              </a:prstGeom>
            </p:spPr>
          </p:pic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テキスト ボックス 88">
                  <a:extLst>
                    <a:ext uri="{FF2B5EF4-FFF2-40B4-BE49-F238E27FC236}">
                      <a16:creationId xmlns:a16="http://schemas.microsoft.com/office/drawing/2014/main" id="{7942B9DC-1AE6-EFD4-819F-231DA63D72D1}"/>
                    </a:ext>
                  </a:extLst>
                </p:cNvPr>
                <p:cNvSpPr txBox="1"/>
                <p:nvPr/>
              </p:nvSpPr>
              <p:spPr>
                <a:xfrm>
                  <a:off x="6152338" y="1458871"/>
                  <a:ext cx="103893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600" i="1" u="sng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kumimoji="1" lang="en-US" altLang="ja-JP" sz="1600" b="0" i="1" u="sng" smtClean="0">
                            <a:latin typeface="Cambria Math" panose="02040503050406030204" pitchFamily="18" charset="0"/>
                          </a:rPr>
                          <m:t>=93 </m:t>
                        </m:r>
                        <m:r>
                          <m:rPr>
                            <m:sty m:val="p"/>
                          </m:rPr>
                          <a:rPr kumimoji="1" lang="en-US" altLang="ja-JP" sz="1600" b="0" i="0" u="sng" smtClean="0">
                            <a:latin typeface="Cambria Math" panose="02040503050406030204" pitchFamily="18" charset="0"/>
                          </a:rPr>
                          <m:t>K</m:t>
                        </m:r>
                      </m:oMath>
                    </m:oMathPara>
                  </a14:m>
                  <a:endParaRPr kumimoji="1" lang="ja-JP" altLang="en-US" sz="1600" u="sng" dirty="0"/>
                </a:p>
              </p:txBody>
            </p:sp>
          </mc:Choice>
          <mc:Fallback xmlns="">
            <p:sp>
              <p:nvSpPr>
                <p:cNvPr id="89" name="テキスト ボックス 88">
                  <a:extLst>
                    <a:ext uri="{FF2B5EF4-FFF2-40B4-BE49-F238E27FC236}">
                      <a16:creationId xmlns:a16="http://schemas.microsoft.com/office/drawing/2014/main" id="{7942B9DC-1AE6-EFD4-819F-231DA63D72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52338" y="1458871"/>
                  <a:ext cx="1038938" cy="338554"/>
                </a:xfrm>
                <a:prstGeom prst="rect">
                  <a:avLst/>
                </a:prstGeom>
                <a:blipFill>
                  <a:blip r:embed="rId17"/>
                  <a:stretch>
                    <a:fillRect b="-1071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テキスト ボックス 89">
                  <a:extLst>
                    <a:ext uri="{FF2B5EF4-FFF2-40B4-BE49-F238E27FC236}">
                      <a16:creationId xmlns:a16="http://schemas.microsoft.com/office/drawing/2014/main" id="{EE5E9413-B897-A88C-3DF8-715B5E0E5E57}"/>
                    </a:ext>
                  </a:extLst>
                </p:cNvPr>
                <p:cNvSpPr txBox="1"/>
                <p:nvPr/>
              </p:nvSpPr>
              <p:spPr>
                <a:xfrm>
                  <a:off x="6154601" y="3299137"/>
                  <a:ext cx="1152751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600" i="1" u="sng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kumimoji="1" lang="en-US" altLang="ja-JP" sz="1600" b="0" i="1" u="sng" smtClean="0">
                            <a:latin typeface="Cambria Math" panose="02040503050406030204" pitchFamily="18" charset="0"/>
                          </a:rPr>
                          <m:t>=213 </m:t>
                        </m:r>
                        <m:r>
                          <m:rPr>
                            <m:sty m:val="p"/>
                          </m:rPr>
                          <a:rPr kumimoji="1" lang="en-US" altLang="ja-JP" sz="1600" b="0" i="0" u="sng" smtClean="0">
                            <a:latin typeface="Cambria Math" panose="02040503050406030204" pitchFamily="18" charset="0"/>
                          </a:rPr>
                          <m:t>K</m:t>
                        </m:r>
                      </m:oMath>
                    </m:oMathPara>
                  </a14:m>
                  <a:endParaRPr kumimoji="1" lang="ja-JP" altLang="en-US" sz="1600" u="sng" dirty="0"/>
                </a:p>
              </p:txBody>
            </p:sp>
          </mc:Choice>
          <mc:Fallback xmlns="">
            <p:sp>
              <p:nvSpPr>
                <p:cNvPr id="90" name="テキスト ボックス 89">
                  <a:extLst>
                    <a:ext uri="{FF2B5EF4-FFF2-40B4-BE49-F238E27FC236}">
                      <a16:creationId xmlns:a16="http://schemas.microsoft.com/office/drawing/2014/main" id="{EE5E9413-B897-A88C-3DF8-715B5E0E5E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54601" y="3299137"/>
                  <a:ext cx="1152751" cy="338554"/>
                </a:xfrm>
                <a:prstGeom prst="rect">
                  <a:avLst/>
                </a:prstGeom>
                <a:blipFill>
                  <a:blip r:embed="rId18"/>
                  <a:stretch>
                    <a:fillRect b="-1071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1" name="右矢印 23">
              <a:extLst>
                <a:ext uri="{FF2B5EF4-FFF2-40B4-BE49-F238E27FC236}">
                  <a16:creationId xmlns:a16="http://schemas.microsoft.com/office/drawing/2014/main" id="{8ED839B8-12F1-32EA-0B6D-24418FA2CB57}"/>
                </a:ext>
              </a:extLst>
            </p:cNvPr>
            <p:cNvSpPr/>
            <p:nvPr/>
          </p:nvSpPr>
          <p:spPr>
            <a:xfrm rot="5400000">
              <a:off x="7552035" y="3193328"/>
              <a:ext cx="211333" cy="470845"/>
            </a:xfrm>
            <a:prstGeom prst="rightArrow">
              <a:avLst/>
            </a:prstGeom>
            <a:solidFill>
              <a:srgbClr val="A9B5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93" name="テキスト ボックス 92">
            <a:extLst>
              <a:ext uri="{FF2B5EF4-FFF2-40B4-BE49-F238E27FC236}">
                <a16:creationId xmlns:a16="http://schemas.microsoft.com/office/drawing/2014/main" id="{772CC896-9D0D-D3CB-5481-A8E1AACF303B}"/>
              </a:ext>
            </a:extLst>
          </p:cNvPr>
          <p:cNvSpPr txBox="1"/>
          <p:nvPr/>
        </p:nvSpPr>
        <p:spPr>
          <a:xfrm>
            <a:off x="1448166" y="5415647"/>
            <a:ext cx="631846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" altLang="ja-JP" sz="2000" b="0" i="0" dirty="0">
                <a:effectLst/>
                <a:latin typeface="+mj-ea"/>
                <a:ea typeface="+mj-ea"/>
              </a:rPr>
              <a:t>Consider the main factors </a:t>
            </a:r>
            <a:br>
              <a:rPr lang="en" altLang="ja-JP" sz="2000" b="0" i="0" dirty="0">
                <a:effectLst/>
                <a:latin typeface="+mj-ea"/>
                <a:ea typeface="+mj-ea"/>
              </a:rPr>
            </a:br>
            <a:r>
              <a:rPr lang="en" altLang="ja-JP" sz="2000" b="0" i="0" dirty="0">
                <a:effectLst/>
                <a:latin typeface="+mj-ea"/>
                <a:ea typeface="+mj-ea"/>
              </a:rPr>
              <a:t>by checking four separate components</a:t>
            </a:r>
            <a:br>
              <a:rPr kumimoji="1" lang="en-US" altLang="ja-JP" sz="2000" u="sng" dirty="0">
                <a:latin typeface="+mj-ea"/>
                <a:ea typeface="+mj-ea"/>
              </a:rPr>
            </a:br>
            <a:r>
              <a:rPr kumimoji="1" lang="en-US" altLang="ja-JP" sz="2000" u="sng" dirty="0">
                <a:latin typeface="+mj-ea"/>
                <a:ea typeface="+mj-ea"/>
              </a:rPr>
              <a:t>①Macrocrack</a:t>
            </a:r>
            <a:r>
              <a:rPr kumimoji="1" lang="en-US" altLang="ja-JP" sz="2000" dirty="0">
                <a:latin typeface="+mj-ea"/>
                <a:ea typeface="+mj-ea"/>
              </a:rPr>
              <a:t>, </a:t>
            </a:r>
            <a:r>
              <a:rPr kumimoji="1" lang="en-US" altLang="ja-JP" sz="2000" u="sng" dirty="0">
                <a:latin typeface="+mj-ea"/>
                <a:ea typeface="+mj-ea"/>
              </a:rPr>
              <a:t>②Macro dislocations</a:t>
            </a:r>
            <a:r>
              <a:rPr kumimoji="1" lang="en-US" altLang="ja-JP" sz="2000" dirty="0">
                <a:latin typeface="+mj-ea"/>
                <a:ea typeface="+mj-ea"/>
              </a:rPr>
              <a:t>,</a:t>
            </a:r>
            <a:br>
              <a:rPr kumimoji="1" lang="en-US" altLang="ja-JP" sz="2000" dirty="0">
                <a:latin typeface="+mj-ea"/>
                <a:ea typeface="+mj-ea"/>
              </a:rPr>
            </a:br>
            <a:r>
              <a:rPr kumimoji="1" lang="en-US" altLang="ja-JP" sz="2000" u="sng" dirty="0">
                <a:latin typeface="+mj-ea"/>
                <a:ea typeface="+mj-ea"/>
              </a:rPr>
              <a:t>③Micro dislocation</a:t>
            </a:r>
            <a:r>
              <a:rPr lang="en-US" altLang="ja-JP" sz="2000" u="sng" dirty="0">
                <a:latin typeface="+mj-ea"/>
                <a:ea typeface="+mj-ea"/>
              </a:rPr>
              <a:t>s near</a:t>
            </a:r>
            <a:r>
              <a:rPr lang="en-US" altLang="ja-JP" sz="2000" dirty="0">
                <a:latin typeface="+mj-ea"/>
                <a:ea typeface="+mj-ea"/>
              </a:rPr>
              <a:t>, </a:t>
            </a:r>
            <a:r>
              <a:rPr lang="ja-JP" altLang="en-US" sz="2000" u="sng">
                <a:latin typeface="+mj-ea"/>
                <a:ea typeface="+mj-ea"/>
              </a:rPr>
              <a:t>④</a:t>
            </a:r>
            <a:r>
              <a:rPr lang="en-US" altLang="ja-JP" sz="2000" u="sng" dirty="0">
                <a:latin typeface="+mj-ea"/>
                <a:ea typeface="+mj-ea"/>
              </a:rPr>
              <a:t>Micro dislocations far</a:t>
            </a:r>
            <a:endParaRPr kumimoji="1" lang="en-US" altLang="ja-JP" sz="2000" u="sng" dirty="0">
              <a:latin typeface="+mj-ea"/>
              <a:ea typeface="+mj-ea"/>
            </a:endParaRPr>
          </a:p>
        </p:txBody>
      </p:sp>
      <p:cxnSp>
        <p:nvCxnSpPr>
          <p:cNvPr id="94" name="直線コネクタ 93">
            <a:extLst>
              <a:ext uri="{FF2B5EF4-FFF2-40B4-BE49-F238E27FC236}">
                <a16:creationId xmlns:a16="http://schemas.microsoft.com/office/drawing/2014/main" id="{268B0A92-5339-8997-9462-B356EDA7757B}"/>
              </a:ext>
            </a:extLst>
          </p:cNvPr>
          <p:cNvCxnSpPr>
            <a:cxnSpLocks/>
          </p:cNvCxnSpPr>
          <p:nvPr/>
        </p:nvCxnSpPr>
        <p:spPr>
          <a:xfrm>
            <a:off x="3068632" y="1200651"/>
            <a:ext cx="0" cy="4151894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コネクタ 96">
            <a:extLst>
              <a:ext uri="{FF2B5EF4-FFF2-40B4-BE49-F238E27FC236}">
                <a16:creationId xmlns:a16="http://schemas.microsoft.com/office/drawing/2014/main" id="{14184133-21E4-337D-62A8-E13E96AFAA5E}"/>
              </a:ext>
            </a:extLst>
          </p:cNvPr>
          <p:cNvCxnSpPr>
            <a:cxnSpLocks/>
          </p:cNvCxnSpPr>
          <p:nvPr/>
        </p:nvCxnSpPr>
        <p:spPr>
          <a:xfrm>
            <a:off x="6115624" y="1200651"/>
            <a:ext cx="0" cy="4143474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37439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プレースホルダー 2">
                <a:extLst>
                  <a:ext uri="{FF2B5EF4-FFF2-40B4-BE49-F238E27FC236}">
                    <a16:creationId xmlns:a16="http://schemas.microsoft.com/office/drawing/2014/main" id="{49541148-69B7-EFF8-0EC1-47B63D95C5E3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0" y="798955"/>
                <a:ext cx="5652423" cy="3066370"/>
              </a:xfrm>
            </p:spPr>
            <p:txBody>
              <a:bodyPr/>
              <a:lstStyle/>
              <a:p>
                <a:r>
                  <a:rPr kumimoji="1" lang="en-US" altLang="ja-JP" dirty="0"/>
                  <a:t>Temperature </a:t>
                </a:r>
                <a14:m>
                  <m:oMath xmlns:m="http://schemas.openxmlformats.org/officeDocument/2006/math">
                    <m:r>
                      <a:rPr kumimoji="1" lang="en-US" altLang="ja-JP" b="1" i="1" smtClean="0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endParaRPr kumimoji="1" lang="en-US" altLang="ja-JP" dirty="0"/>
              </a:p>
            </p:txBody>
          </p:sp>
        </mc:Choice>
        <mc:Fallback xmlns="">
          <p:sp>
            <p:nvSpPr>
              <p:cNvPr id="3" name="テキスト プレースホルダー 2">
                <a:extLst>
                  <a:ext uri="{FF2B5EF4-FFF2-40B4-BE49-F238E27FC236}">
                    <a16:creationId xmlns:a16="http://schemas.microsoft.com/office/drawing/2014/main" id="{49541148-69B7-EFF8-0EC1-47B63D95C5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0" y="798955"/>
                <a:ext cx="5652423" cy="3066370"/>
              </a:xfrm>
              <a:blipFill>
                <a:blip r:embed="rId2"/>
                <a:stretch>
                  <a:fillRect l="-3820" t="-9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タイトル 1">
            <a:extLst>
              <a:ext uri="{FF2B5EF4-FFF2-40B4-BE49-F238E27FC236}">
                <a16:creationId xmlns:a16="http://schemas.microsoft.com/office/drawing/2014/main" id="{3538F436-DD3F-A9D9-F0C0-2DFD862A6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Main factors</a:t>
            </a:r>
            <a:r>
              <a:rPr kumimoji="1" lang="en-US" altLang="ja-JP" dirty="0"/>
              <a:t> that shift the type of fracture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51C37FD-1200-6667-5870-4A4DBAE6C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F6909-ABCB-BB45-AC56-A8377246EBB2}" type="slidenum">
              <a:rPr lang="ja-JP" altLang="en-US" smtClean="0"/>
              <a:pPr/>
              <a:t>14</a:t>
            </a:fld>
            <a:endParaRPr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24CDCB6-8180-F773-A87C-622EF9B33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Tokyo University of Science - Computational Materials Science Laboratory -</a:t>
            </a:r>
            <a:endParaRPr lang="ja-JP" altLang="en-US" dirty="0"/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ACCBCB66-C707-C5C9-CCC1-3D68DAB65090}"/>
              </a:ext>
            </a:extLst>
          </p:cNvPr>
          <p:cNvGrpSpPr/>
          <p:nvPr/>
        </p:nvGrpSpPr>
        <p:grpSpPr>
          <a:xfrm>
            <a:off x="227356" y="4253263"/>
            <a:ext cx="2850952" cy="2202520"/>
            <a:chOff x="705731" y="4186562"/>
            <a:chExt cx="2850952" cy="2202520"/>
          </a:xfrm>
        </p:grpSpPr>
        <p:sp>
          <p:nvSpPr>
            <p:cNvPr id="7" name="爆発: 14 pt 16">
              <a:extLst>
                <a:ext uri="{FF2B5EF4-FFF2-40B4-BE49-F238E27FC236}">
                  <a16:creationId xmlns:a16="http://schemas.microsoft.com/office/drawing/2014/main" id="{4DABFE07-BAC4-A942-069A-781FDE54EF43}"/>
                </a:ext>
              </a:extLst>
            </p:cNvPr>
            <p:cNvSpPr/>
            <p:nvPr/>
          </p:nvSpPr>
          <p:spPr>
            <a:xfrm>
              <a:off x="3296787" y="5183947"/>
              <a:ext cx="207750" cy="207750"/>
            </a:xfrm>
            <a:prstGeom prst="irregularSeal2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8" name="図 7" descr="図形&#10;&#10;中程度の精度で自動的に生成された説明">
              <a:extLst>
                <a:ext uri="{FF2B5EF4-FFF2-40B4-BE49-F238E27FC236}">
                  <a16:creationId xmlns:a16="http://schemas.microsoft.com/office/drawing/2014/main" id="{52A8AEC9-C123-BA4F-C1DD-729E31D71A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5731" y="4186562"/>
              <a:ext cx="2850952" cy="2202520"/>
            </a:xfrm>
            <a:prstGeom prst="rect">
              <a:avLst/>
            </a:prstGeom>
          </p:spPr>
        </p:pic>
      </p:grp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5F18BC4B-289B-5E6D-B40D-E215B7C28259}"/>
              </a:ext>
            </a:extLst>
          </p:cNvPr>
          <p:cNvGrpSpPr/>
          <p:nvPr/>
        </p:nvGrpSpPr>
        <p:grpSpPr>
          <a:xfrm>
            <a:off x="217952" y="1743929"/>
            <a:ext cx="2759310" cy="1895710"/>
            <a:chOff x="641352" y="2052084"/>
            <a:chExt cx="2759310" cy="1895710"/>
          </a:xfrm>
        </p:grpSpPr>
        <p:sp>
          <p:nvSpPr>
            <p:cNvPr id="11" name="爆発: 14 pt 15">
              <a:extLst>
                <a:ext uri="{FF2B5EF4-FFF2-40B4-BE49-F238E27FC236}">
                  <a16:creationId xmlns:a16="http://schemas.microsoft.com/office/drawing/2014/main" id="{1760CB55-FEA8-895E-BE1E-D62244F42FCD}"/>
                </a:ext>
              </a:extLst>
            </p:cNvPr>
            <p:cNvSpPr/>
            <p:nvPr/>
          </p:nvSpPr>
          <p:spPr>
            <a:xfrm>
              <a:off x="2997361" y="2884553"/>
              <a:ext cx="207750" cy="207750"/>
            </a:xfrm>
            <a:prstGeom prst="irregularSeal2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2" name="図 11" descr="図形&#10;&#10;低い精度で自動的に生成された説明">
              <a:extLst>
                <a:ext uri="{FF2B5EF4-FFF2-40B4-BE49-F238E27FC236}">
                  <a16:creationId xmlns:a16="http://schemas.microsoft.com/office/drawing/2014/main" id="{1C520846-3E48-5F74-90D4-785E531E3A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1352" y="2052084"/>
              <a:ext cx="2759310" cy="1895710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31E95ED2-44F3-D069-19DD-C1CAC1EA21EE}"/>
                  </a:ext>
                </a:extLst>
              </p:cNvPr>
              <p:cNvSpPr txBox="1"/>
              <p:nvPr/>
            </p:nvSpPr>
            <p:spPr>
              <a:xfrm>
                <a:off x="104152" y="1374597"/>
                <a:ext cx="11585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i="1" u="sng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kumimoji="1" lang="en-US" altLang="ja-JP" b="0" i="1" u="sng" smtClean="0">
                          <a:latin typeface="Cambria Math" panose="02040503050406030204" pitchFamily="18" charset="0"/>
                        </a:rPr>
                        <m:t>=93 </m:t>
                      </m:r>
                      <m:r>
                        <m:rPr>
                          <m:sty m:val="p"/>
                        </m:rPr>
                        <a:rPr kumimoji="1" lang="en-US" altLang="ja-JP" b="0" i="0" u="sng" smtClean="0">
                          <a:latin typeface="Cambria Math" panose="02040503050406030204" pitchFamily="18" charset="0"/>
                        </a:rPr>
                        <m:t>K</m:t>
                      </m:r>
                    </m:oMath>
                  </m:oMathPara>
                </a14:m>
                <a:endParaRPr kumimoji="1" lang="ja-JP" altLang="en-US" u="sng" dirty="0"/>
              </a:p>
            </p:txBody>
          </p:sp>
        </mc:Choice>
        <mc:Fallback xmlns="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31E95ED2-44F3-D069-19DD-C1CAC1EA21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52" y="1374597"/>
                <a:ext cx="1158522" cy="369332"/>
              </a:xfrm>
              <a:prstGeom prst="rect">
                <a:avLst/>
              </a:prstGeom>
              <a:blipFill>
                <a:blip r:embed="rId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B023D71E-F944-0EE6-A365-ED0908782110}"/>
                  </a:ext>
                </a:extLst>
              </p:cNvPr>
              <p:cNvSpPr txBox="1"/>
              <p:nvPr/>
            </p:nvSpPr>
            <p:spPr>
              <a:xfrm>
                <a:off x="151886" y="4027577"/>
                <a:ext cx="12867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i="1" u="sng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kumimoji="1" lang="en-US" altLang="ja-JP" b="0" i="1" u="sng" smtClean="0">
                          <a:latin typeface="Cambria Math" panose="02040503050406030204" pitchFamily="18" charset="0"/>
                        </a:rPr>
                        <m:t>=213 </m:t>
                      </m:r>
                      <m:r>
                        <m:rPr>
                          <m:sty m:val="p"/>
                        </m:rPr>
                        <a:rPr kumimoji="1" lang="en-US" altLang="ja-JP" b="0" i="0" u="sng" smtClean="0">
                          <a:latin typeface="Cambria Math" panose="02040503050406030204" pitchFamily="18" charset="0"/>
                        </a:rPr>
                        <m:t>K</m:t>
                      </m:r>
                    </m:oMath>
                  </m:oMathPara>
                </a14:m>
                <a:endParaRPr kumimoji="1" lang="ja-JP" altLang="en-US" u="sng" dirty="0"/>
              </a:p>
            </p:txBody>
          </p:sp>
        </mc:Choice>
        <mc:Fallback xmlns="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B023D71E-F944-0EE6-A365-ED09087821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886" y="4027577"/>
                <a:ext cx="1286763" cy="369332"/>
              </a:xfrm>
              <a:prstGeom prst="rect">
                <a:avLst/>
              </a:prstGeom>
              <a:blipFill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右矢印 23">
            <a:extLst>
              <a:ext uri="{FF2B5EF4-FFF2-40B4-BE49-F238E27FC236}">
                <a16:creationId xmlns:a16="http://schemas.microsoft.com/office/drawing/2014/main" id="{CAFF26FC-B66E-B2C1-A01B-80D72E59CD85}"/>
              </a:ext>
            </a:extLst>
          </p:cNvPr>
          <p:cNvSpPr/>
          <p:nvPr/>
        </p:nvSpPr>
        <p:spPr>
          <a:xfrm rot="5400000">
            <a:off x="1635990" y="3420896"/>
            <a:ext cx="356267" cy="793753"/>
          </a:xfrm>
          <a:prstGeom prst="rightArrow">
            <a:avLst/>
          </a:prstGeom>
          <a:solidFill>
            <a:srgbClr val="A9B5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3CF1AC5F-A0B4-8A51-7AB6-160B0834BBB8}"/>
                  </a:ext>
                </a:extLst>
              </p:cNvPr>
              <p:cNvSpPr txBox="1"/>
              <p:nvPr/>
            </p:nvSpPr>
            <p:spPr>
              <a:xfrm>
                <a:off x="4908992" y="1515505"/>
                <a:ext cx="105798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600" b="0" i="1" u="sng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kumimoji="1" lang="en-US" altLang="ja-JP" sz="1600" b="0" i="1" u="sng" smtClean="0">
                          <a:latin typeface="Cambria Math" panose="02040503050406030204" pitchFamily="18" charset="0"/>
                        </a:rPr>
                        <m:t>=93 </m:t>
                      </m:r>
                      <m:r>
                        <m:rPr>
                          <m:sty m:val="p"/>
                        </m:rPr>
                        <a:rPr kumimoji="1" lang="en-US" altLang="ja-JP" sz="1600" b="0" i="0" u="sng" smtClean="0">
                          <a:latin typeface="Cambria Math" panose="02040503050406030204" pitchFamily="18" charset="0"/>
                        </a:rPr>
                        <m:t>K</m:t>
                      </m:r>
                    </m:oMath>
                  </m:oMathPara>
                </a14:m>
                <a:endParaRPr kumimoji="1" lang="ja-JP" altLang="en-US" sz="1600" u="sng" dirty="0"/>
              </a:p>
            </p:txBody>
          </p:sp>
        </mc:Choice>
        <mc:Fallback xmlns="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3CF1AC5F-A0B4-8A51-7AB6-160B0834BB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8992" y="1515505"/>
                <a:ext cx="1057982" cy="338554"/>
              </a:xfrm>
              <a:prstGeom prst="rect">
                <a:avLst/>
              </a:prstGeom>
              <a:blipFill>
                <a:blip r:embed="rId7"/>
                <a:stretch>
                  <a:fillRect b="-1481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テキスト ボックス 36">
                <a:extLst>
                  <a:ext uri="{FF2B5EF4-FFF2-40B4-BE49-F238E27FC236}">
                    <a16:creationId xmlns:a16="http://schemas.microsoft.com/office/drawing/2014/main" id="{8A9D360B-C22F-6849-8A0D-31802182F3AE}"/>
                  </a:ext>
                </a:extLst>
              </p:cNvPr>
              <p:cNvSpPr txBox="1"/>
              <p:nvPr/>
            </p:nvSpPr>
            <p:spPr>
              <a:xfrm>
                <a:off x="7547824" y="1515505"/>
                <a:ext cx="115275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600" b="0" i="1" u="sng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kumimoji="1" lang="en-US" altLang="ja-JP" sz="1600" b="0" i="1" u="sng" smtClean="0">
                          <a:latin typeface="Cambria Math" panose="02040503050406030204" pitchFamily="18" charset="0"/>
                        </a:rPr>
                        <m:t>=213 </m:t>
                      </m:r>
                      <m:r>
                        <m:rPr>
                          <m:sty m:val="p"/>
                        </m:rPr>
                        <a:rPr kumimoji="1" lang="en-US" altLang="ja-JP" sz="1600" b="0" i="0" u="sng" smtClean="0">
                          <a:latin typeface="Cambria Math" panose="02040503050406030204" pitchFamily="18" charset="0"/>
                        </a:rPr>
                        <m:t>K</m:t>
                      </m:r>
                    </m:oMath>
                  </m:oMathPara>
                </a14:m>
                <a:endParaRPr kumimoji="1" lang="ja-JP" altLang="en-US" sz="1600" u="sng" dirty="0"/>
              </a:p>
            </p:txBody>
          </p:sp>
        </mc:Choice>
        <mc:Fallback xmlns="">
          <p:sp>
            <p:nvSpPr>
              <p:cNvPr id="37" name="テキスト ボックス 36">
                <a:extLst>
                  <a:ext uri="{FF2B5EF4-FFF2-40B4-BE49-F238E27FC236}">
                    <a16:creationId xmlns:a16="http://schemas.microsoft.com/office/drawing/2014/main" id="{8A9D360B-C22F-6849-8A0D-31802182F3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7824" y="1515505"/>
                <a:ext cx="1152751" cy="338554"/>
              </a:xfrm>
              <a:prstGeom prst="rect">
                <a:avLst/>
              </a:prstGeom>
              <a:blipFill>
                <a:blip r:embed="rId8"/>
                <a:stretch>
                  <a:fillRect b="-1481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右矢印 23">
            <a:extLst>
              <a:ext uri="{FF2B5EF4-FFF2-40B4-BE49-F238E27FC236}">
                <a16:creationId xmlns:a16="http://schemas.microsoft.com/office/drawing/2014/main" id="{439557D9-D4A3-ECC1-618A-FA1F5C006D43}"/>
              </a:ext>
            </a:extLst>
          </p:cNvPr>
          <p:cNvSpPr/>
          <p:nvPr/>
        </p:nvSpPr>
        <p:spPr>
          <a:xfrm>
            <a:off x="5996547" y="2472651"/>
            <a:ext cx="280025" cy="623889"/>
          </a:xfrm>
          <a:prstGeom prst="rightArrow">
            <a:avLst/>
          </a:prstGeom>
          <a:solidFill>
            <a:srgbClr val="A9B5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9" name="図 28" descr="グラフ, 散布図&#10;&#10;自動的に生成された説明">
            <a:extLst>
              <a:ext uri="{FF2B5EF4-FFF2-40B4-BE49-F238E27FC236}">
                <a16:creationId xmlns:a16="http://schemas.microsoft.com/office/drawing/2014/main" id="{026B146C-4198-C22E-933E-9D411F24381F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1246"/>
          <a:stretch/>
        </p:blipFill>
        <p:spPr>
          <a:xfrm>
            <a:off x="6156616" y="1399319"/>
            <a:ext cx="2703667" cy="2959338"/>
          </a:xfrm>
          <a:prstGeom prst="rect">
            <a:avLst/>
          </a:prstGeom>
        </p:spPr>
      </p:pic>
      <p:pic>
        <p:nvPicPr>
          <p:cNvPr id="31" name="図 30" descr="グラフ, 散布図&#10;&#10;自動的に生成された説明">
            <a:extLst>
              <a:ext uri="{FF2B5EF4-FFF2-40B4-BE49-F238E27FC236}">
                <a16:creationId xmlns:a16="http://schemas.microsoft.com/office/drawing/2014/main" id="{0A4BC52E-0FE3-4BF4-2099-DB1B53E55411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55206"/>
          <a:stretch/>
        </p:blipFill>
        <p:spPr>
          <a:xfrm>
            <a:off x="2980089" y="1376689"/>
            <a:ext cx="3136413" cy="2970044"/>
          </a:xfrm>
          <a:prstGeom prst="rect">
            <a:avLst/>
          </a:prstGeom>
        </p:spPr>
      </p:pic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99BDCF28-00E2-B9F4-882B-846F1D3FE9A2}"/>
              </a:ext>
            </a:extLst>
          </p:cNvPr>
          <p:cNvSpPr/>
          <p:nvPr/>
        </p:nvSpPr>
        <p:spPr>
          <a:xfrm>
            <a:off x="6208699" y="1598279"/>
            <a:ext cx="974589" cy="280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F9782FBD-3787-D997-3A0A-B109C88760E8}"/>
              </a:ext>
            </a:extLst>
          </p:cNvPr>
          <p:cNvGrpSpPr/>
          <p:nvPr/>
        </p:nvGrpSpPr>
        <p:grpSpPr>
          <a:xfrm>
            <a:off x="3558789" y="4428397"/>
            <a:ext cx="5113290" cy="2092921"/>
            <a:chOff x="4135091" y="4374008"/>
            <a:chExt cx="4783488" cy="2092921"/>
          </a:xfrm>
        </p:grpSpPr>
        <p:sp>
          <p:nvSpPr>
            <p:cNvPr id="36" name="正方形/長方形 35">
              <a:extLst>
                <a:ext uri="{FF2B5EF4-FFF2-40B4-BE49-F238E27FC236}">
                  <a16:creationId xmlns:a16="http://schemas.microsoft.com/office/drawing/2014/main" id="{F3DACA5B-5F7E-8138-3A45-43C8D4266B52}"/>
                </a:ext>
              </a:extLst>
            </p:cNvPr>
            <p:cNvSpPr/>
            <p:nvPr/>
          </p:nvSpPr>
          <p:spPr>
            <a:xfrm>
              <a:off x="4135091" y="4374008"/>
              <a:ext cx="4781553" cy="209292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0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1" name="テキスト プレースホルダー 2">
              <a:extLst>
                <a:ext uri="{FF2B5EF4-FFF2-40B4-BE49-F238E27FC236}">
                  <a16:creationId xmlns:a16="http://schemas.microsoft.com/office/drawing/2014/main" id="{17F3D7C2-4A4A-A361-D585-89F7E1756CCB}"/>
                </a:ext>
              </a:extLst>
            </p:cNvPr>
            <p:cNvSpPr txBox="1">
              <a:spLocks/>
            </p:cNvSpPr>
            <p:nvPr/>
          </p:nvSpPr>
          <p:spPr>
            <a:xfrm>
              <a:off x="4211108" y="4481119"/>
              <a:ext cx="4707471" cy="1281354"/>
            </a:xfrm>
            <a:prstGeom prst="rect">
              <a:avLst/>
            </a:prstGeom>
          </p:spPr>
          <p:txBody>
            <a:bodyPr vert="horz"/>
            <a:lstStyle>
              <a:lvl1pPr marL="342000" indent="-342900" algn="l" defTabSz="914400" rtl="0" eaLnBrk="1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400"/>
                </a:spcAft>
                <a:buClr>
                  <a:schemeClr val="accent6">
                    <a:lumMod val="75000"/>
                  </a:schemeClr>
                </a:buClr>
                <a:buSzPct val="140000"/>
                <a:buFont typeface="ヒラギノ角ゴ ProN W3"/>
                <a:buChar char="|"/>
                <a:defRPr kumimoji="1" sz="2800" b="1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1pPr>
              <a:lvl2pPr marL="741600" indent="-392400" algn="l" defTabSz="914400" rtl="0" eaLnBrk="1" latinLnBrk="0" hangingPunct="1">
                <a:lnSpc>
                  <a:spcPct val="100000"/>
                </a:lnSpc>
                <a:spcBef>
                  <a:spcPts val="225"/>
                </a:spcBef>
                <a:buClr>
                  <a:schemeClr val="accent6">
                    <a:lumMod val="75000"/>
                  </a:schemeClr>
                </a:buClr>
                <a:buSzPct val="75000"/>
                <a:buFont typeface="Wingdings" charset="2"/>
                <a:buChar char="n"/>
                <a:defRPr kumimoji="1" sz="28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2pPr>
              <a:lvl3pPr marL="1143000" indent="-410400" algn="l" defTabSz="914400" rtl="0" eaLnBrk="1" latinLnBrk="0" hangingPunct="1">
                <a:lnSpc>
                  <a:spcPct val="100000"/>
                </a:lnSpc>
                <a:spcBef>
                  <a:spcPts val="25"/>
                </a:spcBef>
                <a:buClr>
                  <a:schemeClr val="accent6">
                    <a:lumMod val="75000"/>
                  </a:schemeClr>
                </a:buClr>
                <a:buSzPct val="120000"/>
                <a:buFont typeface="HiraKakuProN-W3" charset="-128"/>
                <a:buChar char="−"/>
                <a:defRPr kumimoji="1" sz="24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00000"/>
                </a:lnSpc>
                <a:spcBef>
                  <a:spcPts val="25"/>
                </a:spcBef>
                <a:buClr>
                  <a:schemeClr val="accent6">
                    <a:lumMod val="75000"/>
                  </a:schemeClr>
                </a:buClr>
                <a:buFont typeface="Arial"/>
                <a:buChar char="•"/>
                <a:defRPr kumimoji="1" sz="18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00000"/>
                </a:lnSpc>
                <a:spcBef>
                  <a:spcPts val="25"/>
                </a:spcBef>
                <a:buClr>
                  <a:schemeClr val="accent6">
                    <a:lumMod val="75000"/>
                  </a:schemeClr>
                </a:buClr>
                <a:buFont typeface="Arial"/>
                <a:buChar char="•"/>
                <a:defRPr kumimoji="1" sz="18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11150" lvl="2" indent="-311150"/>
              <a:r>
                <a:rPr lang="en-US" altLang="ja-JP" sz="2000" u="sng" dirty="0"/>
                <a:t>Blunted macrocracks cause numerous dislocations to be emitted from microcrack-tip</a:t>
              </a:r>
            </a:p>
            <a:p>
              <a:pPr marL="311150" lvl="2" indent="-311150"/>
              <a:r>
                <a:rPr lang="en-US" altLang="ja-JP" sz="2000" dirty="0"/>
                <a:t>At high temperature, </a:t>
              </a:r>
              <a:r>
                <a:rPr lang="en-US" altLang="ja-JP" sz="2000" dirty="0">
                  <a:solidFill>
                    <a:srgbClr val="FF0000"/>
                  </a:solidFill>
                </a:rPr>
                <a:t>dislocations are emitted easily </a:t>
              </a:r>
              <a:r>
                <a:rPr lang="en-US" altLang="ja-JP" sz="2000" dirty="0"/>
                <a:t>and </a:t>
              </a:r>
              <a:r>
                <a:rPr lang="en-US" altLang="ja-JP" sz="2000" dirty="0">
                  <a:solidFill>
                    <a:srgbClr val="FF0000"/>
                  </a:solidFill>
                </a:rPr>
                <a:t>macrocrack blunts more rapidly</a:t>
              </a:r>
              <a:endParaRPr lang="en-US" altLang="ja-JP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5548943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2AF3949F-8673-2CF9-088F-72B25B8A604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9631"/>
          <a:stretch/>
        </p:blipFill>
        <p:spPr>
          <a:xfrm>
            <a:off x="1191695" y="331671"/>
            <a:ext cx="6398133" cy="51157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タイトル 1">
                <a:extLst>
                  <a:ext uri="{FF2B5EF4-FFF2-40B4-BE49-F238E27FC236}">
                    <a16:creationId xmlns:a16="http://schemas.microsoft.com/office/drawing/2014/main" id="{A966D7EF-02F2-E392-CCB2-806819E5F47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kumimoji="1" lang="en-US" altLang="ja-JP" dirty="0"/>
                  <a:t>Temperature 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2" name="タイトル 1">
                <a:extLst>
                  <a:ext uri="{FF2B5EF4-FFF2-40B4-BE49-F238E27FC236}">
                    <a16:creationId xmlns:a16="http://schemas.microsoft.com/office/drawing/2014/main" id="{A966D7EF-02F2-E392-CCB2-806819E5F4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770" b="-3853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558CA9C-4440-770D-F4F6-AE700F202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F6909-ABCB-BB45-AC56-A8377246EBB2}" type="slidenum">
              <a:rPr lang="ja-JP" altLang="en-US" smtClean="0"/>
              <a:pPr/>
              <a:t>15</a:t>
            </a:fld>
            <a:endParaRPr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1A0DCA4-086F-2EB4-B20E-5F5F83A3C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Tokyo University of Science - Computational Materials Science Laboratory -</a:t>
            </a:r>
            <a:endParaRPr lang="ja-JP" altLang="en-US" dirty="0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A02D91B1-C6A8-FF32-4FEF-C90F90163D40}"/>
              </a:ext>
            </a:extLst>
          </p:cNvPr>
          <p:cNvSpPr/>
          <p:nvPr/>
        </p:nvSpPr>
        <p:spPr>
          <a:xfrm>
            <a:off x="1191695" y="5481262"/>
            <a:ext cx="7304621" cy="11467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400" dirty="0">
                <a:solidFill>
                  <a:schemeClr val="tx1"/>
                </a:solidFill>
                <a:latin typeface="+mn-ea"/>
              </a:rPr>
              <a:t>At high temperature, </a:t>
            </a:r>
            <a:r>
              <a:rPr lang="en-US" altLang="ja-JP" sz="2400" u="sng" dirty="0">
                <a:solidFill>
                  <a:schemeClr val="tx1"/>
                </a:solidFill>
                <a:latin typeface="+mn-ea"/>
              </a:rPr>
              <a:t>microcrack is not subjected to strong tension </a:t>
            </a:r>
            <a:r>
              <a:rPr lang="en-US" altLang="ja-JP" sz="2400" dirty="0">
                <a:solidFill>
                  <a:schemeClr val="tx1"/>
                </a:solidFill>
                <a:latin typeface="+mn-ea"/>
              </a:rPr>
              <a:t>from </a:t>
            </a:r>
            <a:br>
              <a:rPr lang="en-US" altLang="ja-JP" sz="2400" dirty="0">
                <a:solidFill>
                  <a:schemeClr val="tx1"/>
                </a:solidFill>
                <a:latin typeface="+mn-ea"/>
              </a:rPr>
            </a:br>
            <a:r>
              <a:rPr lang="en-US" altLang="ja-JP" sz="2400" u="sng" dirty="0">
                <a:solidFill>
                  <a:schemeClr val="tx1"/>
                </a:solidFill>
                <a:latin typeface="+mn-ea"/>
              </a:rPr>
              <a:t>dislocations emitted from macrocrack</a:t>
            </a:r>
            <a:endParaRPr kumimoji="1" lang="en-US" altLang="ja-JP" sz="2400" u="sng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D83941D0-561C-9159-5F7D-0F699F7659BF}"/>
              </a:ext>
            </a:extLst>
          </p:cNvPr>
          <p:cNvGrpSpPr/>
          <p:nvPr/>
        </p:nvGrpSpPr>
        <p:grpSpPr>
          <a:xfrm rot="10800000">
            <a:off x="2658917" y="4111366"/>
            <a:ext cx="251702" cy="326176"/>
            <a:chOff x="6106498" y="4763929"/>
            <a:chExt cx="251702" cy="326176"/>
          </a:xfrm>
        </p:grpSpPr>
        <p:cxnSp>
          <p:nvCxnSpPr>
            <p:cNvPr id="17" name="直線矢印コネクタ 16">
              <a:extLst>
                <a:ext uri="{FF2B5EF4-FFF2-40B4-BE49-F238E27FC236}">
                  <a16:creationId xmlns:a16="http://schemas.microsoft.com/office/drawing/2014/main" id="{181B1BB5-5030-C32A-DA36-D0B01050B723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6232349" y="4871421"/>
              <a:ext cx="0" cy="111192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円/楕円 17">
              <a:extLst>
                <a:ext uri="{FF2B5EF4-FFF2-40B4-BE49-F238E27FC236}">
                  <a16:creationId xmlns:a16="http://schemas.microsoft.com/office/drawing/2014/main" id="{24B75433-E038-6FC9-19FB-F5CCF3D293DE}"/>
                </a:ext>
              </a:extLst>
            </p:cNvPr>
            <p:cNvSpPr/>
            <p:nvPr/>
          </p:nvSpPr>
          <p:spPr>
            <a:xfrm>
              <a:off x="6106498" y="4763929"/>
              <a:ext cx="251702" cy="326176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A1C68394-26FC-5C3C-2DFF-444F8A3CC728}"/>
              </a:ext>
            </a:extLst>
          </p:cNvPr>
          <p:cNvGrpSpPr/>
          <p:nvPr/>
        </p:nvGrpSpPr>
        <p:grpSpPr>
          <a:xfrm rot="10800000">
            <a:off x="5333341" y="4156545"/>
            <a:ext cx="251702" cy="326176"/>
            <a:chOff x="6106498" y="4797797"/>
            <a:chExt cx="251702" cy="326176"/>
          </a:xfrm>
        </p:grpSpPr>
        <p:cxnSp>
          <p:nvCxnSpPr>
            <p:cNvPr id="22" name="直線矢印コネクタ 21">
              <a:extLst>
                <a:ext uri="{FF2B5EF4-FFF2-40B4-BE49-F238E27FC236}">
                  <a16:creationId xmlns:a16="http://schemas.microsoft.com/office/drawing/2014/main" id="{CA4D48F0-0620-8D06-0426-B7176336CCDA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6232349" y="4913756"/>
              <a:ext cx="0" cy="111192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円/楕円 22">
              <a:extLst>
                <a:ext uri="{FF2B5EF4-FFF2-40B4-BE49-F238E27FC236}">
                  <a16:creationId xmlns:a16="http://schemas.microsoft.com/office/drawing/2014/main" id="{50AD3B34-8128-CF5C-EBC7-FDAE693B8A93}"/>
                </a:ext>
              </a:extLst>
            </p:cNvPr>
            <p:cNvSpPr/>
            <p:nvPr/>
          </p:nvSpPr>
          <p:spPr>
            <a:xfrm>
              <a:off x="6106498" y="4797797"/>
              <a:ext cx="251702" cy="326176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pic>
        <p:nvPicPr>
          <p:cNvPr id="7" name="図 6" descr="ダイアグラム&#10;&#10;自動的に生成された説明">
            <a:extLst>
              <a:ext uri="{FF2B5EF4-FFF2-40B4-BE49-F238E27FC236}">
                <a16:creationId xmlns:a16="http://schemas.microsoft.com/office/drawing/2014/main" id="{07C02EC5-B2B5-7247-2579-61CA69AE464F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270214" y="1654139"/>
            <a:ext cx="1480411" cy="1023096"/>
          </a:xfrm>
          <a:prstGeom prst="rect">
            <a:avLst/>
          </a:prstGeom>
        </p:spPr>
      </p:pic>
      <p:pic>
        <p:nvPicPr>
          <p:cNvPr id="8" name="図 7" descr="時計 が含まれている画像&#10;&#10;自動的に生成された説明">
            <a:extLst>
              <a:ext uri="{FF2B5EF4-FFF2-40B4-BE49-F238E27FC236}">
                <a16:creationId xmlns:a16="http://schemas.microsoft.com/office/drawing/2014/main" id="{328794E5-77F1-1A61-8B8F-ECB513053F38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003732" y="1680232"/>
            <a:ext cx="1480409" cy="916178"/>
          </a:xfrm>
          <a:prstGeom prst="rect">
            <a:avLst/>
          </a:prstGeom>
        </p:spPr>
      </p:pic>
      <p:pic>
        <p:nvPicPr>
          <p:cNvPr id="9" name="図 8" descr="図形, 矢印&#10;&#10;自動的に生成された説明">
            <a:extLst>
              <a:ext uri="{FF2B5EF4-FFF2-40B4-BE49-F238E27FC236}">
                <a16:creationId xmlns:a16="http://schemas.microsoft.com/office/drawing/2014/main" id="{02D4FD08-141D-6720-B323-706B48B2B775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435606" y="3343666"/>
            <a:ext cx="1315019" cy="1023096"/>
          </a:xfrm>
          <a:prstGeom prst="rect">
            <a:avLst/>
          </a:prstGeom>
        </p:spPr>
      </p:pic>
      <p:pic>
        <p:nvPicPr>
          <p:cNvPr id="10" name="図 9" descr="図形, 矢印&#10;&#10;自動的に生成された説明">
            <a:extLst>
              <a:ext uri="{FF2B5EF4-FFF2-40B4-BE49-F238E27FC236}">
                <a16:creationId xmlns:a16="http://schemas.microsoft.com/office/drawing/2014/main" id="{B1DC4125-4C8C-04B3-92D3-0F3C03B94963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950992" y="3394988"/>
            <a:ext cx="1267553" cy="916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9040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タイトル 1">
                <a:extLst>
                  <a:ext uri="{FF2B5EF4-FFF2-40B4-BE49-F238E27FC236}">
                    <a16:creationId xmlns:a16="http://schemas.microsoft.com/office/drawing/2014/main" id="{16F1DFEC-93FC-E6BD-FF87-19F7A40A16F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kumimoji="1" lang="en-US" altLang="ja-JP" dirty="0"/>
                  <a:t>Temperature </a:t>
                </a:r>
                <a14:m>
                  <m:oMath xmlns:m="http://schemas.openxmlformats.org/officeDocument/2006/math">
                    <m:r>
                      <a:rPr kumimoji="1" lang="en-US" altLang="ja-JP" b="0" i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=93 </m:t>
                    </m:r>
                    <m:r>
                      <m:rPr>
                        <m:sty m:val="p"/>
                      </m:rPr>
                      <a:rPr kumimoji="1" lang="en-US" altLang="ja-JP" b="0" i="0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2" name="タイトル 1">
                <a:extLst>
                  <a:ext uri="{FF2B5EF4-FFF2-40B4-BE49-F238E27FC236}">
                    <a16:creationId xmlns:a16="http://schemas.microsoft.com/office/drawing/2014/main" id="{16F1DFEC-93FC-E6BD-FF87-19F7A40A16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4"/>
                <a:stretch>
                  <a:fillRect l="-1700" b="-3584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21C8EE7-6170-36DE-065D-45E457EF3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F6909-ABCB-BB45-AC56-A8377246EBB2}" type="slidenum">
              <a:rPr lang="ja-JP" altLang="en-US" smtClean="0"/>
              <a:pPr/>
              <a:t>16</a:t>
            </a:fld>
            <a:endParaRPr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B275676-35A4-FD82-B75B-21EFD12D5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Tokyo University of Science - Computational Materials Science Laboratory -</a:t>
            </a:r>
            <a:endParaRPr lang="ja-JP" altLang="en-US" dirty="0"/>
          </a:p>
        </p:txBody>
      </p:sp>
      <p:pic>
        <p:nvPicPr>
          <p:cNvPr id="8" name="2DD">
            <a:hlinkClick r:id="" action="ppaction://media"/>
            <a:extLst>
              <a:ext uri="{FF2B5EF4-FFF2-40B4-BE49-F238E27FC236}">
                <a16:creationId xmlns:a16="http://schemas.microsoft.com/office/drawing/2014/main" id="{CA31C8B9-8E2E-30A6-54E4-66B345E355E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75578" y="2605423"/>
            <a:ext cx="3698854" cy="36988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図 14" descr="グラフ, ダイアグラム&#10;&#10;自動的に生成された説明">
            <a:extLst>
              <a:ext uri="{FF2B5EF4-FFF2-40B4-BE49-F238E27FC236}">
                <a16:creationId xmlns:a16="http://schemas.microsoft.com/office/drawing/2014/main" id="{E759BB5D-4048-FBC2-08AE-4C12E631361B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203118" y="2501224"/>
            <a:ext cx="4938998" cy="4166466"/>
          </a:xfrm>
          <a:prstGeom prst="rect">
            <a:avLst/>
          </a:prstGeom>
        </p:spPr>
      </p:pic>
      <p:sp>
        <p:nvSpPr>
          <p:cNvPr id="10" name="テキスト プレースホルダー 2">
            <a:extLst>
              <a:ext uri="{FF2B5EF4-FFF2-40B4-BE49-F238E27FC236}">
                <a16:creationId xmlns:a16="http://schemas.microsoft.com/office/drawing/2014/main" id="{3C1718C4-4F78-461E-1566-1B3DCDC4DA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780" y="782710"/>
            <a:ext cx="7463705" cy="3066370"/>
          </a:xfrm>
        </p:spPr>
        <p:txBody>
          <a:bodyPr/>
          <a:lstStyle/>
          <a:p>
            <a:r>
              <a:rPr lang="en-US" altLang="ja-JP" dirty="0"/>
              <a:t>Effects from dislocations emitted from macrocrack</a:t>
            </a:r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プレースホルダー 2">
                <a:extLst>
                  <a:ext uri="{FF2B5EF4-FFF2-40B4-BE49-F238E27FC236}">
                    <a16:creationId xmlns:a16="http://schemas.microsoft.com/office/drawing/2014/main" id="{A559FCD2-6942-C251-9D38-0F9AE91FE41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651873" y="1786332"/>
                <a:ext cx="7463705" cy="3066370"/>
              </a:xfrm>
              <a:prstGeom prst="rect">
                <a:avLst/>
              </a:prstGeom>
            </p:spPr>
            <p:txBody>
              <a:bodyPr vert="horz"/>
              <a:lstStyle>
                <a:lvl1pPr marL="342000" indent="-342900" algn="l" defTabSz="914400" rtl="0" eaLnBrk="1" latinLnBrk="0" hangingPunct="1">
                  <a:lnSpc>
                    <a:spcPct val="100000"/>
                  </a:lnSpc>
                  <a:spcBef>
                    <a:spcPts val="1800"/>
                  </a:spcBef>
                  <a:spcAft>
                    <a:spcPts val="400"/>
                  </a:spcAft>
                  <a:buClr>
                    <a:schemeClr val="accent6">
                      <a:lumMod val="75000"/>
                    </a:schemeClr>
                  </a:buClr>
                  <a:buSzPct val="140000"/>
                  <a:buFont typeface="ヒラギノ角ゴ ProN W3"/>
                  <a:buChar char="|"/>
                  <a:defRPr kumimoji="1"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1600" indent="-392400" algn="l" defTabSz="914400" rtl="0" eaLnBrk="1" latinLnBrk="0" hangingPunct="1">
                  <a:lnSpc>
                    <a:spcPct val="100000"/>
                  </a:lnSpc>
                  <a:spcBef>
                    <a:spcPts val="225"/>
                  </a:spcBef>
                  <a:buClr>
                    <a:schemeClr val="accent6">
                      <a:lumMod val="75000"/>
                    </a:schemeClr>
                  </a:buClr>
                  <a:buSzPct val="75000"/>
                  <a:buFont typeface="Wingdings" charset="2"/>
                  <a:buChar char="n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410400" algn="l" defTabSz="914400" rtl="0" eaLnBrk="1" latinLnBrk="0" hangingPunct="1">
                  <a:lnSpc>
                    <a:spcPct val="100000"/>
                  </a:lnSpc>
                  <a:spcBef>
                    <a:spcPts val="25"/>
                  </a:spcBef>
                  <a:buClr>
                    <a:schemeClr val="accent6">
                      <a:lumMod val="75000"/>
                    </a:schemeClr>
                  </a:buClr>
                  <a:buSzPct val="120000"/>
                  <a:buFont typeface="HiraKakuProN-W3" charset="-128"/>
                  <a:buChar char="−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00000"/>
                  </a:lnSpc>
                  <a:spcBef>
                    <a:spcPts val="25"/>
                  </a:spcBef>
                  <a:buClr>
                    <a:schemeClr val="accent6">
                      <a:lumMod val="75000"/>
                    </a:schemeClr>
                  </a:buClr>
                  <a:buFont typeface="Arial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00000"/>
                  </a:lnSpc>
                  <a:spcBef>
                    <a:spcPts val="25"/>
                  </a:spcBef>
                  <a:buClr>
                    <a:schemeClr val="accent6">
                      <a:lumMod val="75000"/>
                    </a:schemeClr>
                  </a:buClr>
                  <a:buFont typeface="Arial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2"/>
                <a:r>
                  <a:rPr lang="en-US" altLang="ja-JP" sz="2200" dirty="0">
                    <a:latin typeface="+mj-ea"/>
                    <a:ea typeface="+mj-ea"/>
                  </a:rPr>
                  <a:t>Dislocations working in the </a:t>
                </a:r>
                <a:br>
                  <a:rPr lang="en-US" altLang="ja-JP" sz="2200" dirty="0">
                    <a:latin typeface="+mj-ea"/>
                    <a:ea typeface="+mj-ea"/>
                  </a:rPr>
                </a:br>
                <a:r>
                  <a:rPr lang="en-US" altLang="ja-JP" sz="2200" dirty="0">
                    <a:solidFill>
                      <a:srgbClr val="C00000"/>
                    </a:solidFill>
                    <a:latin typeface="+mj-ea"/>
                    <a:ea typeface="+mj-ea"/>
                  </a:rPr>
                  <a:t>shielding direction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2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ja-JP" sz="22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𝜎</m:t>
                        </m:r>
                      </m:e>
                      <m:sub>
                        <m:r>
                          <a:rPr lang="en-US" altLang="ja-JP" sz="2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𝑦𝑦</m:t>
                        </m:r>
                      </m:sub>
                    </m:sSub>
                    <m:r>
                      <a:rPr lang="en-US" altLang="ja-JP" sz="2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+mj-ea"/>
                      </a:rPr>
                      <m:t>&lt;0)</m:t>
                    </m:r>
                  </m:oMath>
                </a14:m>
                <a:br>
                  <a:rPr lang="en-US" altLang="ja-JP" sz="2200" dirty="0">
                    <a:solidFill>
                      <a:srgbClr val="C00000"/>
                    </a:solidFill>
                    <a:latin typeface="+mj-ea"/>
                    <a:ea typeface="+mj-ea"/>
                  </a:rPr>
                </a:br>
                <a:endParaRPr lang="ja-JP" altLang="en-US" sz="2200"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11" name="テキスト プレースホルダー 2">
                <a:extLst>
                  <a:ext uri="{FF2B5EF4-FFF2-40B4-BE49-F238E27FC236}">
                    <a16:creationId xmlns:a16="http://schemas.microsoft.com/office/drawing/2014/main" id="{A559FCD2-6942-C251-9D38-0F9AE91FE4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51873" y="1786332"/>
                <a:ext cx="7463705" cy="3066370"/>
              </a:xfrm>
              <a:prstGeom prst="rect">
                <a:avLst/>
              </a:prstGeom>
              <a:blipFill>
                <a:blip r:embed="rId7"/>
                <a:stretch>
                  <a:fillRect t="-493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プレースホルダー 2">
                <a:extLst>
                  <a:ext uri="{FF2B5EF4-FFF2-40B4-BE49-F238E27FC236}">
                    <a16:creationId xmlns:a16="http://schemas.microsoft.com/office/drawing/2014/main" id="{ABE5086E-FDC0-B55E-D605-AD79541633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52006" y="1794888"/>
                <a:ext cx="6169861" cy="3066370"/>
              </a:xfrm>
              <a:prstGeom prst="rect">
                <a:avLst/>
              </a:prstGeom>
            </p:spPr>
            <p:txBody>
              <a:bodyPr vert="horz"/>
              <a:lstStyle>
                <a:lvl1pPr marL="342000" indent="-342900" algn="l" defTabSz="914400" rtl="0" eaLnBrk="1" latinLnBrk="0" hangingPunct="1">
                  <a:lnSpc>
                    <a:spcPct val="100000"/>
                  </a:lnSpc>
                  <a:spcBef>
                    <a:spcPts val="1800"/>
                  </a:spcBef>
                  <a:spcAft>
                    <a:spcPts val="400"/>
                  </a:spcAft>
                  <a:buClr>
                    <a:schemeClr val="accent6">
                      <a:lumMod val="75000"/>
                    </a:schemeClr>
                  </a:buClr>
                  <a:buSzPct val="140000"/>
                  <a:buFont typeface="ヒラギノ角ゴ ProN W3"/>
                  <a:buChar char="|"/>
                  <a:defRPr kumimoji="1"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1600" indent="-392400" algn="l" defTabSz="914400" rtl="0" eaLnBrk="1" latinLnBrk="0" hangingPunct="1">
                  <a:lnSpc>
                    <a:spcPct val="100000"/>
                  </a:lnSpc>
                  <a:spcBef>
                    <a:spcPts val="225"/>
                  </a:spcBef>
                  <a:buClr>
                    <a:schemeClr val="accent6">
                      <a:lumMod val="75000"/>
                    </a:schemeClr>
                  </a:buClr>
                  <a:buSzPct val="75000"/>
                  <a:buFont typeface="Wingdings" charset="2"/>
                  <a:buChar char="n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410400" algn="l" defTabSz="914400" rtl="0" eaLnBrk="1" latinLnBrk="0" hangingPunct="1">
                  <a:lnSpc>
                    <a:spcPct val="100000"/>
                  </a:lnSpc>
                  <a:spcBef>
                    <a:spcPts val="25"/>
                  </a:spcBef>
                  <a:buClr>
                    <a:schemeClr val="accent6">
                      <a:lumMod val="75000"/>
                    </a:schemeClr>
                  </a:buClr>
                  <a:buSzPct val="120000"/>
                  <a:buFont typeface="HiraKakuProN-W3" charset="-128"/>
                  <a:buChar char="−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00000"/>
                  </a:lnSpc>
                  <a:spcBef>
                    <a:spcPts val="25"/>
                  </a:spcBef>
                  <a:buClr>
                    <a:schemeClr val="accent6">
                      <a:lumMod val="75000"/>
                    </a:schemeClr>
                  </a:buClr>
                  <a:buFont typeface="Arial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00000"/>
                  </a:lnSpc>
                  <a:spcBef>
                    <a:spcPts val="25"/>
                  </a:spcBef>
                  <a:buClr>
                    <a:schemeClr val="accent6">
                      <a:lumMod val="75000"/>
                    </a:schemeClr>
                  </a:buClr>
                  <a:buFont typeface="Arial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20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ja-JP" sz="2200" b="0" i="1" smtClean="0">
                            <a:latin typeface="Cambria Math" panose="02040503050406030204" pitchFamily="18" charset="0"/>
                          </a:rPr>
                          <m:t>𝑦𝑦</m:t>
                        </m:r>
                      </m:sub>
                    </m:sSub>
                  </m:oMath>
                </a14:m>
                <a:r>
                  <a:rPr lang="en-US" altLang="ja-JP" sz="2200" dirty="0">
                    <a:latin typeface="+mn-ea"/>
                  </a:rPr>
                  <a:t>(Black</a:t>
                </a:r>
                <a:r>
                  <a:rPr lang="ja-JP" altLang="en-US" sz="2200">
                    <a:latin typeface="+mn-ea"/>
                  </a:rPr>
                  <a:t>：</a:t>
                </a:r>
                <a:r>
                  <a:rPr lang="en-US" altLang="ja-JP" sz="2200" dirty="0">
                    <a:latin typeface="+mn-ea"/>
                  </a:rPr>
                  <a:t>positive</a:t>
                </a:r>
                <a:br>
                  <a:rPr lang="en-US" altLang="ja-JP" sz="2200" dirty="0">
                    <a:latin typeface="+mn-ea"/>
                  </a:rPr>
                </a:br>
                <a:r>
                  <a:rPr lang="ja-JP" altLang="en-US" sz="2200">
                    <a:latin typeface="+mn-ea"/>
                  </a:rPr>
                  <a:t>　</a:t>
                </a:r>
                <a:r>
                  <a:rPr lang="en-US" altLang="ja-JP" sz="2200" dirty="0">
                    <a:latin typeface="+mn-ea"/>
                  </a:rPr>
                  <a:t>   Red</a:t>
                </a:r>
                <a:r>
                  <a:rPr lang="ja-JP" altLang="en-US" sz="2200">
                    <a:latin typeface="+mn-ea"/>
                  </a:rPr>
                  <a:t>：</a:t>
                </a:r>
                <a:r>
                  <a:rPr lang="en-US" altLang="ja-JP" sz="2200" dirty="0">
                    <a:latin typeface="+mn-ea"/>
                  </a:rPr>
                  <a:t>negative)</a:t>
                </a:r>
                <a:endParaRPr lang="ja-JP" altLang="en-US" sz="2200">
                  <a:latin typeface="+mn-ea"/>
                </a:endParaRPr>
              </a:p>
            </p:txBody>
          </p:sp>
        </mc:Choice>
        <mc:Fallback xmlns="">
          <p:sp>
            <p:nvSpPr>
              <p:cNvPr id="12" name="テキスト プレースホルダー 2">
                <a:extLst>
                  <a:ext uri="{FF2B5EF4-FFF2-40B4-BE49-F238E27FC236}">
                    <a16:creationId xmlns:a16="http://schemas.microsoft.com/office/drawing/2014/main" id="{ABE5086E-FDC0-B55E-D605-AD79541633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2006" y="1794888"/>
                <a:ext cx="6169861" cy="3066370"/>
              </a:xfrm>
              <a:prstGeom prst="rect">
                <a:avLst/>
              </a:prstGeom>
              <a:blipFill>
                <a:blip r:embed="rId8"/>
                <a:stretch>
                  <a:fillRect t="-413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8771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075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タイトル 1">
                <a:extLst>
                  <a:ext uri="{FF2B5EF4-FFF2-40B4-BE49-F238E27FC236}">
                    <a16:creationId xmlns:a16="http://schemas.microsoft.com/office/drawing/2014/main" id="{16F1DFEC-93FC-E6BD-FF87-19F7A40A16F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kumimoji="1" lang="en-US" altLang="ja-JP" dirty="0"/>
                  <a:t>Temperature </a:t>
                </a:r>
                <a14:m>
                  <m:oMath xmlns:m="http://schemas.openxmlformats.org/officeDocument/2006/math">
                    <m:r>
                      <a:rPr kumimoji="1" lang="en-US" altLang="ja-JP" b="0" i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=213 </m:t>
                    </m:r>
                    <m:r>
                      <m:rPr>
                        <m:sty m:val="p"/>
                      </m:rPr>
                      <a:rPr kumimoji="1" lang="en-US" altLang="ja-JP" b="0" i="0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2" name="タイトル 1">
                <a:extLst>
                  <a:ext uri="{FF2B5EF4-FFF2-40B4-BE49-F238E27FC236}">
                    <a16:creationId xmlns:a16="http://schemas.microsoft.com/office/drawing/2014/main" id="{16F1DFEC-93FC-E6BD-FF87-19F7A40A16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5"/>
                <a:stretch>
                  <a:fillRect l="-1700" b="-3584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21C8EE7-6170-36DE-065D-45E457EF3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F6909-ABCB-BB45-AC56-A8377246EBB2}" type="slidenum">
              <a:rPr lang="ja-JP" altLang="en-US" smtClean="0"/>
              <a:pPr/>
              <a:t>17</a:t>
            </a:fld>
            <a:endParaRPr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B275676-35A4-FD82-B75B-21EFD12D5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Tokyo University of Science - Computational Materials Science Laboratory -</a:t>
            </a:r>
            <a:endParaRPr lang="ja-JP" altLang="en-US" dirty="0"/>
          </a:p>
        </p:txBody>
      </p:sp>
      <p:pic>
        <p:nvPicPr>
          <p:cNvPr id="14" name="図 13" descr="グラフ, 折れ線グラフ&#10;&#10;自動的に生成された説明">
            <a:extLst>
              <a:ext uri="{FF2B5EF4-FFF2-40B4-BE49-F238E27FC236}">
                <a16:creationId xmlns:a16="http://schemas.microsoft.com/office/drawing/2014/main" id="{5F4ADF03-610B-2548-8774-8E805AE81E01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108099" y="2353938"/>
            <a:ext cx="5030515" cy="4350481"/>
          </a:xfrm>
          <a:prstGeom prst="rect">
            <a:avLst/>
          </a:prstGeom>
        </p:spPr>
      </p:pic>
      <p:pic>
        <p:nvPicPr>
          <p:cNvPr id="10" name="2DD">
            <a:hlinkClick r:id="" action="ppaction://media"/>
            <a:extLst>
              <a:ext uri="{FF2B5EF4-FFF2-40B4-BE49-F238E27FC236}">
                <a16:creationId xmlns:a16="http://schemas.microsoft.com/office/drawing/2014/main" id="{ABB2DB25-7CCB-DB38-80E6-DF0116F43C3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382184" y="2708290"/>
            <a:ext cx="3641776" cy="364177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E6E5C834-BAD0-A187-1643-3A940CAD4A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780" y="782710"/>
            <a:ext cx="7463705" cy="3066370"/>
          </a:xfrm>
        </p:spPr>
        <p:txBody>
          <a:bodyPr/>
          <a:lstStyle/>
          <a:p>
            <a:r>
              <a:rPr lang="en-US" altLang="ja-JP" dirty="0"/>
              <a:t>Effects from dislocations emitted from macrocrack</a:t>
            </a:r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プレースホルダー 2">
                <a:extLst>
                  <a:ext uri="{FF2B5EF4-FFF2-40B4-BE49-F238E27FC236}">
                    <a16:creationId xmlns:a16="http://schemas.microsoft.com/office/drawing/2014/main" id="{A994B077-0331-7CF0-C66E-7CDC928579C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651873" y="1786332"/>
                <a:ext cx="7463705" cy="3066370"/>
              </a:xfrm>
              <a:prstGeom prst="rect">
                <a:avLst/>
              </a:prstGeom>
            </p:spPr>
            <p:txBody>
              <a:bodyPr vert="horz"/>
              <a:lstStyle>
                <a:lvl1pPr marL="342000" indent="-342900" algn="l" defTabSz="914400" rtl="0" eaLnBrk="1" latinLnBrk="0" hangingPunct="1">
                  <a:lnSpc>
                    <a:spcPct val="100000"/>
                  </a:lnSpc>
                  <a:spcBef>
                    <a:spcPts val="1800"/>
                  </a:spcBef>
                  <a:spcAft>
                    <a:spcPts val="400"/>
                  </a:spcAft>
                  <a:buClr>
                    <a:schemeClr val="accent6">
                      <a:lumMod val="75000"/>
                    </a:schemeClr>
                  </a:buClr>
                  <a:buSzPct val="140000"/>
                  <a:buFont typeface="ヒラギノ角ゴ ProN W3"/>
                  <a:buChar char="|"/>
                  <a:defRPr kumimoji="1"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1600" indent="-392400" algn="l" defTabSz="914400" rtl="0" eaLnBrk="1" latinLnBrk="0" hangingPunct="1">
                  <a:lnSpc>
                    <a:spcPct val="100000"/>
                  </a:lnSpc>
                  <a:spcBef>
                    <a:spcPts val="225"/>
                  </a:spcBef>
                  <a:buClr>
                    <a:schemeClr val="accent6">
                      <a:lumMod val="75000"/>
                    </a:schemeClr>
                  </a:buClr>
                  <a:buSzPct val="75000"/>
                  <a:buFont typeface="Wingdings" charset="2"/>
                  <a:buChar char="n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410400" algn="l" defTabSz="914400" rtl="0" eaLnBrk="1" latinLnBrk="0" hangingPunct="1">
                  <a:lnSpc>
                    <a:spcPct val="100000"/>
                  </a:lnSpc>
                  <a:spcBef>
                    <a:spcPts val="25"/>
                  </a:spcBef>
                  <a:buClr>
                    <a:schemeClr val="accent6">
                      <a:lumMod val="75000"/>
                    </a:schemeClr>
                  </a:buClr>
                  <a:buSzPct val="120000"/>
                  <a:buFont typeface="HiraKakuProN-W3" charset="-128"/>
                  <a:buChar char="−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00000"/>
                  </a:lnSpc>
                  <a:spcBef>
                    <a:spcPts val="25"/>
                  </a:spcBef>
                  <a:buClr>
                    <a:schemeClr val="accent6">
                      <a:lumMod val="75000"/>
                    </a:schemeClr>
                  </a:buClr>
                  <a:buFont typeface="Arial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00000"/>
                  </a:lnSpc>
                  <a:spcBef>
                    <a:spcPts val="25"/>
                  </a:spcBef>
                  <a:buClr>
                    <a:schemeClr val="accent6">
                      <a:lumMod val="75000"/>
                    </a:schemeClr>
                  </a:buClr>
                  <a:buFont typeface="Arial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2"/>
                <a:r>
                  <a:rPr lang="en-US" altLang="ja-JP" sz="2200" dirty="0">
                    <a:latin typeface="+mj-ea"/>
                    <a:ea typeface="+mj-ea"/>
                  </a:rPr>
                  <a:t>Dislocations acting in the </a:t>
                </a:r>
                <a:br>
                  <a:rPr lang="en-US" altLang="ja-JP" sz="2200" dirty="0">
                    <a:latin typeface="+mj-ea"/>
                    <a:ea typeface="+mj-ea"/>
                  </a:rPr>
                </a:br>
                <a:r>
                  <a:rPr lang="en-US" altLang="ja-JP" sz="2200" dirty="0">
                    <a:solidFill>
                      <a:srgbClr val="C00000"/>
                    </a:solidFill>
                    <a:latin typeface="+mj-ea"/>
                    <a:ea typeface="+mj-ea"/>
                  </a:rPr>
                  <a:t>shielding direction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2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ja-JP" sz="22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𝜎</m:t>
                        </m:r>
                      </m:e>
                      <m:sub>
                        <m:r>
                          <a:rPr lang="en-US" altLang="ja-JP" sz="2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𝑦𝑦</m:t>
                        </m:r>
                      </m:sub>
                    </m:sSub>
                    <m:r>
                      <a:rPr lang="en-US" altLang="ja-JP" sz="2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+mj-ea"/>
                      </a:rPr>
                      <m:t>&lt;0)</m:t>
                    </m:r>
                  </m:oMath>
                </a14:m>
                <a:br>
                  <a:rPr lang="en-US" altLang="ja-JP" sz="2200" dirty="0">
                    <a:solidFill>
                      <a:srgbClr val="C00000"/>
                    </a:solidFill>
                    <a:latin typeface="+mj-ea"/>
                    <a:ea typeface="+mj-ea"/>
                  </a:rPr>
                </a:br>
                <a:endParaRPr lang="ja-JP" altLang="en-US" sz="2200"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11" name="テキスト プレースホルダー 2">
                <a:extLst>
                  <a:ext uri="{FF2B5EF4-FFF2-40B4-BE49-F238E27FC236}">
                    <a16:creationId xmlns:a16="http://schemas.microsoft.com/office/drawing/2014/main" id="{A994B077-0331-7CF0-C66E-7CDC928579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51873" y="1786332"/>
                <a:ext cx="7463705" cy="3066370"/>
              </a:xfrm>
              <a:prstGeom prst="rect">
                <a:avLst/>
              </a:prstGeom>
              <a:blipFill>
                <a:blip r:embed="rId8"/>
                <a:stretch>
                  <a:fillRect t="-493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プレースホルダー 2">
                <a:extLst>
                  <a:ext uri="{FF2B5EF4-FFF2-40B4-BE49-F238E27FC236}">
                    <a16:creationId xmlns:a16="http://schemas.microsoft.com/office/drawing/2014/main" id="{D19375DD-E6D1-50F0-0823-1D3EF79225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52006" y="1794888"/>
                <a:ext cx="6169861" cy="3066370"/>
              </a:xfrm>
              <a:prstGeom prst="rect">
                <a:avLst/>
              </a:prstGeom>
            </p:spPr>
            <p:txBody>
              <a:bodyPr vert="horz"/>
              <a:lstStyle>
                <a:lvl1pPr marL="342000" indent="-342900" algn="l" defTabSz="914400" rtl="0" eaLnBrk="1" latinLnBrk="0" hangingPunct="1">
                  <a:lnSpc>
                    <a:spcPct val="100000"/>
                  </a:lnSpc>
                  <a:spcBef>
                    <a:spcPts val="1800"/>
                  </a:spcBef>
                  <a:spcAft>
                    <a:spcPts val="400"/>
                  </a:spcAft>
                  <a:buClr>
                    <a:schemeClr val="accent6">
                      <a:lumMod val="75000"/>
                    </a:schemeClr>
                  </a:buClr>
                  <a:buSzPct val="140000"/>
                  <a:buFont typeface="ヒラギノ角ゴ ProN W3"/>
                  <a:buChar char="|"/>
                  <a:defRPr kumimoji="1"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1600" indent="-392400" algn="l" defTabSz="914400" rtl="0" eaLnBrk="1" latinLnBrk="0" hangingPunct="1">
                  <a:lnSpc>
                    <a:spcPct val="100000"/>
                  </a:lnSpc>
                  <a:spcBef>
                    <a:spcPts val="225"/>
                  </a:spcBef>
                  <a:buClr>
                    <a:schemeClr val="accent6">
                      <a:lumMod val="75000"/>
                    </a:schemeClr>
                  </a:buClr>
                  <a:buSzPct val="75000"/>
                  <a:buFont typeface="Wingdings" charset="2"/>
                  <a:buChar char="n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410400" algn="l" defTabSz="914400" rtl="0" eaLnBrk="1" latinLnBrk="0" hangingPunct="1">
                  <a:lnSpc>
                    <a:spcPct val="100000"/>
                  </a:lnSpc>
                  <a:spcBef>
                    <a:spcPts val="25"/>
                  </a:spcBef>
                  <a:buClr>
                    <a:schemeClr val="accent6">
                      <a:lumMod val="75000"/>
                    </a:schemeClr>
                  </a:buClr>
                  <a:buSzPct val="120000"/>
                  <a:buFont typeface="HiraKakuProN-W3" charset="-128"/>
                  <a:buChar char="−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00000"/>
                  </a:lnSpc>
                  <a:spcBef>
                    <a:spcPts val="25"/>
                  </a:spcBef>
                  <a:buClr>
                    <a:schemeClr val="accent6">
                      <a:lumMod val="75000"/>
                    </a:schemeClr>
                  </a:buClr>
                  <a:buFont typeface="Arial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00000"/>
                  </a:lnSpc>
                  <a:spcBef>
                    <a:spcPts val="25"/>
                  </a:spcBef>
                  <a:buClr>
                    <a:schemeClr val="accent6">
                      <a:lumMod val="75000"/>
                    </a:schemeClr>
                  </a:buClr>
                  <a:buFont typeface="Arial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20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ja-JP" sz="2200" b="0" i="1" smtClean="0">
                            <a:latin typeface="Cambria Math" panose="02040503050406030204" pitchFamily="18" charset="0"/>
                          </a:rPr>
                          <m:t>𝑦𝑦</m:t>
                        </m:r>
                      </m:sub>
                    </m:sSub>
                  </m:oMath>
                </a14:m>
                <a:r>
                  <a:rPr lang="en-US" altLang="ja-JP" sz="2200" dirty="0">
                    <a:latin typeface="+mn-ea"/>
                  </a:rPr>
                  <a:t>(Black</a:t>
                </a:r>
                <a:r>
                  <a:rPr lang="ja-JP" altLang="en-US" sz="2200">
                    <a:latin typeface="+mn-ea"/>
                  </a:rPr>
                  <a:t>：</a:t>
                </a:r>
                <a:r>
                  <a:rPr lang="en-US" altLang="ja-JP" sz="2200" dirty="0">
                    <a:latin typeface="+mn-ea"/>
                  </a:rPr>
                  <a:t>positive</a:t>
                </a:r>
                <a:br>
                  <a:rPr lang="en-US" altLang="ja-JP" sz="2200" dirty="0">
                    <a:latin typeface="+mn-ea"/>
                  </a:rPr>
                </a:br>
                <a:r>
                  <a:rPr lang="ja-JP" altLang="en-US" sz="2200">
                    <a:latin typeface="+mn-ea"/>
                  </a:rPr>
                  <a:t>　</a:t>
                </a:r>
                <a:r>
                  <a:rPr lang="en-US" altLang="ja-JP" sz="2200" dirty="0">
                    <a:latin typeface="+mn-ea"/>
                  </a:rPr>
                  <a:t>   Red</a:t>
                </a:r>
                <a:r>
                  <a:rPr lang="ja-JP" altLang="en-US" sz="2200">
                    <a:latin typeface="+mn-ea"/>
                  </a:rPr>
                  <a:t>：</a:t>
                </a:r>
                <a:r>
                  <a:rPr lang="en-US" altLang="ja-JP" sz="2200" dirty="0">
                    <a:latin typeface="+mn-ea"/>
                  </a:rPr>
                  <a:t>negative)</a:t>
                </a:r>
                <a:endParaRPr lang="ja-JP" altLang="en-US" sz="2200">
                  <a:latin typeface="+mn-ea"/>
                </a:endParaRPr>
              </a:p>
            </p:txBody>
          </p:sp>
        </mc:Choice>
        <mc:Fallback xmlns="">
          <p:sp>
            <p:nvSpPr>
              <p:cNvPr id="12" name="テキスト プレースホルダー 2">
                <a:extLst>
                  <a:ext uri="{FF2B5EF4-FFF2-40B4-BE49-F238E27FC236}">
                    <a16:creationId xmlns:a16="http://schemas.microsoft.com/office/drawing/2014/main" id="{D19375DD-E6D1-50F0-0823-1D3EF7922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2006" y="1794888"/>
                <a:ext cx="6169861" cy="3066370"/>
              </a:xfrm>
              <a:prstGeom prst="rect">
                <a:avLst/>
              </a:prstGeom>
              <a:blipFill>
                <a:blip r:embed="rId9"/>
                <a:stretch>
                  <a:fillRect t="-413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95778D8-84A4-16A3-88AE-15238817DE75}"/>
              </a:ext>
            </a:extLst>
          </p:cNvPr>
          <p:cNvSpPr txBox="1"/>
          <p:nvPr/>
        </p:nvSpPr>
        <p:spPr>
          <a:xfrm>
            <a:off x="5090046" y="5550270"/>
            <a:ext cx="34435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" altLang="ja-JP" u="sng" dirty="0">
                <a:solidFill>
                  <a:srgbClr val="C00000"/>
                </a:solidFill>
                <a:latin typeface="+mj-ea"/>
                <a:ea typeface="+mj-ea"/>
              </a:rPr>
              <a:t>Dislocations acting in the </a:t>
            </a:r>
            <a:br>
              <a:rPr lang="en" altLang="ja-JP" u="sng" dirty="0">
                <a:solidFill>
                  <a:srgbClr val="C00000"/>
                </a:solidFill>
                <a:latin typeface="+mj-ea"/>
                <a:ea typeface="+mj-ea"/>
              </a:rPr>
            </a:br>
            <a:r>
              <a:rPr lang="en" altLang="ja-JP" u="sng" dirty="0">
                <a:solidFill>
                  <a:srgbClr val="C00000"/>
                </a:solidFill>
                <a:latin typeface="+mj-ea"/>
                <a:ea typeface="+mj-ea"/>
              </a:rPr>
              <a:t>shielding direction </a:t>
            </a:r>
            <a:r>
              <a:rPr lang="en" altLang="ja-JP" b="1" u="sng" dirty="0">
                <a:solidFill>
                  <a:srgbClr val="C00000"/>
                </a:solidFill>
                <a:latin typeface="+mj-ea"/>
                <a:ea typeface="+mj-ea"/>
              </a:rPr>
              <a:t>increase</a:t>
            </a:r>
            <a:endParaRPr kumimoji="1" lang="ja-JP" altLang="en-US" b="1" u="sng">
              <a:solidFill>
                <a:srgbClr val="C0000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782099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075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図 23">
            <a:extLst>
              <a:ext uri="{FF2B5EF4-FFF2-40B4-BE49-F238E27FC236}">
                <a16:creationId xmlns:a16="http://schemas.microsoft.com/office/drawing/2014/main" id="{97EC82B6-D87B-0653-0E48-99083F551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92410" y="860986"/>
            <a:ext cx="4125884" cy="5894120"/>
          </a:xfrm>
          <a:prstGeom prst="rect">
            <a:avLst/>
          </a:prstGeom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476B9B4C-AEE6-D74D-DFA8-51954C5507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767207" y="866178"/>
            <a:ext cx="4125884" cy="58941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タイトル 1">
                <a:extLst>
                  <a:ext uri="{FF2B5EF4-FFF2-40B4-BE49-F238E27FC236}">
                    <a16:creationId xmlns:a16="http://schemas.microsoft.com/office/drawing/2014/main" id="{08A8535B-B2AD-F898-9E5C-12C8BCB2D75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kumimoji="1" lang="en-US" altLang="ja-JP" dirty="0"/>
                  <a:t>Temperature 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2" name="タイトル 1">
                <a:extLst>
                  <a:ext uri="{FF2B5EF4-FFF2-40B4-BE49-F238E27FC236}">
                    <a16:creationId xmlns:a16="http://schemas.microsoft.com/office/drawing/2014/main" id="{08A8535B-B2AD-F898-9E5C-12C8BCB2D7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4"/>
                <a:stretch>
                  <a:fillRect l="-1700" b="-3584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F451F49-7CF6-1744-8F58-08F4BE468F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641" y="743289"/>
            <a:ext cx="9711160" cy="1001815"/>
          </a:xfrm>
        </p:spPr>
        <p:txBody>
          <a:bodyPr/>
          <a:lstStyle/>
          <a:p>
            <a:r>
              <a:rPr lang="en-US" altLang="ja-JP" dirty="0"/>
              <a:t>Effects from the </a:t>
            </a:r>
            <a:r>
              <a:rPr kumimoji="1" lang="en-US" altLang="ja-JP" dirty="0"/>
              <a:t>macrocrack </a:t>
            </a:r>
            <a:endParaRPr lang="en-US" altLang="ja-JP" dirty="0"/>
          </a:p>
          <a:p>
            <a:pPr lvl="2"/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684467A-DAAB-9C3F-E350-4BE01C84F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F6909-ABCB-BB45-AC56-A8377246EBB2}" type="slidenum">
              <a:rPr lang="ja-JP" altLang="en-US" smtClean="0"/>
              <a:pPr/>
              <a:t>18</a:t>
            </a:fld>
            <a:endParaRPr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6F03AC8-CDC6-C9C9-8BA5-53E538BA5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dirty="0"/>
              <a:t>Tokyo University of Science - Computational Materials Science Laboratory -</a:t>
            </a:r>
            <a:endParaRPr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A29DDE3D-49D1-4A6B-734A-24F91E886E0E}"/>
                  </a:ext>
                </a:extLst>
              </p:cNvPr>
              <p:cNvSpPr txBox="1"/>
              <p:nvPr/>
            </p:nvSpPr>
            <p:spPr>
              <a:xfrm>
                <a:off x="5837802" y="3816748"/>
                <a:ext cx="3145325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u="sng" dirty="0">
                    <a:solidFill>
                      <a:srgbClr val="C00000"/>
                    </a:solidFill>
                    <a:latin typeface="+mj-ea"/>
                    <a:ea typeface="+mj-ea"/>
                  </a:rPr>
                  <a:t>Blunted </a:t>
                </a:r>
                <a:br>
                  <a:rPr kumimoji="1" lang="en-US" altLang="ja-JP" u="sng" dirty="0">
                    <a:solidFill>
                      <a:srgbClr val="C00000"/>
                    </a:solidFill>
                    <a:latin typeface="+mj-ea"/>
                    <a:ea typeface="+mj-ea"/>
                  </a:rPr>
                </a:br>
                <a:r>
                  <a:rPr kumimoji="1" lang="en-US" altLang="ja-JP" u="sng" dirty="0">
                    <a:solidFill>
                      <a:srgbClr val="C00000"/>
                    </a:solidFill>
                    <a:latin typeface="+mj-ea"/>
                    <a:ea typeface="+mj-ea"/>
                  </a:rPr>
                  <a:t>macrocrack-tip </a:t>
                </a:r>
                <a:br>
                  <a:rPr kumimoji="1" lang="en-US" altLang="ja-JP" u="sng" dirty="0">
                    <a:solidFill>
                      <a:srgbClr val="C00000"/>
                    </a:solidFill>
                    <a:latin typeface="+mj-ea"/>
                    <a:ea typeface="+mj-ea"/>
                  </a:rPr>
                </a:br>
                <a:r>
                  <a:rPr kumimoji="1" lang="en-US" altLang="ja-JP" b="1" u="sng" dirty="0">
                    <a:solidFill>
                      <a:srgbClr val="C00000"/>
                    </a:solidFill>
                    <a:latin typeface="+mj-ea"/>
                    <a:ea typeface="+mj-ea"/>
                  </a:rPr>
                  <a:t>increase </a:t>
                </a:r>
                <a14:m>
                  <m:oMath xmlns:m="http://schemas.openxmlformats.org/officeDocument/2006/math">
                    <m:r>
                      <a:rPr kumimoji="1" lang="en-US" altLang="ja-JP" b="1" i="1" u="sng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+mj-ea"/>
                      </a:rPr>
                      <m:t>𝝉</m:t>
                    </m:r>
                  </m:oMath>
                </a14:m>
                <a:endParaRPr kumimoji="1" lang="ja-JP" altLang="en-US" b="1" u="sng">
                  <a:solidFill>
                    <a:srgbClr val="C00000"/>
                  </a:solidFill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A29DDE3D-49D1-4A6B-734A-24F91E886E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7802" y="3816748"/>
                <a:ext cx="3145325" cy="923330"/>
              </a:xfrm>
              <a:prstGeom prst="rect">
                <a:avLst/>
              </a:prstGeom>
              <a:blipFill>
                <a:blip r:embed="rId5"/>
                <a:stretch>
                  <a:fillRect t="-2703" b="-945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E235BAA0-FE6F-F991-6DEE-F19C9CEF24CA}"/>
              </a:ext>
            </a:extLst>
          </p:cNvPr>
          <p:cNvGrpSpPr/>
          <p:nvPr/>
        </p:nvGrpSpPr>
        <p:grpSpPr>
          <a:xfrm>
            <a:off x="5824366" y="4448079"/>
            <a:ext cx="370410" cy="500203"/>
            <a:chOff x="1539315" y="4108158"/>
            <a:chExt cx="370410" cy="500203"/>
          </a:xfrm>
        </p:grpSpPr>
        <p:cxnSp>
          <p:nvCxnSpPr>
            <p:cNvPr id="17" name="直線矢印コネクタ 16">
              <a:extLst>
                <a:ext uri="{FF2B5EF4-FFF2-40B4-BE49-F238E27FC236}">
                  <a16:creationId xmlns:a16="http://schemas.microsoft.com/office/drawing/2014/main" id="{4B9731C7-BCB5-28F7-2509-4F3C47B121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24343" y="4239528"/>
              <a:ext cx="0" cy="183901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円/楕円 26">
              <a:extLst>
                <a:ext uri="{FF2B5EF4-FFF2-40B4-BE49-F238E27FC236}">
                  <a16:creationId xmlns:a16="http://schemas.microsoft.com/office/drawing/2014/main" id="{9C08DBFE-3F68-3D72-D284-BF6982F258C0}"/>
                </a:ext>
              </a:extLst>
            </p:cNvPr>
            <p:cNvSpPr/>
            <p:nvPr/>
          </p:nvSpPr>
          <p:spPr>
            <a:xfrm>
              <a:off x="1539315" y="4108158"/>
              <a:ext cx="370410" cy="500203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テキスト プレースホルダー 2">
                <a:extLst>
                  <a:ext uri="{FF2B5EF4-FFF2-40B4-BE49-F238E27FC236}">
                    <a16:creationId xmlns:a16="http://schemas.microsoft.com/office/drawing/2014/main" id="{B21C61D1-13B4-AC66-DB3C-6DBA344ACED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344944" y="1140264"/>
                <a:ext cx="5070447" cy="500203"/>
              </a:xfrm>
              <a:prstGeom prst="rect">
                <a:avLst/>
              </a:prstGeom>
            </p:spPr>
            <p:txBody>
              <a:bodyPr vert="horz"/>
              <a:lstStyle>
                <a:lvl1pPr marL="342000" indent="-342900" algn="l" defTabSz="914400" rtl="0" eaLnBrk="1" latinLnBrk="0" hangingPunct="1">
                  <a:lnSpc>
                    <a:spcPct val="100000"/>
                  </a:lnSpc>
                  <a:spcBef>
                    <a:spcPts val="1800"/>
                  </a:spcBef>
                  <a:spcAft>
                    <a:spcPts val="400"/>
                  </a:spcAft>
                  <a:buClr>
                    <a:schemeClr val="accent6">
                      <a:lumMod val="75000"/>
                    </a:schemeClr>
                  </a:buClr>
                  <a:buSzPct val="140000"/>
                  <a:buFont typeface="ヒラギノ角ゴ ProN W3"/>
                  <a:buChar char="|"/>
                  <a:defRPr kumimoji="1" sz="2800" b="1" kern="1200">
                    <a:solidFill>
                      <a:schemeClr val="tx1"/>
                    </a:solidFill>
                    <a:latin typeface="+mn-ea"/>
                    <a:ea typeface="+mn-ea"/>
                    <a:cs typeface="+mn-cs"/>
                  </a:defRPr>
                </a:lvl1pPr>
                <a:lvl2pPr marL="741600" indent="-392400" algn="l" defTabSz="914400" rtl="0" eaLnBrk="1" latinLnBrk="0" hangingPunct="1">
                  <a:lnSpc>
                    <a:spcPct val="100000"/>
                  </a:lnSpc>
                  <a:spcBef>
                    <a:spcPts val="225"/>
                  </a:spcBef>
                  <a:buClr>
                    <a:schemeClr val="accent6">
                      <a:lumMod val="75000"/>
                    </a:schemeClr>
                  </a:buClr>
                  <a:buSzPct val="75000"/>
                  <a:buFont typeface="Wingdings" charset="2"/>
                  <a:buChar char="n"/>
                  <a:defRPr kumimoji="1" sz="2800" kern="1200">
                    <a:solidFill>
                      <a:schemeClr val="tx1"/>
                    </a:solidFill>
                    <a:latin typeface="+mn-ea"/>
                    <a:ea typeface="+mn-ea"/>
                    <a:cs typeface="+mn-cs"/>
                  </a:defRPr>
                </a:lvl2pPr>
                <a:lvl3pPr marL="1143000" indent="-410400" algn="l" defTabSz="914400" rtl="0" eaLnBrk="1" latinLnBrk="0" hangingPunct="1">
                  <a:lnSpc>
                    <a:spcPct val="100000"/>
                  </a:lnSpc>
                  <a:spcBef>
                    <a:spcPts val="25"/>
                  </a:spcBef>
                  <a:buClr>
                    <a:schemeClr val="accent6">
                      <a:lumMod val="75000"/>
                    </a:schemeClr>
                  </a:buClr>
                  <a:buSzPct val="120000"/>
                  <a:buFont typeface="HiraKakuProN-W3" charset="-128"/>
                  <a:buChar char="−"/>
                  <a:defRPr kumimoji="1" sz="2400" kern="1200">
                    <a:solidFill>
                      <a:schemeClr val="tx1"/>
                    </a:solidFill>
                    <a:latin typeface="+mn-ea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00000"/>
                  </a:lnSpc>
                  <a:spcBef>
                    <a:spcPts val="25"/>
                  </a:spcBef>
                  <a:buClr>
                    <a:schemeClr val="accent6">
                      <a:lumMod val="75000"/>
                    </a:schemeClr>
                  </a:buClr>
                  <a:buFont typeface="Arial"/>
                  <a:buChar char="•"/>
                  <a:defRPr kumimoji="1" sz="1800" kern="1200">
                    <a:solidFill>
                      <a:schemeClr val="tx1"/>
                    </a:solidFill>
                    <a:latin typeface="+mn-ea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00000"/>
                  </a:lnSpc>
                  <a:spcBef>
                    <a:spcPts val="25"/>
                  </a:spcBef>
                  <a:buClr>
                    <a:schemeClr val="accent6">
                      <a:lumMod val="75000"/>
                    </a:schemeClr>
                  </a:buClr>
                  <a:buFont typeface="Arial"/>
                  <a:buChar char="•"/>
                  <a:defRPr kumimoji="1" sz="1800" kern="1200">
                    <a:solidFill>
                      <a:schemeClr val="tx1"/>
                    </a:solidFill>
                    <a:latin typeface="+mn-ea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57188" lvl="2" indent="-346075"/>
                <a:r>
                  <a:rPr lang="en-US" altLang="ja-JP" dirty="0"/>
                  <a:t>Shear stress on microcrack </a:t>
                </a:r>
                <a14:m>
                  <m:oMath xmlns:m="http://schemas.openxmlformats.org/officeDocument/2006/math">
                    <m:r>
                      <a:rPr lang="ja-JP" altLang="en-US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br>
                  <a:rPr lang="en-US" altLang="ja-JP" dirty="0"/>
                </a:br>
                <a:r>
                  <a:rPr lang="en-US" altLang="ja-JP" sz="1400" dirty="0"/>
                  <a:t>(=Resolved shear stress for dislocation emission)</a:t>
                </a:r>
                <a:endParaRPr lang="en-US" altLang="ja-JP" dirty="0"/>
              </a:p>
            </p:txBody>
          </p:sp>
        </mc:Choice>
        <mc:Fallback>
          <p:sp>
            <p:nvSpPr>
              <p:cNvPr id="30" name="テキスト プレースホルダー 2">
                <a:extLst>
                  <a:ext uri="{FF2B5EF4-FFF2-40B4-BE49-F238E27FC236}">
                    <a16:creationId xmlns:a16="http://schemas.microsoft.com/office/drawing/2014/main" id="{B21C61D1-13B4-AC66-DB3C-6DBA344ACE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4944" y="1140264"/>
                <a:ext cx="5070447" cy="500203"/>
              </a:xfrm>
              <a:prstGeom prst="rect">
                <a:avLst/>
              </a:prstGeom>
              <a:blipFill>
                <a:blip r:embed="rId6"/>
                <a:stretch>
                  <a:fillRect l="-2500" t="-31707" b="-4634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F9F4E954-FE1A-C5CF-E099-90834ED14784}"/>
              </a:ext>
            </a:extLst>
          </p:cNvPr>
          <p:cNvGrpSpPr/>
          <p:nvPr/>
        </p:nvGrpSpPr>
        <p:grpSpPr>
          <a:xfrm>
            <a:off x="1638004" y="5845975"/>
            <a:ext cx="6462434" cy="760291"/>
            <a:chOff x="4262341" y="5446178"/>
            <a:chExt cx="4781553" cy="896744"/>
          </a:xfrm>
        </p:grpSpPr>
        <p:sp>
          <p:nvSpPr>
            <p:cNvPr id="49" name="正方形/長方形 48">
              <a:extLst>
                <a:ext uri="{FF2B5EF4-FFF2-40B4-BE49-F238E27FC236}">
                  <a16:creationId xmlns:a16="http://schemas.microsoft.com/office/drawing/2014/main" id="{FC0F649D-B2E3-F521-53D3-B49FA8EE5128}"/>
                </a:ext>
              </a:extLst>
            </p:cNvPr>
            <p:cNvSpPr/>
            <p:nvPr/>
          </p:nvSpPr>
          <p:spPr>
            <a:xfrm>
              <a:off x="4262341" y="5446178"/>
              <a:ext cx="4781553" cy="89674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0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0" name="テキスト プレースホルダー 2">
              <a:extLst>
                <a:ext uri="{FF2B5EF4-FFF2-40B4-BE49-F238E27FC236}">
                  <a16:creationId xmlns:a16="http://schemas.microsoft.com/office/drawing/2014/main" id="{32C7F1E2-2061-4AEE-A6CC-A172F147FBE2}"/>
                </a:ext>
              </a:extLst>
            </p:cNvPr>
            <p:cNvSpPr txBox="1">
              <a:spLocks/>
            </p:cNvSpPr>
            <p:nvPr/>
          </p:nvSpPr>
          <p:spPr>
            <a:xfrm>
              <a:off x="4336423" y="5501987"/>
              <a:ext cx="4707471" cy="810975"/>
            </a:xfrm>
            <a:prstGeom prst="rect">
              <a:avLst/>
            </a:prstGeom>
          </p:spPr>
          <p:txBody>
            <a:bodyPr vert="horz"/>
            <a:lstStyle>
              <a:lvl1pPr marL="342000" indent="-342900" algn="l" defTabSz="914400" rtl="0" eaLnBrk="1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400"/>
                </a:spcAft>
                <a:buClr>
                  <a:schemeClr val="accent6">
                    <a:lumMod val="75000"/>
                  </a:schemeClr>
                </a:buClr>
                <a:buSzPct val="140000"/>
                <a:buFont typeface="ヒラギノ角ゴ ProN W3"/>
                <a:buChar char="|"/>
                <a:defRPr kumimoji="1" sz="2800" b="1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1pPr>
              <a:lvl2pPr marL="741600" indent="-392400" algn="l" defTabSz="914400" rtl="0" eaLnBrk="1" latinLnBrk="0" hangingPunct="1">
                <a:lnSpc>
                  <a:spcPct val="100000"/>
                </a:lnSpc>
                <a:spcBef>
                  <a:spcPts val="225"/>
                </a:spcBef>
                <a:buClr>
                  <a:schemeClr val="accent6">
                    <a:lumMod val="75000"/>
                  </a:schemeClr>
                </a:buClr>
                <a:buSzPct val="75000"/>
                <a:buFont typeface="Wingdings" charset="2"/>
                <a:buChar char="n"/>
                <a:defRPr kumimoji="1" sz="28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2pPr>
              <a:lvl3pPr marL="1143000" indent="-410400" algn="l" defTabSz="914400" rtl="0" eaLnBrk="1" latinLnBrk="0" hangingPunct="1">
                <a:lnSpc>
                  <a:spcPct val="100000"/>
                </a:lnSpc>
                <a:spcBef>
                  <a:spcPts val="25"/>
                </a:spcBef>
                <a:buClr>
                  <a:schemeClr val="accent6">
                    <a:lumMod val="75000"/>
                  </a:schemeClr>
                </a:buClr>
                <a:buSzPct val="120000"/>
                <a:buFont typeface="HiraKakuProN-W3" charset="-128"/>
                <a:buChar char="−"/>
                <a:defRPr kumimoji="1" sz="24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00000"/>
                </a:lnSpc>
                <a:spcBef>
                  <a:spcPts val="25"/>
                </a:spcBef>
                <a:buClr>
                  <a:schemeClr val="accent6">
                    <a:lumMod val="75000"/>
                  </a:schemeClr>
                </a:buClr>
                <a:buFont typeface="Arial"/>
                <a:buChar char="•"/>
                <a:defRPr kumimoji="1" sz="18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00000"/>
                </a:lnSpc>
                <a:spcBef>
                  <a:spcPts val="25"/>
                </a:spcBef>
                <a:buClr>
                  <a:schemeClr val="accent6">
                    <a:lumMod val="75000"/>
                  </a:schemeClr>
                </a:buClr>
                <a:buFont typeface="Arial"/>
                <a:buChar char="•"/>
                <a:defRPr kumimoji="1" sz="18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2" indent="0" algn="ctr">
                <a:buNone/>
              </a:pPr>
              <a:r>
                <a:rPr lang="en" altLang="ja-JP" sz="2000" b="1" i="0" dirty="0">
                  <a:solidFill>
                    <a:srgbClr val="FF0000"/>
                  </a:solidFill>
                  <a:effectLst/>
                </a:rPr>
                <a:t>Blunting of the macrocrack-tip</a:t>
              </a:r>
              <a:r>
                <a:rPr lang="en" altLang="ja-JP" sz="1800" b="1" i="0" dirty="0">
                  <a:effectLst/>
                </a:rPr>
                <a:t> </a:t>
              </a:r>
              <a:r>
                <a:rPr lang="en" altLang="ja-JP" sz="1800" b="0" i="0" u="sng" dirty="0">
                  <a:effectLst/>
                </a:rPr>
                <a:t>causes numerous dislocations to be emitted from the microcrack-tip</a:t>
              </a:r>
              <a:endParaRPr lang="en-US" altLang="ja-JP" u="sng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テキスト プレースホルダー 2">
                <a:extLst>
                  <a:ext uri="{FF2B5EF4-FFF2-40B4-BE49-F238E27FC236}">
                    <a16:creationId xmlns:a16="http://schemas.microsoft.com/office/drawing/2014/main" id="{BA772041-85F0-F034-4C32-F143B8D4F63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71355" y="1337755"/>
                <a:ext cx="7046023" cy="500203"/>
              </a:xfrm>
              <a:prstGeom prst="rect">
                <a:avLst/>
              </a:prstGeom>
            </p:spPr>
            <p:txBody>
              <a:bodyPr vert="horz"/>
              <a:lstStyle>
                <a:lvl1pPr marL="342000" indent="-342900" algn="l" defTabSz="914400" rtl="0" eaLnBrk="1" latinLnBrk="0" hangingPunct="1">
                  <a:lnSpc>
                    <a:spcPct val="100000"/>
                  </a:lnSpc>
                  <a:spcBef>
                    <a:spcPts val="1800"/>
                  </a:spcBef>
                  <a:spcAft>
                    <a:spcPts val="400"/>
                  </a:spcAft>
                  <a:buClr>
                    <a:schemeClr val="accent6">
                      <a:lumMod val="75000"/>
                    </a:schemeClr>
                  </a:buClr>
                  <a:buSzPct val="140000"/>
                  <a:buFont typeface="ヒラギノ角ゴ ProN W3"/>
                  <a:buChar char="|"/>
                  <a:defRPr kumimoji="1" sz="2800" b="1" kern="1200">
                    <a:solidFill>
                      <a:schemeClr val="tx1"/>
                    </a:solidFill>
                    <a:latin typeface="+mn-ea"/>
                    <a:ea typeface="+mn-ea"/>
                    <a:cs typeface="+mn-cs"/>
                  </a:defRPr>
                </a:lvl1pPr>
                <a:lvl2pPr marL="741600" indent="-392400" algn="l" defTabSz="914400" rtl="0" eaLnBrk="1" latinLnBrk="0" hangingPunct="1">
                  <a:lnSpc>
                    <a:spcPct val="100000"/>
                  </a:lnSpc>
                  <a:spcBef>
                    <a:spcPts val="225"/>
                  </a:spcBef>
                  <a:buClr>
                    <a:schemeClr val="accent6">
                      <a:lumMod val="75000"/>
                    </a:schemeClr>
                  </a:buClr>
                  <a:buSzPct val="75000"/>
                  <a:buFont typeface="Wingdings" charset="2"/>
                  <a:buChar char="n"/>
                  <a:defRPr kumimoji="1" sz="2800" kern="1200">
                    <a:solidFill>
                      <a:schemeClr val="tx1"/>
                    </a:solidFill>
                    <a:latin typeface="+mn-ea"/>
                    <a:ea typeface="+mn-ea"/>
                    <a:cs typeface="+mn-cs"/>
                  </a:defRPr>
                </a:lvl2pPr>
                <a:lvl3pPr marL="1143000" indent="-410400" algn="l" defTabSz="914400" rtl="0" eaLnBrk="1" latinLnBrk="0" hangingPunct="1">
                  <a:lnSpc>
                    <a:spcPct val="100000"/>
                  </a:lnSpc>
                  <a:spcBef>
                    <a:spcPts val="25"/>
                  </a:spcBef>
                  <a:buClr>
                    <a:schemeClr val="accent6">
                      <a:lumMod val="75000"/>
                    </a:schemeClr>
                  </a:buClr>
                  <a:buSzPct val="120000"/>
                  <a:buFont typeface="HiraKakuProN-W3" charset="-128"/>
                  <a:buChar char="−"/>
                  <a:defRPr kumimoji="1" sz="2400" kern="1200">
                    <a:solidFill>
                      <a:schemeClr val="tx1"/>
                    </a:solidFill>
                    <a:latin typeface="+mn-ea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00000"/>
                  </a:lnSpc>
                  <a:spcBef>
                    <a:spcPts val="25"/>
                  </a:spcBef>
                  <a:buClr>
                    <a:schemeClr val="accent6">
                      <a:lumMod val="75000"/>
                    </a:schemeClr>
                  </a:buClr>
                  <a:buFont typeface="Arial"/>
                  <a:buChar char="•"/>
                  <a:defRPr kumimoji="1" sz="1800" kern="1200">
                    <a:solidFill>
                      <a:schemeClr val="tx1"/>
                    </a:solidFill>
                    <a:latin typeface="+mn-ea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00000"/>
                  </a:lnSpc>
                  <a:spcBef>
                    <a:spcPts val="25"/>
                  </a:spcBef>
                  <a:buClr>
                    <a:schemeClr val="accent6">
                      <a:lumMod val="75000"/>
                    </a:schemeClr>
                  </a:buClr>
                  <a:buFont typeface="Arial"/>
                  <a:buChar char="•"/>
                  <a:defRPr kumimoji="1" sz="1800" kern="1200">
                    <a:solidFill>
                      <a:schemeClr val="tx1"/>
                    </a:solidFill>
                    <a:latin typeface="+mn-ea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57188" lvl="2" indent="-346075"/>
                <a:r>
                  <a:rPr lang="en" altLang="ja-JP" dirty="0"/>
                  <a:t>Blunting amount </a:t>
                </a:r>
                <a14:m>
                  <m:oMath xmlns:m="http://schemas.openxmlformats.org/officeDocument/2006/math">
                    <m:r>
                      <a:rPr lang="ja-JP" altLang="en-US" i="1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endParaRPr lang="ja-JP" altLang="en-US"/>
              </a:p>
            </p:txBody>
          </p:sp>
        </mc:Choice>
        <mc:Fallback xmlns="">
          <p:sp>
            <p:nvSpPr>
              <p:cNvPr id="31" name="テキスト プレースホルダー 2">
                <a:extLst>
                  <a:ext uri="{FF2B5EF4-FFF2-40B4-BE49-F238E27FC236}">
                    <a16:creationId xmlns:a16="http://schemas.microsoft.com/office/drawing/2014/main" id="{BA772041-85F0-F034-4C32-F143B8D4F6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355" y="1337755"/>
                <a:ext cx="7046023" cy="500203"/>
              </a:xfrm>
              <a:prstGeom prst="rect">
                <a:avLst/>
              </a:prstGeom>
              <a:blipFill>
                <a:blip r:embed="rId7"/>
                <a:stretch>
                  <a:fillRect l="-1799" t="-35000" b="-275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3E517AEA-062B-1CBC-3CFB-8C73CB3352DE}"/>
              </a:ext>
            </a:extLst>
          </p:cNvPr>
          <p:cNvGrpSpPr/>
          <p:nvPr/>
        </p:nvGrpSpPr>
        <p:grpSpPr>
          <a:xfrm>
            <a:off x="1398518" y="5111834"/>
            <a:ext cx="266332" cy="354420"/>
            <a:chOff x="1595749" y="4253941"/>
            <a:chExt cx="266332" cy="354420"/>
          </a:xfrm>
        </p:grpSpPr>
        <p:cxnSp>
          <p:nvCxnSpPr>
            <p:cNvPr id="39" name="直線矢印コネクタ 38">
              <a:extLst>
                <a:ext uri="{FF2B5EF4-FFF2-40B4-BE49-F238E27FC236}">
                  <a16:creationId xmlns:a16="http://schemas.microsoft.com/office/drawing/2014/main" id="{EFE28745-CA2F-939B-0BB5-72B7336E5F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24343" y="4344083"/>
              <a:ext cx="177" cy="111192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円/楕円 39">
              <a:extLst>
                <a:ext uri="{FF2B5EF4-FFF2-40B4-BE49-F238E27FC236}">
                  <a16:creationId xmlns:a16="http://schemas.microsoft.com/office/drawing/2014/main" id="{9CFED49D-D3CC-37C9-902E-9C86D13BF1E7}"/>
                </a:ext>
              </a:extLst>
            </p:cNvPr>
            <p:cNvSpPr/>
            <p:nvPr/>
          </p:nvSpPr>
          <p:spPr>
            <a:xfrm>
              <a:off x="1595749" y="4253941"/>
              <a:ext cx="266332" cy="35442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6F911ED2-2D2D-2500-F043-D9B532854BC0}"/>
              </a:ext>
            </a:extLst>
          </p:cNvPr>
          <p:cNvSpPr txBox="1"/>
          <p:nvPr/>
        </p:nvSpPr>
        <p:spPr>
          <a:xfrm>
            <a:off x="1074671" y="2608370"/>
            <a:ext cx="28650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latin typeface="+mj-ea"/>
                <a:ea typeface="+mj-ea"/>
              </a:rPr>
              <a:t>H</a:t>
            </a:r>
            <a:r>
              <a:rPr lang="en-US" altLang="ja-JP" sz="1800" dirty="0">
                <a:latin typeface="+mj-ea"/>
                <a:ea typeface="+mj-ea"/>
              </a:rPr>
              <a:t>igh temperature</a:t>
            </a:r>
          </a:p>
          <a:p>
            <a:r>
              <a:rPr lang="en-US" altLang="ja-JP" sz="1800" u="sng" dirty="0">
                <a:solidFill>
                  <a:srgbClr val="C00000"/>
                </a:solidFill>
                <a:latin typeface="+mj-ea"/>
                <a:ea typeface="+mj-ea"/>
              </a:rPr>
              <a:t>macrocrack blunted </a:t>
            </a:r>
            <a:r>
              <a:rPr lang="en-US" altLang="ja-JP" sz="1800" b="1" u="sng" dirty="0">
                <a:solidFill>
                  <a:srgbClr val="C00000"/>
                </a:solidFill>
                <a:latin typeface="+mj-ea"/>
                <a:ea typeface="+mj-ea"/>
              </a:rPr>
              <a:t>rapidly</a:t>
            </a:r>
            <a:endParaRPr lang="ja-JP" altLang="en-US" b="1" u="sng">
              <a:solidFill>
                <a:srgbClr val="C00000"/>
              </a:solidFill>
              <a:latin typeface="+mj-ea"/>
              <a:ea typeface="+mj-ea"/>
            </a:endParaRPr>
          </a:p>
        </p:txBody>
      </p:sp>
      <p:pic>
        <p:nvPicPr>
          <p:cNvPr id="15" name="図 14" descr="黒い背景に白い文字がある&#10;&#10;低い精度で自動的に生成された説明">
            <a:extLst>
              <a:ext uri="{FF2B5EF4-FFF2-40B4-BE49-F238E27FC236}">
                <a16:creationId xmlns:a16="http://schemas.microsoft.com/office/drawing/2014/main" id="{FF382F68-3094-A2FE-2FCF-52E6DEA4A42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76285" y="4309934"/>
            <a:ext cx="1188014" cy="797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8687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テキスト プレースホルダー 2">
                <a:extLst>
                  <a:ext uri="{FF2B5EF4-FFF2-40B4-BE49-F238E27FC236}">
                    <a16:creationId xmlns:a16="http://schemas.microsoft.com/office/drawing/2014/main" id="{E00A42B1-D0F1-094D-5FC8-DB3CC4FF7D05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-1" y="847360"/>
                <a:ext cx="9383737" cy="3066370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kumimoji="1" lang="en-US" altLang="ja-JP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𝝉</m:t>
                    </m:r>
                  </m:oMath>
                </a14:m>
                <a:r>
                  <a:rPr kumimoji="1" lang="en-US" altLang="ja-JP" dirty="0"/>
                  <a:t> at microcrack-tip</a:t>
                </a:r>
              </a:p>
            </p:txBody>
          </p:sp>
        </mc:Choice>
        <mc:Fallback xmlns="">
          <p:sp>
            <p:nvSpPr>
              <p:cNvPr id="19" name="テキスト プレースホルダー 2">
                <a:extLst>
                  <a:ext uri="{FF2B5EF4-FFF2-40B4-BE49-F238E27FC236}">
                    <a16:creationId xmlns:a16="http://schemas.microsoft.com/office/drawing/2014/main" id="{E00A42B1-D0F1-094D-5FC8-DB3CC4FF7D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-1" y="847360"/>
                <a:ext cx="9383737" cy="3066370"/>
              </a:xfrm>
              <a:blipFill>
                <a:blip r:embed="rId3"/>
                <a:stretch>
                  <a:fillRect l="-2300" t="-9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タイトル 1">
                <a:extLst>
                  <a:ext uri="{FF2B5EF4-FFF2-40B4-BE49-F238E27FC236}">
                    <a16:creationId xmlns:a16="http://schemas.microsoft.com/office/drawing/2014/main" id="{A8532964-DD30-9A83-9E7E-E422F1B96E3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kumimoji="1" lang="en-US" altLang="ja-JP" dirty="0"/>
                  <a:t>Temperature 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2" name="タイトル 1">
                <a:extLst>
                  <a:ext uri="{FF2B5EF4-FFF2-40B4-BE49-F238E27FC236}">
                    <a16:creationId xmlns:a16="http://schemas.microsoft.com/office/drawing/2014/main" id="{A8532964-DD30-9A83-9E7E-E422F1B96E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4"/>
                <a:stretch>
                  <a:fillRect l="-1700" b="-3584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8" name="グループ化 67">
            <a:extLst>
              <a:ext uri="{FF2B5EF4-FFF2-40B4-BE49-F238E27FC236}">
                <a16:creationId xmlns:a16="http://schemas.microsoft.com/office/drawing/2014/main" id="{55F208F0-27DA-27EC-5183-03BE81E97701}"/>
              </a:ext>
            </a:extLst>
          </p:cNvPr>
          <p:cNvGrpSpPr/>
          <p:nvPr/>
        </p:nvGrpSpPr>
        <p:grpSpPr>
          <a:xfrm>
            <a:off x="-105936" y="1340625"/>
            <a:ext cx="8272891" cy="3070279"/>
            <a:chOff x="-72724" y="1766538"/>
            <a:chExt cx="8272891" cy="30702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テキスト プレースホルダー 2">
                  <a:extLst>
                    <a:ext uri="{FF2B5EF4-FFF2-40B4-BE49-F238E27FC236}">
                      <a16:creationId xmlns:a16="http://schemas.microsoft.com/office/drawing/2014/main" id="{0C95B55B-A7FB-6DD6-05A9-9B88E5F1453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72724" y="1766538"/>
                  <a:ext cx="4421111" cy="3066370"/>
                </a:xfrm>
                <a:prstGeom prst="rect">
                  <a:avLst/>
                </a:prstGeom>
              </p:spPr>
              <p:txBody>
                <a:bodyPr vert="horz"/>
                <a:lstStyle>
                  <a:lvl1pPr marL="342000" indent="-342900" algn="l" defTabSz="914400" rtl="0" eaLnBrk="1" latinLnBrk="0" hangingPunct="1">
                    <a:lnSpc>
                      <a:spcPct val="100000"/>
                    </a:lnSpc>
                    <a:spcBef>
                      <a:spcPts val="1800"/>
                    </a:spcBef>
                    <a:spcAft>
                      <a:spcPts val="400"/>
                    </a:spcAft>
                    <a:buClr>
                      <a:schemeClr val="accent6">
                        <a:lumMod val="75000"/>
                      </a:schemeClr>
                    </a:buClr>
                    <a:buSzPct val="140000"/>
                    <a:buFont typeface="ヒラギノ角ゴ ProN W3"/>
                    <a:buChar char="|"/>
                    <a:defRPr kumimoji="1" sz="28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1600" indent="-392400" algn="l" defTabSz="914400" rtl="0" eaLnBrk="1" latinLnBrk="0" hangingPunct="1">
                    <a:lnSpc>
                      <a:spcPct val="100000"/>
                    </a:lnSpc>
                    <a:spcBef>
                      <a:spcPts val="225"/>
                    </a:spcBef>
                    <a:buClr>
                      <a:schemeClr val="accent6">
                        <a:lumMod val="75000"/>
                      </a:schemeClr>
                    </a:buClr>
                    <a:buSzPct val="75000"/>
                    <a:buFont typeface="Wingdings" charset="2"/>
                    <a:buChar char="n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410400" algn="l" defTabSz="914400" rtl="0" eaLnBrk="1" latinLnBrk="0" hangingPunct="1">
                    <a:lnSpc>
                      <a:spcPct val="100000"/>
                    </a:lnSpc>
                    <a:spcBef>
                      <a:spcPts val="25"/>
                    </a:spcBef>
                    <a:buClr>
                      <a:schemeClr val="accent6">
                        <a:lumMod val="75000"/>
                      </a:schemeClr>
                    </a:buClr>
                    <a:buSzPct val="120000"/>
                    <a:buFont typeface="HiraKakuProN-W3" charset="-128"/>
                    <a:buChar char="−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100000"/>
                    </a:lnSpc>
                    <a:spcBef>
                      <a:spcPts val="25"/>
                    </a:spcBef>
                    <a:buClr>
                      <a:schemeClr val="accent6">
                        <a:lumMod val="75000"/>
                      </a:schemeClr>
                    </a:buClr>
                    <a:buFont typeface="Arial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100000"/>
                    </a:lnSpc>
                    <a:spcBef>
                      <a:spcPts val="25"/>
                    </a:spcBef>
                    <a:buClr>
                      <a:schemeClr val="accent6">
                        <a:lumMod val="75000"/>
                      </a:schemeClr>
                    </a:buClr>
                    <a:buFont typeface="Arial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2"/>
                  <a14:m>
                    <m:oMath xmlns:m="http://schemas.openxmlformats.org/officeDocument/2006/math">
                      <m:r>
                        <a:rPr lang="en-US" altLang="ja-JP" b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ja-JP" b="1" i="0" smtClean="0">
                          <a:latin typeface="Cambria Math" panose="02040503050406030204" pitchFamily="18" charset="0"/>
                        </a:rPr>
                        <m:t>𝟗𝟑</m:t>
                      </m:r>
                      <m:r>
                        <a:rPr lang="en-US" altLang="ja-JP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ja-JP" b="1" i="0" smtClean="0">
                          <a:latin typeface="Cambria Math" panose="02040503050406030204" pitchFamily="18" charset="0"/>
                        </a:rPr>
                        <m:t>𝐊</m:t>
                      </m:r>
                    </m:oMath>
                  </a14:m>
                  <a:endParaRPr lang="ja-JP" altLang="en-US"/>
                </a:p>
              </p:txBody>
            </p:sp>
          </mc:Choice>
          <mc:Fallback xmlns="">
            <p:sp>
              <p:nvSpPr>
                <p:cNvPr id="6" name="テキスト プレースホルダー 2">
                  <a:extLst>
                    <a:ext uri="{FF2B5EF4-FFF2-40B4-BE49-F238E27FC236}">
                      <a16:creationId xmlns:a16="http://schemas.microsoft.com/office/drawing/2014/main" id="{0C95B55B-A7FB-6DD6-05A9-9B88E5F145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72724" y="1766538"/>
                  <a:ext cx="4421111" cy="3066370"/>
                </a:xfrm>
                <a:prstGeom prst="rect">
                  <a:avLst/>
                </a:prstGeom>
                <a:blipFill>
                  <a:blip r:embed="rId5"/>
                  <a:stretch>
                    <a:fillRect t="-537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テキスト プレースホルダー 2">
                  <a:extLst>
                    <a:ext uri="{FF2B5EF4-FFF2-40B4-BE49-F238E27FC236}">
                      <a16:creationId xmlns:a16="http://schemas.microsoft.com/office/drawing/2014/main" id="{789BEEEC-DEB5-8C08-B0AF-ACAEED3CDAE6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452319" y="1770447"/>
                  <a:ext cx="3747848" cy="3066370"/>
                </a:xfrm>
                <a:prstGeom prst="rect">
                  <a:avLst/>
                </a:prstGeom>
              </p:spPr>
              <p:txBody>
                <a:bodyPr vert="horz"/>
                <a:lstStyle>
                  <a:lvl1pPr marL="342000" indent="-342900" algn="l" defTabSz="914400" rtl="0" eaLnBrk="1" latinLnBrk="0" hangingPunct="1">
                    <a:lnSpc>
                      <a:spcPct val="100000"/>
                    </a:lnSpc>
                    <a:spcBef>
                      <a:spcPts val="1800"/>
                    </a:spcBef>
                    <a:spcAft>
                      <a:spcPts val="400"/>
                    </a:spcAft>
                    <a:buClr>
                      <a:schemeClr val="accent6">
                        <a:lumMod val="75000"/>
                      </a:schemeClr>
                    </a:buClr>
                    <a:buSzPct val="140000"/>
                    <a:buFont typeface="ヒラギノ角ゴ ProN W3"/>
                    <a:buChar char="|"/>
                    <a:defRPr kumimoji="1" sz="28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1600" indent="-392400" algn="l" defTabSz="914400" rtl="0" eaLnBrk="1" latinLnBrk="0" hangingPunct="1">
                    <a:lnSpc>
                      <a:spcPct val="100000"/>
                    </a:lnSpc>
                    <a:spcBef>
                      <a:spcPts val="225"/>
                    </a:spcBef>
                    <a:buClr>
                      <a:schemeClr val="accent6">
                        <a:lumMod val="75000"/>
                      </a:schemeClr>
                    </a:buClr>
                    <a:buSzPct val="75000"/>
                    <a:buFont typeface="Wingdings" charset="2"/>
                    <a:buChar char="n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410400" algn="l" defTabSz="914400" rtl="0" eaLnBrk="1" latinLnBrk="0" hangingPunct="1">
                    <a:lnSpc>
                      <a:spcPct val="100000"/>
                    </a:lnSpc>
                    <a:spcBef>
                      <a:spcPts val="25"/>
                    </a:spcBef>
                    <a:buClr>
                      <a:schemeClr val="accent6">
                        <a:lumMod val="75000"/>
                      </a:schemeClr>
                    </a:buClr>
                    <a:buSzPct val="120000"/>
                    <a:buFont typeface="HiraKakuProN-W3" charset="-128"/>
                    <a:buChar char="−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100000"/>
                    </a:lnSpc>
                    <a:spcBef>
                      <a:spcPts val="25"/>
                    </a:spcBef>
                    <a:buClr>
                      <a:schemeClr val="accent6">
                        <a:lumMod val="75000"/>
                      </a:schemeClr>
                    </a:buClr>
                    <a:buFont typeface="Arial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100000"/>
                    </a:lnSpc>
                    <a:spcBef>
                      <a:spcPts val="25"/>
                    </a:spcBef>
                    <a:buClr>
                      <a:schemeClr val="accent6">
                        <a:lumMod val="75000"/>
                      </a:schemeClr>
                    </a:buClr>
                    <a:buFont typeface="Arial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2"/>
                  <a14:m>
                    <m:oMath xmlns:m="http://schemas.openxmlformats.org/officeDocument/2006/math">
                      <m:r>
                        <a:rPr lang="en-US" altLang="ja-JP" b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ja-JP" b="1" i="0" smtClean="0">
                          <a:latin typeface="Cambria Math" panose="02040503050406030204" pitchFamily="18" charset="0"/>
                        </a:rPr>
                        <m:t>𝟐𝟏𝟑</m:t>
                      </m:r>
                      <m:r>
                        <a:rPr lang="en-US" altLang="ja-JP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ja-JP" b="1" i="0" smtClean="0">
                          <a:latin typeface="Cambria Math" panose="02040503050406030204" pitchFamily="18" charset="0"/>
                        </a:rPr>
                        <m:t>𝐊</m:t>
                      </m:r>
                    </m:oMath>
                  </a14:m>
                  <a:endParaRPr lang="ja-JP" altLang="en-US"/>
                </a:p>
              </p:txBody>
            </p:sp>
          </mc:Choice>
          <mc:Fallback xmlns="">
            <p:sp>
              <p:nvSpPr>
                <p:cNvPr id="7" name="テキスト プレースホルダー 2">
                  <a:extLst>
                    <a:ext uri="{FF2B5EF4-FFF2-40B4-BE49-F238E27FC236}">
                      <a16:creationId xmlns:a16="http://schemas.microsoft.com/office/drawing/2014/main" id="{789BEEEC-DEB5-8C08-B0AF-ACAEED3CDA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52319" y="1770447"/>
                  <a:ext cx="3747848" cy="3066370"/>
                </a:xfrm>
                <a:prstGeom prst="rect">
                  <a:avLst/>
                </a:prstGeom>
                <a:blipFill>
                  <a:blip r:embed="rId6"/>
                  <a:stretch>
                    <a:fillRect t="-537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33F49E6-3854-258C-B20E-E3F64CE5C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F6909-ABCB-BB45-AC56-A8377246EBB2}" type="slidenum">
              <a:rPr lang="ja-JP" altLang="en-US" smtClean="0"/>
              <a:pPr/>
              <a:t>19</a:t>
            </a:fld>
            <a:endParaRPr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0504BE-B196-369C-C32A-B3F5B2F7D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dirty="0"/>
              <a:t>Tokyo University of Science - Computational Materials Science Laboratory -</a:t>
            </a:r>
            <a:endParaRPr lang="ja-JP" altLang="en-US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F1ADAB57-80C4-14E1-067E-78198E606CA9}"/>
              </a:ext>
            </a:extLst>
          </p:cNvPr>
          <p:cNvGrpSpPr/>
          <p:nvPr/>
        </p:nvGrpSpPr>
        <p:grpSpPr>
          <a:xfrm>
            <a:off x="-741351" y="1671851"/>
            <a:ext cx="10786366" cy="4306807"/>
            <a:chOff x="-741351" y="2257659"/>
            <a:chExt cx="10786366" cy="4306807"/>
          </a:xfrm>
        </p:grpSpPr>
        <p:pic>
          <p:nvPicPr>
            <p:cNvPr id="17" name="図 16">
              <a:extLst>
                <a:ext uri="{FF2B5EF4-FFF2-40B4-BE49-F238E27FC236}">
                  <a16:creationId xmlns:a16="http://schemas.microsoft.com/office/drawing/2014/main" id="{248B3AE2-8D1F-571E-80D8-AC9D2044C8C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5400000">
              <a:off x="181359" y="1335777"/>
              <a:ext cx="4305979" cy="6151399"/>
            </a:xfrm>
            <a:prstGeom prst="rect">
              <a:avLst/>
            </a:prstGeom>
          </p:spPr>
        </p:pic>
        <p:pic>
          <p:nvPicPr>
            <p:cNvPr id="21" name="図 20">
              <a:extLst>
                <a:ext uri="{FF2B5EF4-FFF2-40B4-BE49-F238E27FC236}">
                  <a16:creationId xmlns:a16="http://schemas.microsoft.com/office/drawing/2014/main" id="{53849FAB-29E4-EBA8-5B37-738C2BDFF4A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5400000">
              <a:off x="4816325" y="1334949"/>
              <a:ext cx="4305980" cy="6151400"/>
            </a:xfrm>
            <a:prstGeom prst="rect">
              <a:avLst/>
            </a:prstGeom>
          </p:spPr>
        </p:pic>
        <p:pic>
          <p:nvPicPr>
            <p:cNvPr id="27" name="図 26">
              <a:extLst>
                <a:ext uri="{FF2B5EF4-FFF2-40B4-BE49-F238E27FC236}">
                  <a16:creationId xmlns:a16="http://schemas.microsoft.com/office/drawing/2014/main" id="{71B588E0-D178-B099-3C23-DDD4704C446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5400000">
              <a:off x="1909119" y="2839311"/>
              <a:ext cx="2491200" cy="3558857"/>
            </a:xfrm>
            <a:prstGeom prst="rect">
              <a:avLst/>
            </a:prstGeom>
          </p:spPr>
        </p:pic>
        <p:pic>
          <p:nvPicPr>
            <p:cNvPr id="29" name="図 28">
              <a:extLst>
                <a:ext uri="{FF2B5EF4-FFF2-40B4-BE49-F238E27FC236}">
                  <a16:creationId xmlns:a16="http://schemas.microsoft.com/office/drawing/2014/main" id="{12D247FF-1245-3CE6-5A1A-7E98387D6A5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/>
            <a:srcRect t="16601"/>
            <a:stretch/>
          </p:blipFill>
          <p:spPr>
            <a:xfrm rot="5400000">
              <a:off x="6244266" y="3135144"/>
              <a:ext cx="2486808" cy="2962800"/>
            </a:xfrm>
            <a:prstGeom prst="rect">
              <a:avLst/>
            </a:prstGeom>
            <a:solidFill>
              <a:schemeClr val="bg1"/>
            </a:solidFill>
          </p:spPr>
        </p:pic>
        <p:sp>
          <p:nvSpPr>
            <p:cNvPr id="31" name="円/楕円 30">
              <a:extLst>
                <a:ext uri="{FF2B5EF4-FFF2-40B4-BE49-F238E27FC236}">
                  <a16:creationId xmlns:a16="http://schemas.microsoft.com/office/drawing/2014/main" id="{BA60210B-D89B-3FB5-9AE4-FB646C37B785}"/>
                </a:ext>
              </a:extLst>
            </p:cNvPr>
            <p:cNvSpPr/>
            <p:nvPr/>
          </p:nvSpPr>
          <p:spPr>
            <a:xfrm>
              <a:off x="2890439" y="3700874"/>
              <a:ext cx="95516" cy="955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" name="円/楕円 31">
              <a:extLst>
                <a:ext uri="{FF2B5EF4-FFF2-40B4-BE49-F238E27FC236}">
                  <a16:creationId xmlns:a16="http://schemas.microsoft.com/office/drawing/2014/main" id="{E87C365E-86F3-A8C5-433D-EA097E5DB072}"/>
                </a:ext>
              </a:extLst>
            </p:cNvPr>
            <p:cNvSpPr/>
            <p:nvPr/>
          </p:nvSpPr>
          <p:spPr>
            <a:xfrm>
              <a:off x="3150560" y="3689299"/>
              <a:ext cx="95516" cy="955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" name="円/楕円 32">
              <a:extLst>
                <a:ext uri="{FF2B5EF4-FFF2-40B4-BE49-F238E27FC236}">
                  <a16:creationId xmlns:a16="http://schemas.microsoft.com/office/drawing/2014/main" id="{355CA232-3524-31CF-E7F4-31D1F636CA62}"/>
                </a:ext>
              </a:extLst>
            </p:cNvPr>
            <p:cNvSpPr/>
            <p:nvPr/>
          </p:nvSpPr>
          <p:spPr>
            <a:xfrm>
              <a:off x="3326496" y="3673241"/>
              <a:ext cx="95516" cy="955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" name="円/楕円 37">
              <a:extLst>
                <a:ext uri="{FF2B5EF4-FFF2-40B4-BE49-F238E27FC236}">
                  <a16:creationId xmlns:a16="http://schemas.microsoft.com/office/drawing/2014/main" id="{C9E1D955-9C5B-5087-5930-A3AADBBD88FD}"/>
                </a:ext>
              </a:extLst>
            </p:cNvPr>
            <p:cNvSpPr/>
            <p:nvPr/>
          </p:nvSpPr>
          <p:spPr>
            <a:xfrm>
              <a:off x="3481554" y="3653116"/>
              <a:ext cx="95516" cy="955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" name="円/楕円 38">
              <a:extLst>
                <a:ext uri="{FF2B5EF4-FFF2-40B4-BE49-F238E27FC236}">
                  <a16:creationId xmlns:a16="http://schemas.microsoft.com/office/drawing/2014/main" id="{3A397544-AC03-5E23-D97E-FB6F274606BA}"/>
                </a:ext>
              </a:extLst>
            </p:cNvPr>
            <p:cNvSpPr/>
            <p:nvPr/>
          </p:nvSpPr>
          <p:spPr>
            <a:xfrm>
              <a:off x="3599757" y="3641541"/>
              <a:ext cx="95516" cy="955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" name="円/楕円 39">
              <a:extLst>
                <a:ext uri="{FF2B5EF4-FFF2-40B4-BE49-F238E27FC236}">
                  <a16:creationId xmlns:a16="http://schemas.microsoft.com/office/drawing/2014/main" id="{EF375E22-6B76-487E-3A44-92518D9DCF22}"/>
                </a:ext>
              </a:extLst>
            </p:cNvPr>
            <p:cNvSpPr/>
            <p:nvPr/>
          </p:nvSpPr>
          <p:spPr>
            <a:xfrm>
              <a:off x="3703702" y="3629811"/>
              <a:ext cx="95516" cy="95516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" name="円/楕円 40">
              <a:extLst>
                <a:ext uri="{FF2B5EF4-FFF2-40B4-BE49-F238E27FC236}">
                  <a16:creationId xmlns:a16="http://schemas.microsoft.com/office/drawing/2014/main" id="{2B9F5EB9-115E-F040-4FE2-5CCE1ED26AE5}"/>
                </a:ext>
              </a:extLst>
            </p:cNvPr>
            <p:cNvSpPr/>
            <p:nvPr/>
          </p:nvSpPr>
          <p:spPr>
            <a:xfrm>
              <a:off x="6991457" y="4480706"/>
              <a:ext cx="95516" cy="955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2" name="円/楕円 41">
              <a:extLst>
                <a:ext uri="{FF2B5EF4-FFF2-40B4-BE49-F238E27FC236}">
                  <a16:creationId xmlns:a16="http://schemas.microsoft.com/office/drawing/2014/main" id="{B9C89FAD-67CE-04AD-21F4-50FC83F6A91B}"/>
                </a:ext>
              </a:extLst>
            </p:cNvPr>
            <p:cNvSpPr/>
            <p:nvPr/>
          </p:nvSpPr>
          <p:spPr>
            <a:xfrm>
              <a:off x="7070386" y="4474918"/>
              <a:ext cx="95516" cy="955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3" name="円/楕円 42">
              <a:extLst>
                <a:ext uri="{FF2B5EF4-FFF2-40B4-BE49-F238E27FC236}">
                  <a16:creationId xmlns:a16="http://schemas.microsoft.com/office/drawing/2014/main" id="{D1457500-9B07-0684-57BE-9A613B616F50}"/>
                </a:ext>
              </a:extLst>
            </p:cNvPr>
            <p:cNvSpPr/>
            <p:nvPr/>
          </p:nvSpPr>
          <p:spPr>
            <a:xfrm>
              <a:off x="7203838" y="4469132"/>
              <a:ext cx="95516" cy="955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" name="円/楕円 43">
              <a:extLst>
                <a:ext uri="{FF2B5EF4-FFF2-40B4-BE49-F238E27FC236}">
                  <a16:creationId xmlns:a16="http://schemas.microsoft.com/office/drawing/2014/main" id="{F740FA18-910C-07AF-4ED9-9F3CE3C13BDD}"/>
                </a:ext>
              </a:extLst>
            </p:cNvPr>
            <p:cNvSpPr/>
            <p:nvPr/>
          </p:nvSpPr>
          <p:spPr>
            <a:xfrm>
              <a:off x="7325897" y="4451611"/>
              <a:ext cx="95516" cy="955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5" name="円/楕円 44">
              <a:extLst>
                <a:ext uri="{FF2B5EF4-FFF2-40B4-BE49-F238E27FC236}">
                  <a16:creationId xmlns:a16="http://schemas.microsoft.com/office/drawing/2014/main" id="{A2881224-61EF-F881-2199-EC08DE0B04E2}"/>
                </a:ext>
              </a:extLst>
            </p:cNvPr>
            <p:cNvSpPr/>
            <p:nvPr/>
          </p:nvSpPr>
          <p:spPr>
            <a:xfrm>
              <a:off x="7395996" y="4421374"/>
              <a:ext cx="95516" cy="955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" name="円/楕円 45">
              <a:extLst>
                <a:ext uri="{FF2B5EF4-FFF2-40B4-BE49-F238E27FC236}">
                  <a16:creationId xmlns:a16="http://schemas.microsoft.com/office/drawing/2014/main" id="{48F2F706-0CA2-5A2F-1650-E5C799BE4F22}"/>
                </a:ext>
              </a:extLst>
            </p:cNvPr>
            <p:cNvSpPr/>
            <p:nvPr/>
          </p:nvSpPr>
          <p:spPr>
            <a:xfrm>
              <a:off x="7519023" y="4421374"/>
              <a:ext cx="95516" cy="95516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2" name="円/楕円 51">
              <a:extLst>
                <a:ext uri="{FF2B5EF4-FFF2-40B4-BE49-F238E27FC236}">
                  <a16:creationId xmlns:a16="http://schemas.microsoft.com/office/drawing/2014/main" id="{896A729C-5A0B-2A5C-D4D4-1D4FB11192F0}"/>
                </a:ext>
              </a:extLst>
            </p:cNvPr>
            <p:cNvSpPr/>
            <p:nvPr/>
          </p:nvSpPr>
          <p:spPr>
            <a:xfrm>
              <a:off x="7756204" y="4458325"/>
              <a:ext cx="95516" cy="955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5" name="円/楕円 54">
              <a:extLst>
                <a:ext uri="{FF2B5EF4-FFF2-40B4-BE49-F238E27FC236}">
                  <a16:creationId xmlns:a16="http://schemas.microsoft.com/office/drawing/2014/main" id="{137E20B3-7587-CB4F-663B-DF070F6FF0A3}"/>
                </a:ext>
              </a:extLst>
            </p:cNvPr>
            <p:cNvSpPr/>
            <p:nvPr/>
          </p:nvSpPr>
          <p:spPr>
            <a:xfrm>
              <a:off x="7864958" y="4451611"/>
              <a:ext cx="95516" cy="955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7" name="円/楕円 56">
              <a:extLst>
                <a:ext uri="{FF2B5EF4-FFF2-40B4-BE49-F238E27FC236}">
                  <a16:creationId xmlns:a16="http://schemas.microsoft.com/office/drawing/2014/main" id="{1A5625F9-1155-65C2-E9B2-07DA47534B5B}"/>
                </a:ext>
              </a:extLst>
            </p:cNvPr>
            <p:cNvSpPr/>
            <p:nvPr/>
          </p:nvSpPr>
          <p:spPr>
            <a:xfrm>
              <a:off x="7931946" y="4450343"/>
              <a:ext cx="95516" cy="955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9" name="円/楕円 58">
              <a:extLst>
                <a:ext uri="{FF2B5EF4-FFF2-40B4-BE49-F238E27FC236}">
                  <a16:creationId xmlns:a16="http://schemas.microsoft.com/office/drawing/2014/main" id="{56ADA0B9-98CF-7BBB-5B54-E798157CEA82}"/>
                </a:ext>
              </a:extLst>
            </p:cNvPr>
            <p:cNvSpPr/>
            <p:nvPr/>
          </p:nvSpPr>
          <p:spPr>
            <a:xfrm>
              <a:off x="7979704" y="4430607"/>
              <a:ext cx="95516" cy="95516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0" name="円/楕円 59">
              <a:extLst>
                <a:ext uri="{FF2B5EF4-FFF2-40B4-BE49-F238E27FC236}">
                  <a16:creationId xmlns:a16="http://schemas.microsoft.com/office/drawing/2014/main" id="{3B921CD0-9C11-E3B9-D8A6-214DF31419A5}"/>
                </a:ext>
              </a:extLst>
            </p:cNvPr>
            <p:cNvSpPr/>
            <p:nvPr/>
          </p:nvSpPr>
          <p:spPr>
            <a:xfrm>
              <a:off x="8343684" y="4431147"/>
              <a:ext cx="95516" cy="95516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1" name="円/楕円 60">
              <a:extLst>
                <a:ext uri="{FF2B5EF4-FFF2-40B4-BE49-F238E27FC236}">
                  <a16:creationId xmlns:a16="http://schemas.microsoft.com/office/drawing/2014/main" id="{7150CE20-11BF-71DD-DAB7-3D721B296D55}"/>
                </a:ext>
              </a:extLst>
            </p:cNvPr>
            <p:cNvSpPr/>
            <p:nvPr/>
          </p:nvSpPr>
          <p:spPr>
            <a:xfrm>
              <a:off x="8447942" y="4437686"/>
              <a:ext cx="95516" cy="95516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1" name="円/楕円 70">
              <a:extLst>
                <a:ext uri="{FF2B5EF4-FFF2-40B4-BE49-F238E27FC236}">
                  <a16:creationId xmlns:a16="http://schemas.microsoft.com/office/drawing/2014/main" id="{EE5B4D93-C2E9-4CDB-4DE4-EDBB14E9BAAC}"/>
                </a:ext>
              </a:extLst>
            </p:cNvPr>
            <p:cNvSpPr/>
            <p:nvPr/>
          </p:nvSpPr>
          <p:spPr>
            <a:xfrm>
              <a:off x="8184807" y="4455883"/>
              <a:ext cx="95516" cy="955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2" name="円/楕円 71">
              <a:extLst>
                <a:ext uri="{FF2B5EF4-FFF2-40B4-BE49-F238E27FC236}">
                  <a16:creationId xmlns:a16="http://schemas.microsoft.com/office/drawing/2014/main" id="{38D19E3F-8A5D-7E69-576D-F96EF3A641C1}"/>
                </a:ext>
              </a:extLst>
            </p:cNvPr>
            <p:cNvSpPr/>
            <p:nvPr/>
          </p:nvSpPr>
          <p:spPr>
            <a:xfrm>
              <a:off x="8266126" y="4428768"/>
              <a:ext cx="95516" cy="955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3" name="円/楕円 72">
              <a:extLst>
                <a:ext uri="{FF2B5EF4-FFF2-40B4-BE49-F238E27FC236}">
                  <a16:creationId xmlns:a16="http://schemas.microsoft.com/office/drawing/2014/main" id="{618BBF47-07DC-880C-D630-4E13369EBD6D}"/>
                </a:ext>
              </a:extLst>
            </p:cNvPr>
            <p:cNvSpPr/>
            <p:nvPr/>
          </p:nvSpPr>
          <p:spPr>
            <a:xfrm>
              <a:off x="8643137" y="4437686"/>
              <a:ext cx="95516" cy="955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4" name="円/楕円 73">
              <a:extLst>
                <a:ext uri="{FF2B5EF4-FFF2-40B4-BE49-F238E27FC236}">
                  <a16:creationId xmlns:a16="http://schemas.microsoft.com/office/drawing/2014/main" id="{20956A8D-1F4A-4465-95D1-0B1E1A0E3B97}"/>
                </a:ext>
              </a:extLst>
            </p:cNvPr>
            <p:cNvSpPr/>
            <p:nvPr/>
          </p:nvSpPr>
          <p:spPr>
            <a:xfrm>
              <a:off x="8745123" y="4433823"/>
              <a:ext cx="95516" cy="955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5" name="円/楕円 74">
              <a:extLst>
                <a:ext uri="{FF2B5EF4-FFF2-40B4-BE49-F238E27FC236}">
                  <a16:creationId xmlns:a16="http://schemas.microsoft.com/office/drawing/2014/main" id="{AB8AA8EC-EB62-0AEA-9A9C-AB72719EF39F}"/>
                </a:ext>
              </a:extLst>
            </p:cNvPr>
            <p:cNvSpPr/>
            <p:nvPr/>
          </p:nvSpPr>
          <p:spPr>
            <a:xfrm>
              <a:off x="8812245" y="4428768"/>
              <a:ext cx="95516" cy="955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6" name="円/楕円 75">
              <a:extLst>
                <a:ext uri="{FF2B5EF4-FFF2-40B4-BE49-F238E27FC236}">
                  <a16:creationId xmlns:a16="http://schemas.microsoft.com/office/drawing/2014/main" id="{3981FD52-E2BE-757C-16B5-300B0CC2923C}"/>
                </a:ext>
              </a:extLst>
            </p:cNvPr>
            <p:cNvSpPr/>
            <p:nvPr/>
          </p:nvSpPr>
          <p:spPr>
            <a:xfrm>
              <a:off x="3912226" y="3700874"/>
              <a:ext cx="95516" cy="955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7" name="円/楕円 76">
              <a:extLst>
                <a:ext uri="{FF2B5EF4-FFF2-40B4-BE49-F238E27FC236}">
                  <a16:creationId xmlns:a16="http://schemas.microsoft.com/office/drawing/2014/main" id="{12A17A48-F84F-548B-F3EE-686CB86824DB}"/>
                </a:ext>
              </a:extLst>
            </p:cNvPr>
            <p:cNvSpPr/>
            <p:nvPr/>
          </p:nvSpPr>
          <p:spPr>
            <a:xfrm>
              <a:off x="3994488" y="3673241"/>
              <a:ext cx="95516" cy="955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8" name="円/楕円 77">
              <a:extLst>
                <a:ext uri="{FF2B5EF4-FFF2-40B4-BE49-F238E27FC236}">
                  <a16:creationId xmlns:a16="http://schemas.microsoft.com/office/drawing/2014/main" id="{CF1BB56D-36E1-88C9-923D-4DB3D07BCCDB}"/>
                </a:ext>
              </a:extLst>
            </p:cNvPr>
            <p:cNvSpPr/>
            <p:nvPr/>
          </p:nvSpPr>
          <p:spPr>
            <a:xfrm>
              <a:off x="4069551" y="3673241"/>
              <a:ext cx="95516" cy="955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9" name="円/楕円 78">
              <a:extLst>
                <a:ext uri="{FF2B5EF4-FFF2-40B4-BE49-F238E27FC236}">
                  <a16:creationId xmlns:a16="http://schemas.microsoft.com/office/drawing/2014/main" id="{2AD635C0-C0EE-DF3E-D004-B9A5A020503F}"/>
                </a:ext>
              </a:extLst>
            </p:cNvPr>
            <p:cNvSpPr/>
            <p:nvPr/>
          </p:nvSpPr>
          <p:spPr>
            <a:xfrm>
              <a:off x="4143119" y="3634400"/>
              <a:ext cx="95516" cy="95516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C98317A5-6F51-8669-1F56-12C57F73D69C}"/>
              </a:ext>
            </a:extLst>
          </p:cNvPr>
          <p:cNvGrpSpPr/>
          <p:nvPr/>
        </p:nvGrpSpPr>
        <p:grpSpPr>
          <a:xfrm>
            <a:off x="5621799" y="57445"/>
            <a:ext cx="3452119" cy="1243173"/>
            <a:chOff x="5636086" y="29039"/>
            <a:chExt cx="3452119" cy="1243173"/>
          </a:xfrm>
        </p:grpSpPr>
        <p:sp>
          <p:nvSpPr>
            <p:cNvPr id="8" name="角丸四角形 7">
              <a:extLst>
                <a:ext uri="{FF2B5EF4-FFF2-40B4-BE49-F238E27FC236}">
                  <a16:creationId xmlns:a16="http://schemas.microsoft.com/office/drawing/2014/main" id="{8E0E6473-20C4-0BB3-D50A-3057769BB5D4}"/>
                </a:ext>
              </a:extLst>
            </p:cNvPr>
            <p:cNvSpPr/>
            <p:nvPr/>
          </p:nvSpPr>
          <p:spPr>
            <a:xfrm>
              <a:off x="5636086" y="29039"/>
              <a:ext cx="3452119" cy="1243173"/>
            </a:xfrm>
            <a:prstGeom prst="roundRect">
              <a:avLst>
                <a:gd name="adj" fmla="val 8762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id="{6D80E691-1C22-25A1-A9C4-AC0FD8073724}"/>
                </a:ext>
              </a:extLst>
            </p:cNvPr>
            <p:cNvGrpSpPr/>
            <p:nvPr/>
          </p:nvGrpSpPr>
          <p:grpSpPr>
            <a:xfrm>
              <a:off x="5802347" y="130527"/>
              <a:ext cx="3024077" cy="369332"/>
              <a:chOff x="811380" y="6225360"/>
              <a:chExt cx="3024077" cy="369332"/>
            </a:xfrm>
          </p:grpSpPr>
          <p:sp>
            <p:nvSpPr>
              <p:cNvPr id="16" name="円/楕円 15">
                <a:extLst>
                  <a:ext uri="{FF2B5EF4-FFF2-40B4-BE49-F238E27FC236}">
                    <a16:creationId xmlns:a16="http://schemas.microsoft.com/office/drawing/2014/main" id="{853D6222-4DC2-BE3C-BBF6-9B8319D599B5}"/>
                  </a:ext>
                </a:extLst>
              </p:cNvPr>
              <p:cNvSpPr/>
              <p:nvPr/>
            </p:nvSpPr>
            <p:spPr>
              <a:xfrm>
                <a:off x="811380" y="6225360"/>
                <a:ext cx="328455" cy="328455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1CFD4F28-0C1C-9F76-33E9-36AF1CAD2BD5}"/>
                  </a:ext>
                </a:extLst>
              </p:cNvPr>
              <p:cNvSpPr txBox="1"/>
              <p:nvPr/>
            </p:nvSpPr>
            <p:spPr>
              <a:xfrm>
                <a:off x="1073162" y="6225360"/>
                <a:ext cx="27622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/>
                  <a:t>：</a:t>
                </a:r>
                <a:r>
                  <a:rPr lang="en-US" altLang="ja-JP" dirty="0"/>
                  <a:t>F</a:t>
                </a:r>
                <a:r>
                  <a:rPr kumimoji="1" lang="en-US" altLang="ja-JP" dirty="0"/>
                  <a:t>ar</a:t>
                </a:r>
                <a:r>
                  <a:rPr lang="en-US" altLang="ja-JP" dirty="0"/>
                  <a:t> dislocation emitted</a:t>
                </a:r>
                <a:endParaRPr kumimoji="1" lang="ja-JP" altLang="en-US"/>
              </a:p>
            </p:txBody>
          </p:sp>
        </p:grpSp>
        <p:grpSp>
          <p:nvGrpSpPr>
            <p:cNvPr id="10" name="グループ化 9">
              <a:extLst>
                <a:ext uri="{FF2B5EF4-FFF2-40B4-BE49-F238E27FC236}">
                  <a16:creationId xmlns:a16="http://schemas.microsoft.com/office/drawing/2014/main" id="{4CFF8668-844C-7B67-EC97-C6F1BDA11623}"/>
                </a:ext>
              </a:extLst>
            </p:cNvPr>
            <p:cNvGrpSpPr/>
            <p:nvPr/>
          </p:nvGrpSpPr>
          <p:grpSpPr>
            <a:xfrm>
              <a:off x="5797780" y="520598"/>
              <a:ext cx="3190789" cy="369332"/>
              <a:chOff x="811380" y="6225360"/>
              <a:chExt cx="3190789" cy="369332"/>
            </a:xfrm>
          </p:grpSpPr>
          <p:sp>
            <p:nvSpPr>
              <p:cNvPr id="14" name="円/楕円 13">
                <a:extLst>
                  <a:ext uri="{FF2B5EF4-FFF2-40B4-BE49-F238E27FC236}">
                    <a16:creationId xmlns:a16="http://schemas.microsoft.com/office/drawing/2014/main" id="{FDC6F0DD-E669-C552-2EF8-B79FD40007CB}"/>
                  </a:ext>
                </a:extLst>
              </p:cNvPr>
              <p:cNvSpPr/>
              <p:nvPr/>
            </p:nvSpPr>
            <p:spPr>
              <a:xfrm>
                <a:off x="811380" y="6225360"/>
                <a:ext cx="328455" cy="328455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D2BD3F5A-8E5E-7F97-1972-0C799DAF63F8}"/>
                  </a:ext>
                </a:extLst>
              </p:cNvPr>
              <p:cNvSpPr txBox="1"/>
              <p:nvPr/>
            </p:nvSpPr>
            <p:spPr>
              <a:xfrm>
                <a:off x="1073162" y="6225360"/>
                <a:ext cx="292900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/>
                  <a:t>：</a:t>
                </a:r>
                <a:r>
                  <a:rPr lang="en-US" altLang="ja-JP" dirty="0"/>
                  <a:t>Ne</a:t>
                </a:r>
                <a:r>
                  <a:rPr kumimoji="1" lang="en-US" altLang="ja-JP" dirty="0"/>
                  <a:t>ar</a:t>
                </a:r>
                <a:r>
                  <a:rPr lang="en-US" altLang="ja-JP" dirty="0"/>
                  <a:t> dislocation emitted</a:t>
                </a:r>
                <a:endParaRPr kumimoji="1" lang="ja-JP" altLang="en-US"/>
              </a:p>
            </p:txBody>
          </p:sp>
        </p:grpSp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CCEAE679-4A6F-F2F4-2AF0-7D152AC4BBAA}"/>
                </a:ext>
              </a:extLst>
            </p:cNvPr>
            <p:cNvGrpSpPr/>
            <p:nvPr/>
          </p:nvGrpSpPr>
          <p:grpSpPr>
            <a:xfrm>
              <a:off x="5842527" y="875980"/>
              <a:ext cx="1602749" cy="391582"/>
              <a:chOff x="6793992" y="1334524"/>
              <a:chExt cx="1602749" cy="39158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テキスト ボックス 11">
                    <a:extLst>
                      <a:ext uri="{FF2B5EF4-FFF2-40B4-BE49-F238E27FC236}">
                        <a16:creationId xmlns:a16="http://schemas.microsoft.com/office/drawing/2014/main" id="{0C139EC7-4F26-2E59-51A8-3DF14F3B5F3A}"/>
                      </a:ext>
                    </a:extLst>
                  </p:cNvPr>
                  <p:cNvSpPr txBox="1"/>
                  <p:nvPr/>
                </p:nvSpPr>
                <p:spPr>
                  <a:xfrm>
                    <a:off x="7233987" y="1334524"/>
                    <a:ext cx="1162754" cy="39158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ja-JP" altLang="en-US"/>
                      <a:t>：</a:t>
                    </a:r>
                    <a14:m>
                      <m:oMath xmlns:m="http://schemas.openxmlformats.org/officeDocument/2006/math"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oMath>
                    </a14:m>
                    <a:endParaRPr kumimoji="1" lang="ja-JP" altLang="en-US"/>
                  </a:p>
                </p:txBody>
              </p:sp>
            </mc:Choice>
            <mc:Fallback xmlns="">
              <p:sp>
                <p:nvSpPr>
                  <p:cNvPr id="23" name="テキスト ボックス 22">
                    <a:extLst>
                      <a:ext uri="{FF2B5EF4-FFF2-40B4-BE49-F238E27FC236}">
                        <a16:creationId xmlns:a16="http://schemas.microsoft.com/office/drawing/2014/main" id="{C01F20C7-9A73-6DD7-C02C-AC7D0CFE621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33987" y="1334524"/>
                    <a:ext cx="1162754" cy="39158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4348" b="-25806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3" name="直線コネクタ 12">
                <a:extLst>
                  <a:ext uri="{FF2B5EF4-FFF2-40B4-BE49-F238E27FC236}">
                    <a16:creationId xmlns:a16="http://schemas.microsoft.com/office/drawing/2014/main" id="{83A86ADD-2BDA-0828-41F7-96BD288EB9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93992" y="1546057"/>
                <a:ext cx="544691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4" name="下矢印 33">
            <a:extLst>
              <a:ext uri="{FF2B5EF4-FFF2-40B4-BE49-F238E27FC236}">
                <a16:creationId xmlns:a16="http://schemas.microsoft.com/office/drawing/2014/main" id="{2446B5B8-557B-5662-3AC4-A0A8B5BEC984}"/>
              </a:ext>
            </a:extLst>
          </p:cNvPr>
          <p:cNvSpPr/>
          <p:nvPr/>
        </p:nvSpPr>
        <p:spPr>
          <a:xfrm>
            <a:off x="7165902" y="1880187"/>
            <a:ext cx="336966" cy="289197"/>
          </a:xfrm>
          <a:prstGeom prst="downArrow">
            <a:avLst>
              <a:gd name="adj1" fmla="val 56714"/>
              <a:gd name="adj2" fmla="val 44458"/>
            </a:avLst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grpSp>
        <p:nvGrpSpPr>
          <p:cNvPr id="80" name="グループ化 79">
            <a:extLst>
              <a:ext uri="{FF2B5EF4-FFF2-40B4-BE49-F238E27FC236}">
                <a16:creationId xmlns:a16="http://schemas.microsoft.com/office/drawing/2014/main" id="{A39A86F2-66C1-0B8D-8D59-8996B8D7FA73}"/>
              </a:ext>
            </a:extLst>
          </p:cNvPr>
          <p:cNvGrpSpPr/>
          <p:nvPr/>
        </p:nvGrpSpPr>
        <p:grpSpPr>
          <a:xfrm>
            <a:off x="2353694" y="4579287"/>
            <a:ext cx="1888106" cy="427973"/>
            <a:chOff x="2353694" y="5165095"/>
            <a:chExt cx="1888106" cy="427973"/>
          </a:xfrm>
        </p:grpSpPr>
        <p:sp>
          <p:nvSpPr>
            <p:cNvPr id="23" name="左右矢印 22">
              <a:extLst>
                <a:ext uri="{FF2B5EF4-FFF2-40B4-BE49-F238E27FC236}">
                  <a16:creationId xmlns:a16="http://schemas.microsoft.com/office/drawing/2014/main" id="{033594DA-A95F-1F28-E5D4-B665F0C79639}"/>
                </a:ext>
              </a:extLst>
            </p:cNvPr>
            <p:cNvSpPr/>
            <p:nvPr/>
          </p:nvSpPr>
          <p:spPr>
            <a:xfrm>
              <a:off x="2353694" y="5410200"/>
              <a:ext cx="1888106" cy="182868"/>
            </a:xfrm>
            <a:prstGeom prst="leftRightArrow">
              <a:avLst>
                <a:gd name="adj1" fmla="val 50000"/>
                <a:gd name="adj2" fmla="val 105236"/>
              </a:avLst>
            </a:prstGeom>
            <a:solidFill>
              <a:srgbClr val="A6A6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" name="テキスト ボックス 34">
              <a:extLst>
                <a:ext uri="{FF2B5EF4-FFF2-40B4-BE49-F238E27FC236}">
                  <a16:creationId xmlns:a16="http://schemas.microsoft.com/office/drawing/2014/main" id="{A1E8B862-936C-E997-0491-F1D41425A0D2}"/>
                </a:ext>
              </a:extLst>
            </p:cNvPr>
            <p:cNvSpPr txBox="1"/>
            <p:nvPr/>
          </p:nvSpPr>
          <p:spPr>
            <a:xfrm>
              <a:off x="2578170" y="5165095"/>
              <a:ext cx="15391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ja-JP" dirty="0">
                  <a:ln w="0">
                    <a:noFill/>
                  </a:ln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Same range</a:t>
              </a:r>
              <a:endParaRPr kumimoji="1" lang="ja-JP" altLang="en-US">
                <a:ln w="0">
                  <a:noFill/>
                </a:ln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16" name="グループ化 115">
            <a:extLst>
              <a:ext uri="{FF2B5EF4-FFF2-40B4-BE49-F238E27FC236}">
                <a16:creationId xmlns:a16="http://schemas.microsoft.com/office/drawing/2014/main" id="{416219B5-7198-FA21-8E29-C60F1DF9E996}"/>
              </a:ext>
            </a:extLst>
          </p:cNvPr>
          <p:cNvGrpSpPr/>
          <p:nvPr/>
        </p:nvGrpSpPr>
        <p:grpSpPr>
          <a:xfrm>
            <a:off x="6982553" y="4562235"/>
            <a:ext cx="1888106" cy="427973"/>
            <a:chOff x="2353694" y="5165095"/>
            <a:chExt cx="1888106" cy="427973"/>
          </a:xfrm>
        </p:grpSpPr>
        <p:sp>
          <p:nvSpPr>
            <p:cNvPr id="117" name="左右矢印 116">
              <a:extLst>
                <a:ext uri="{FF2B5EF4-FFF2-40B4-BE49-F238E27FC236}">
                  <a16:creationId xmlns:a16="http://schemas.microsoft.com/office/drawing/2014/main" id="{79BF70F4-F1F7-F8F5-13BB-E6853210700D}"/>
                </a:ext>
              </a:extLst>
            </p:cNvPr>
            <p:cNvSpPr/>
            <p:nvPr/>
          </p:nvSpPr>
          <p:spPr>
            <a:xfrm>
              <a:off x="2353694" y="5410200"/>
              <a:ext cx="1888106" cy="182868"/>
            </a:xfrm>
            <a:prstGeom prst="leftRightArrow">
              <a:avLst>
                <a:gd name="adj1" fmla="val 50000"/>
                <a:gd name="adj2" fmla="val 105236"/>
              </a:avLst>
            </a:prstGeom>
            <a:solidFill>
              <a:srgbClr val="A6A6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8" name="テキスト ボックス 117">
              <a:extLst>
                <a:ext uri="{FF2B5EF4-FFF2-40B4-BE49-F238E27FC236}">
                  <a16:creationId xmlns:a16="http://schemas.microsoft.com/office/drawing/2014/main" id="{FA6530B5-B09C-AC41-7079-EFB957DB6EDC}"/>
                </a:ext>
              </a:extLst>
            </p:cNvPr>
            <p:cNvSpPr txBox="1"/>
            <p:nvPr/>
          </p:nvSpPr>
          <p:spPr>
            <a:xfrm>
              <a:off x="2578170" y="5165095"/>
              <a:ext cx="15391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ja-JP" dirty="0">
                  <a:ln w="0">
                    <a:noFill/>
                  </a:ln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Same range</a:t>
              </a:r>
              <a:endParaRPr kumimoji="1" lang="ja-JP" altLang="en-US">
                <a:ln w="0">
                  <a:noFill/>
                </a:ln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74402790-8F70-261F-FA78-089168C57D9D}"/>
              </a:ext>
            </a:extLst>
          </p:cNvPr>
          <p:cNvCxnSpPr>
            <a:cxnSpLocks/>
          </p:cNvCxnSpPr>
          <p:nvPr/>
        </p:nvCxnSpPr>
        <p:spPr>
          <a:xfrm>
            <a:off x="5410048" y="1880187"/>
            <a:ext cx="363881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51A2155B-0E48-4E8E-46E5-02D3BA713ED8}"/>
              </a:ext>
            </a:extLst>
          </p:cNvPr>
          <p:cNvGrpSpPr/>
          <p:nvPr/>
        </p:nvGrpSpPr>
        <p:grpSpPr>
          <a:xfrm>
            <a:off x="1512395" y="5960578"/>
            <a:ext cx="6783818" cy="717874"/>
            <a:chOff x="4133403" y="5444462"/>
            <a:chExt cx="5019345" cy="1020395"/>
          </a:xfrm>
        </p:grpSpPr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350E2291-B96C-7676-DE12-FAF187BFB4D9}"/>
                </a:ext>
              </a:extLst>
            </p:cNvPr>
            <p:cNvSpPr/>
            <p:nvPr/>
          </p:nvSpPr>
          <p:spPr>
            <a:xfrm>
              <a:off x="4133403" y="5444462"/>
              <a:ext cx="4960252" cy="89674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0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4" name="テキスト プレースホルダー 2">
              <a:extLst>
                <a:ext uri="{FF2B5EF4-FFF2-40B4-BE49-F238E27FC236}">
                  <a16:creationId xmlns:a16="http://schemas.microsoft.com/office/drawing/2014/main" id="{DF91C308-121A-8C20-845A-B8595B423A96}"/>
                </a:ext>
              </a:extLst>
            </p:cNvPr>
            <p:cNvSpPr txBox="1">
              <a:spLocks/>
            </p:cNvSpPr>
            <p:nvPr/>
          </p:nvSpPr>
          <p:spPr>
            <a:xfrm>
              <a:off x="4153486" y="5653882"/>
              <a:ext cx="4999262" cy="810975"/>
            </a:xfrm>
            <a:prstGeom prst="rect">
              <a:avLst/>
            </a:prstGeom>
          </p:spPr>
          <p:txBody>
            <a:bodyPr vert="horz"/>
            <a:lstStyle>
              <a:lvl1pPr marL="342000" indent="-342900" algn="l" defTabSz="914400" rtl="0" eaLnBrk="1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400"/>
                </a:spcAft>
                <a:buClr>
                  <a:schemeClr val="accent6">
                    <a:lumMod val="75000"/>
                  </a:schemeClr>
                </a:buClr>
                <a:buSzPct val="140000"/>
                <a:buFont typeface="ヒラギノ角ゴ ProN W3"/>
                <a:buChar char="|"/>
                <a:defRPr kumimoji="1" sz="2800" b="1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1pPr>
              <a:lvl2pPr marL="741600" indent="-392400" algn="l" defTabSz="914400" rtl="0" eaLnBrk="1" latinLnBrk="0" hangingPunct="1">
                <a:lnSpc>
                  <a:spcPct val="100000"/>
                </a:lnSpc>
                <a:spcBef>
                  <a:spcPts val="225"/>
                </a:spcBef>
                <a:buClr>
                  <a:schemeClr val="accent6">
                    <a:lumMod val="75000"/>
                  </a:schemeClr>
                </a:buClr>
                <a:buSzPct val="75000"/>
                <a:buFont typeface="Wingdings" charset="2"/>
                <a:buChar char="n"/>
                <a:defRPr kumimoji="1" sz="28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2pPr>
              <a:lvl3pPr marL="1143000" indent="-410400" algn="l" defTabSz="914400" rtl="0" eaLnBrk="1" latinLnBrk="0" hangingPunct="1">
                <a:lnSpc>
                  <a:spcPct val="100000"/>
                </a:lnSpc>
                <a:spcBef>
                  <a:spcPts val="25"/>
                </a:spcBef>
                <a:buClr>
                  <a:schemeClr val="accent6">
                    <a:lumMod val="75000"/>
                  </a:schemeClr>
                </a:buClr>
                <a:buSzPct val="120000"/>
                <a:buFont typeface="HiraKakuProN-W3" charset="-128"/>
                <a:buChar char="−"/>
                <a:defRPr kumimoji="1" sz="24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00000"/>
                </a:lnSpc>
                <a:spcBef>
                  <a:spcPts val="25"/>
                </a:spcBef>
                <a:buClr>
                  <a:schemeClr val="accent6">
                    <a:lumMod val="75000"/>
                  </a:schemeClr>
                </a:buClr>
                <a:buFont typeface="Arial"/>
                <a:buChar char="•"/>
                <a:defRPr kumimoji="1" sz="18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00000"/>
                </a:lnSpc>
                <a:spcBef>
                  <a:spcPts val="25"/>
                </a:spcBef>
                <a:buClr>
                  <a:schemeClr val="accent6">
                    <a:lumMod val="75000"/>
                  </a:schemeClr>
                </a:buClr>
                <a:buFont typeface="Arial"/>
                <a:buChar char="•"/>
                <a:defRPr kumimoji="1" sz="18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2" indent="0" algn="ctr">
                <a:buNone/>
              </a:pPr>
              <a:r>
                <a:rPr lang="en-US" altLang="ja-JP" sz="2000" dirty="0"/>
                <a:t>At high temperature, </a:t>
              </a:r>
              <a:r>
                <a:rPr lang="en-US" altLang="ja-JP" sz="2000" dirty="0">
                  <a:solidFill>
                    <a:srgbClr val="FF0000"/>
                  </a:solidFill>
                </a:rPr>
                <a:t>dislocations are emitted easily</a:t>
              </a:r>
              <a:endParaRPr lang="en-US" altLang="ja-JP" u="sng" dirty="0"/>
            </a:p>
          </p:txBody>
        </p:sp>
      </p:grp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E6BA888F-EC83-AC28-07E3-231E00A4E01A}"/>
              </a:ext>
            </a:extLst>
          </p:cNvPr>
          <p:cNvCxnSpPr/>
          <p:nvPr/>
        </p:nvCxnSpPr>
        <p:spPr>
          <a:xfrm>
            <a:off x="4819799" y="1880187"/>
            <a:ext cx="0" cy="289197"/>
          </a:xfrm>
          <a:prstGeom prst="straightConnector1">
            <a:avLst/>
          </a:prstGeom>
          <a:ln w="28575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8971A719-D5CA-5660-DE53-92D3E8642F1F}"/>
              </a:ext>
            </a:extLst>
          </p:cNvPr>
          <p:cNvCxnSpPr/>
          <p:nvPr/>
        </p:nvCxnSpPr>
        <p:spPr>
          <a:xfrm>
            <a:off x="4419107" y="1880187"/>
            <a:ext cx="594682" cy="0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84AE5C07-7F10-2ABF-2024-A899BA46F956}"/>
              </a:ext>
            </a:extLst>
          </p:cNvPr>
          <p:cNvCxnSpPr>
            <a:cxnSpLocks/>
          </p:cNvCxnSpPr>
          <p:nvPr/>
        </p:nvCxnSpPr>
        <p:spPr>
          <a:xfrm>
            <a:off x="4736387" y="2167688"/>
            <a:ext cx="872084" cy="0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66133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プレースホルダー 2">
                <a:extLst>
                  <a:ext uri="{FF2B5EF4-FFF2-40B4-BE49-F238E27FC236}">
                    <a16:creationId xmlns:a16="http://schemas.microsoft.com/office/drawing/2014/main" id="{49541148-69B7-EFF8-0EC1-47B63D95C5E3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0" y="798955"/>
                <a:ext cx="9791700" cy="3066370"/>
              </a:xfrm>
            </p:spPr>
            <p:txBody>
              <a:bodyPr/>
              <a:lstStyle/>
              <a:p>
                <a:r>
                  <a:rPr kumimoji="1" lang="en-US" altLang="ja-JP" dirty="0"/>
                  <a:t>Crack length </a:t>
                </a:r>
                <a14:m>
                  <m:oMath xmlns:m="http://schemas.openxmlformats.org/officeDocument/2006/math">
                    <m:r>
                      <a:rPr lang="en-US" altLang="ja-JP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ja-JP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kumimoji="1" lang="en-US" altLang="ja-JP" dirty="0"/>
                  <a:t> </a:t>
                </a:r>
              </a:p>
            </p:txBody>
          </p:sp>
        </mc:Choice>
        <mc:Fallback xmlns="">
          <p:sp>
            <p:nvSpPr>
              <p:cNvPr id="3" name="テキスト プレースホルダー 2">
                <a:extLst>
                  <a:ext uri="{FF2B5EF4-FFF2-40B4-BE49-F238E27FC236}">
                    <a16:creationId xmlns:a16="http://schemas.microsoft.com/office/drawing/2014/main" id="{49541148-69B7-EFF8-0EC1-47B63D95C5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0" y="798955"/>
                <a:ext cx="9791700" cy="3066370"/>
              </a:xfrm>
              <a:blipFill>
                <a:blip r:embed="rId2"/>
                <a:stretch>
                  <a:fillRect l="-2205" t="-9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タイトル 1">
            <a:extLst>
              <a:ext uri="{FF2B5EF4-FFF2-40B4-BE49-F238E27FC236}">
                <a16:creationId xmlns:a16="http://schemas.microsoft.com/office/drawing/2014/main" id="{3538F436-DD3F-A9D9-F0C0-2DFD862A6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Main factors</a:t>
            </a:r>
            <a:r>
              <a:rPr kumimoji="1" lang="en-US" altLang="ja-JP" dirty="0"/>
              <a:t> that shift the type of fracture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51C37FD-1200-6667-5870-4A4DBAE6C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F6909-ABCB-BB45-AC56-A8377246EBB2}" type="slidenum">
              <a:rPr lang="ja-JP" altLang="en-US" smtClean="0"/>
              <a:pPr/>
              <a:t>20</a:t>
            </a:fld>
            <a:endParaRPr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24CDCB6-8180-F773-A87C-622EF9B33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Tokyo University of Science - Computational Materials Science Laboratory -</a:t>
            </a:r>
            <a:endParaRPr lang="ja-JP" altLang="en-US" dirty="0"/>
          </a:p>
        </p:txBody>
      </p:sp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5E5986E7-E625-C172-8FBA-EC167A70D6AA}"/>
              </a:ext>
            </a:extLst>
          </p:cNvPr>
          <p:cNvGrpSpPr/>
          <p:nvPr/>
        </p:nvGrpSpPr>
        <p:grpSpPr>
          <a:xfrm>
            <a:off x="3653302" y="4658749"/>
            <a:ext cx="4948023" cy="2102272"/>
            <a:chOff x="4174068" y="4881095"/>
            <a:chExt cx="4783097" cy="1797668"/>
          </a:xfrm>
        </p:grpSpPr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CC457605-4193-E612-249C-F0FAF45F4DB1}"/>
                </a:ext>
              </a:extLst>
            </p:cNvPr>
            <p:cNvSpPr/>
            <p:nvPr/>
          </p:nvSpPr>
          <p:spPr>
            <a:xfrm>
              <a:off x="4174068" y="4881095"/>
              <a:ext cx="4781553" cy="144359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0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9" name="テキスト プレースホルダー 2">
              <a:extLst>
                <a:ext uri="{FF2B5EF4-FFF2-40B4-BE49-F238E27FC236}">
                  <a16:creationId xmlns:a16="http://schemas.microsoft.com/office/drawing/2014/main" id="{EC9F78DF-29F8-7726-D7ED-4ABF805D9D66}"/>
                </a:ext>
              </a:extLst>
            </p:cNvPr>
            <p:cNvSpPr txBox="1">
              <a:spLocks/>
            </p:cNvSpPr>
            <p:nvPr/>
          </p:nvSpPr>
          <p:spPr>
            <a:xfrm>
              <a:off x="4249694" y="4951212"/>
              <a:ext cx="4707471" cy="1727551"/>
            </a:xfrm>
            <a:prstGeom prst="rect">
              <a:avLst/>
            </a:prstGeom>
          </p:spPr>
          <p:txBody>
            <a:bodyPr vert="horz"/>
            <a:lstStyle>
              <a:lvl1pPr marL="342000" indent="-342900" algn="l" defTabSz="914400" rtl="0" eaLnBrk="1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400"/>
                </a:spcAft>
                <a:buClr>
                  <a:schemeClr val="accent6">
                    <a:lumMod val="75000"/>
                  </a:schemeClr>
                </a:buClr>
                <a:buSzPct val="140000"/>
                <a:buFont typeface="ヒラギノ角ゴ ProN W3"/>
                <a:buChar char="|"/>
                <a:defRPr kumimoji="1" sz="2800" b="1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1pPr>
              <a:lvl2pPr marL="741600" indent="-392400" algn="l" defTabSz="914400" rtl="0" eaLnBrk="1" latinLnBrk="0" hangingPunct="1">
                <a:lnSpc>
                  <a:spcPct val="100000"/>
                </a:lnSpc>
                <a:spcBef>
                  <a:spcPts val="225"/>
                </a:spcBef>
                <a:buClr>
                  <a:schemeClr val="accent6">
                    <a:lumMod val="75000"/>
                  </a:schemeClr>
                </a:buClr>
                <a:buSzPct val="75000"/>
                <a:buFont typeface="Wingdings" charset="2"/>
                <a:buChar char="n"/>
                <a:defRPr kumimoji="1" sz="28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2pPr>
              <a:lvl3pPr marL="1143000" indent="-410400" algn="l" defTabSz="914400" rtl="0" eaLnBrk="1" latinLnBrk="0" hangingPunct="1">
                <a:lnSpc>
                  <a:spcPct val="100000"/>
                </a:lnSpc>
                <a:spcBef>
                  <a:spcPts val="25"/>
                </a:spcBef>
                <a:buClr>
                  <a:schemeClr val="accent6">
                    <a:lumMod val="75000"/>
                  </a:schemeClr>
                </a:buClr>
                <a:buSzPct val="120000"/>
                <a:buFont typeface="HiraKakuProN-W3" charset="-128"/>
                <a:buChar char="−"/>
                <a:defRPr kumimoji="1" sz="24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00000"/>
                </a:lnSpc>
                <a:spcBef>
                  <a:spcPts val="25"/>
                </a:spcBef>
                <a:buClr>
                  <a:schemeClr val="accent6">
                    <a:lumMod val="75000"/>
                  </a:schemeClr>
                </a:buClr>
                <a:buFont typeface="Arial"/>
                <a:buChar char="•"/>
                <a:defRPr kumimoji="1" sz="18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00000"/>
                </a:lnSpc>
                <a:spcBef>
                  <a:spcPts val="25"/>
                </a:spcBef>
                <a:buClr>
                  <a:schemeClr val="accent6">
                    <a:lumMod val="75000"/>
                  </a:schemeClr>
                </a:buClr>
                <a:buFont typeface="Arial"/>
                <a:buChar char="•"/>
                <a:defRPr kumimoji="1" sz="18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11150" lvl="2" indent="-311150"/>
              <a:r>
                <a:rPr lang="en-US" altLang="ja-JP" sz="2000" u="sng" dirty="0"/>
                <a:t>Dislocations emitted from far side microcrack-tip shield the near side microcrack-tip</a:t>
              </a:r>
              <a:endParaRPr lang="en-US" altLang="ja-JP" sz="1400" u="sng" dirty="0"/>
            </a:p>
            <a:p>
              <a:pPr marL="311150" lvl="2" indent="-311150"/>
              <a:r>
                <a:rPr lang="en-US" altLang="ja-JP" sz="2000" dirty="0">
                  <a:solidFill>
                    <a:srgbClr val="FF0000"/>
                  </a:solidFill>
                </a:rPr>
                <a:t>Larger cracks have less </a:t>
              </a:r>
              <a:br>
                <a:rPr lang="en-US" altLang="ja-JP" sz="2000" dirty="0">
                  <a:solidFill>
                    <a:srgbClr val="FF0000"/>
                  </a:solidFill>
                </a:rPr>
              </a:br>
              <a:r>
                <a:rPr lang="en-US" altLang="ja-JP" sz="2000" dirty="0">
                  <a:solidFill>
                    <a:srgbClr val="FF0000"/>
                  </a:solidFill>
                </a:rPr>
                <a:t>this shielding effect</a:t>
              </a:r>
            </a:p>
          </p:txBody>
        </p:sp>
      </p:grpSp>
      <p:sp>
        <p:nvSpPr>
          <p:cNvPr id="9" name="右矢印 23">
            <a:extLst>
              <a:ext uri="{FF2B5EF4-FFF2-40B4-BE49-F238E27FC236}">
                <a16:creationId xmlns:a16="http://schemas.microsoft.com/office/drawing/2014/main" id="{A14F7698-7820-F075-FEE7-1D8C3DD2D819}"/>
              </a:ext>
            </a:extLst>
          </p:cNvPr>
          <p:cNvSpPr/>
          <p:nvPr/>
        </p:nvSpPr>
        <p:spPr>
          <a:xfrm rot="5400000">
            <a:off x="1727321" y="3671469"/>
            <a:ext cx="211264" cy="470691"/>
          </a:xfrm>
          <a:prstGeom prst="rightArrow">
            <a:avLst/>
          </a:prstGeom>
          <a:solidFill>
            <a:srgbClr val="A9B5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F3664234-51F1-4B3B-A1D6-DB1385BE2B68}"/>
                  </a:ext>
                </a:extLst>
              </p:cNvPr>
              <p:cNvSpPr txBox="1"/>
              <p:nvPr/>
            </p:nvSpPr>
            <p:spPr>
              <a:xfrm>
                <a:off x="144892" y="1325078"/>
                <a:ext cx="14871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u="sng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kumimoji="1" lang="en-US" altLang="ja-JP" b="0" i="1" u="sng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kumimoji="1" lang="en-US" altLang="ja-JP" b="0" i="1" u="sng" smtClean="0">
                          <a:latin typeface="Cambria Math" panose="02040503050406030204" pitchFamily="18" charset="0"/>
                        </a:rPr>
                        <m:t>=1.0 </m:t>
                      </m:r>
                      <m:r>
                        <m:rPr>
                          <m:sty m:val="p"/>
                        </m:rPr>
                        <a:rPr kumimoji="1" lang="ja-JP" altLang="en-US" b="0" i="0" u="sng" smtClean="0">
                          <a:latin typeface="Cambria Math" panose="02040503050406030204" pitchFamily="18" charset="0"/>
                        </a:rPr>
                        <m:t>μ</m:t>
                      </m:r>
                      <m:r>
                        <m:rPr>
                          <m:sty m:val="p"/>
                        </m:rPr>
                        <a:rPr kumimoji="1" lang="en-US" altLang="ja-JP" b="0" i="0" u="sng" smtClean="0">
                          <a:latin typeface="Cambria Math" panose="02040503050406030204" pitchFamily="18" charset="0"/>
                        </a:rPr>
                        <m:t>m</m:t>
                      </m:r>
                    </m:oMath>
                  </m:oMathPara>
                </a14:m>
                <a:endParaRPr kumimoji="1" lang="ja-JP" altLang="en-US" u="sng" dirty="0"/>
              </a:p>
            </p:txBody>
          </p:sp>
        </mc:Choice>
        <mc:Fallback xmlns="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F3664234-51F1-4B3B-A1D6-DB1385BE2B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892" y="1325078"/>
                <a:ext cx="1487138" cy="369332"/>
              </a:xfrm>
              <a:prstGeom prst="rect">
                <a:avLst/>
              </a:prstGeom>
              <a:blipFill>
                <a:blip r:embed="rId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EB2E280F-287F-50A2-AF0A-A97967E6A40C}"/>
              </a:ext>
            </a:extLst>
          </p:cNvPr>
          <p:cNvGrpSpPr/>
          <p:nvPr/>
        </p:nvGrpSpPr>
        <p:grpSpPr>
          <a:xfrm>
            <a:off x="257786" y="1705260"/>
            <a:ext cx="2660400" cy="2059200"/>
            <a:chOff x="547605" y="1975235"/>
            <a:chExt cx="2272407" cy="1755562"/>
          </a:xfrm>
        </p:grpSpPr>
        <p:sp>
          <p:nvSpPr>
            <p:cNvPr id="16" name="爆発: 14 pt 95">
              <a:extLst>
                <a:ext uri="{FF2B5EF4-FFF2-40B4-BE49-F238E27FC236}">
                  <a16:creationId xmlns:a16="http://schemas.microsoft.com/office/drawing/2014/main" id="{68A4ABC1-FED1-3AD9-F4A2-D710BFC21097}"/>
                </a:ext>
              </a:extLst>
            </p:cNvPr>
            <p:cNvSpPr/>
            <p:nvPr/>
          </p:nvSpPr>
          <p:spPr>
            <a:xfrm>
              <a:off x="2645983" y="2778654"/>
              <a:ext cx="148529" cy="148529"/>
            </a:xfrm>
            <a:prstGeom prst="irregularSeal2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7" name="図 16" descr="図形&#10;&#10;中程度の精度で自動的に生成された説明">
              <a:extLst>
                <a:ext uri="{FF2B5EF4-FFF2-40B4-BE49-F238E27FC236}">
                  <a16:creationId xmlns:a16="http://schemas.microsoft.com/office/drawing/2014/main" id="{3F7F1E4A-DD4F-49EA-66F1-4FEA97B61D3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7605" y="1975235"/>
              <a:ext cx="2272407" cy="1755562"/>
            </a:xfrm>
            <a:prstGeom prst="rect">
              <a:avLst/>
            </a:prstGeom>
          </p:spPr>
        </p:pic>
        <p:cxnSp>
          <p:nvCxnSpPr>
            <p:cNvPr id="18" name="直線矢印コネクタ 17">
              <a:extLst>
                <a:ext uri="{FF2B5EF4-FFF2-40B4-BE49-F238E27FC236}">
                  <a16:creationId xmlns:a16="http://schemas.microsoft.com/office/drawing/2014/main" id="{EBB0B0F6-9084-ABAD-1867-8C1E0D844CD8}"/>
                </a:ext>
              </a:extLst>
            </p:cNvPr>
            <p:cNvCxnSpPr>
              <a:cxnSpLocks/>
            </p:cNvCxnSpPr>
            <p:nvPr/>
          </p:nvCxnSpPr>
          <p:spPr>
            <a:xfrm>
              <a:off x="2520608" y="2769867"/>
              <a:ext cx="207629" cy="0"/>
            </a:xfrm>
            <a:prstGeom prst="straightConnector1">
              <a:avLst/>
            </a:prstGeom>
            <a:ln w="12700">
              <a:solidFill>
                <a:srgbClr val="FF0000"/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テキスト ボックス 18">
                  <a:extLst>
                    <a:ext uri="{FF2B5EF4-FFF2-40B4-BE49-F238E27FC236}">
                      <a16:creationId xmlns:a16="http://schemas.microsoft.com/office/drawing/2014/main" id="{259D595E-006E-22AB-9884-F143FB608DEA}"/>
                    </a:ext>
                  </a:extLst>
                </p:cNvPr>
                <p:cNvSpPr txBox="1"/>
                <p:nvPr/>
              </p:nvSpPr>
              <p:spPr>
                <a:xfrm>
                  <a:off x="2417438" y="2491957"/>
                  <a:ext cx="323438" cy="2935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ja-JP" sz="16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ja-JP" sz="16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a14:m>
                  <a:r>
                    <a:rPr lang="ja-JP" altLang="en-US" sz="1600" dirty="0"/>
                    <a:t> </a:t>
                  </a:r>
                </a:p>
              </p:txBody>
            </p:sp>
          </mc:Choice>
          <mc:Fallback xmlns="">
            <p:sp>
              <p:nvSpPr>
                <p:cNvPr id="19" name="テキスト ボックス 18">
                  <a:extLst>
                    <a:ext uri="{FF2B5EF4-FFF2-40B4-BE49-F238E27FC236}">
                      <a16:creationId xmlns:a16="http://schemas.microsoft.com/office/drawing/2014/main" id="{259D595E-006E-22AB-9884-F143FB608D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7438" y="2491957"/>
                  <a:ext cx="323438" cy="293520"/>
                </a:xfrm>
                <a:prstGeom prst="rect">
                  <a:avLst/>
                </a:prstGeom>
                <a:blipFill>
                  <a:blip r:embed="rId5"/>
                  <a:stretch>
                    <a:fillRect r="-322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BAB9D8CA-2F37-4100-B5EE-44904CEB14C7}"/>
                  </a:ext>
                </a:extLst>
              </p:cNvPr>
              <p:cNvSpPr txBox="1"/>
              <p:nvPr/>
            </p:nvSpPr>
            <p:spPr>
              <a:xfrm>
                <a:off x="117364" y="3982745"/>
                <a:ext cx="14871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u="sng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kumimoji="1" lang="en-US" altLang="ja-JP" b="0" i="1" u="sng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kumimoji="1" lang="en-US" altLang="ja-JP" b="0" i="1" u="sng" smtClean="0">
                          <a:latin typeface="Cambria Math" panose="02040503050406030204" pitchFamily="18" charset="0"/>
                        </a:rPr>
                        <m:t>=3.0</m:t>
                      </m:r>
                      <m:r>
                        <a:rPr kumimoji="1" lang="en-US" altLang="ja-JP" b="0" i="0" u="sng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l-GR" altLang="ja-JP" b="0" i="0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μ</m:t>
                      </m:r>
                      <m:r>
                        <m:rPr>
                          <m:sty m:val="p"/>
                        </m:rPr>
                        <a:rPr kumimoji="1" lang="en-US" altLang="ja-JP" b="0" i="0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</m:t>
                      </m:r>
                    </m:oMath>
                  </m:oMathPara>
                </a14:m>
                <a:endParaRPr kumimoji="1" lang="ja-JP" altLang="en-US" u="sng" dirty="0"/>
              </a:p>
            </p:txBody>
          </p:sp>
        </mc:Choice>
        <mc:Fallback xmlns="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BAB9D8CA-2F37-4100-B5EE-44904CEB14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364" y="3982745"/>
                <a:ext cx="1487138" cy="369332"/>
              </a:xfrm>
              <a:prstGeom prst="rect">
                <a:avLst/>
              </a:prstGeom>
              <a:blipFill>
                <a:blip r:embed="rId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6A883FB8-9B77-8240-1EFD-A109C4E92945}"/>
              </a:ext>
            </a:extLst>
          </p:cNvPr>
          <p:cNvGrpSpPr/>
          <p:nvPr/>
        </p:nvGrpSpPr>
        <p:grpSpPr>
          <a:xfrm>
            <a:off x="265713" y="4253410"/>
            <a:ext cx="2922738" cy="2056926"/>
            <a:chOff x="547605" y="4028011"/>
            <a:chExt cx="2494522" cy="1755562"/>
          </a:xfrm>
        </p:grpSpPr>
        <p:sp>
          <p:nvSpPr>
            <p:cNvPr id="24" name="爆発: 14 pt 96">
              <a:extLst>
                <a:ext uri="{FF2B5EF4-FFF2-40B4-BE49-F238E27FC236}">
                  <a16:creationId xmlns:a16="http://schemas.microsoft.com/office/drawing/2014/main" id="{C1766963-3E24-D0B6-F37F-9B790B2A1214}"/>
                </a:ext>
              </a:extLst>
            </p:cNvPr>
            <p:cNvSpPr/>
            <p:nvPr/>
          </p:nvSpPr>
          <p:spPr>
            <a:xfrm>
              <a:off x="2462703" y="4823451"/>
              <a:ext cx="148529" cy="148529"/>
            </a:xfrm>
            <a:prstGeom prst="irregularSeal2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25" name="図 24" descr="図形&#10;&#10;低い精度で自動的に生成された説明">
              <a:extLst>
                <a:ext uri="{FF2B5EF4-FFF2-40B4-BE49-F238E27FC236}">
                  <a16:creationId xmlns:a16="http://schemas.microsoft.com/office/drawing/2014/main" id="{513845AC-BE24-0C94-F3B4-8BC81B46DB5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47605" y="4028011"/>
              <a:ext cx="2494522" cy="1755562"/>
            </a:xfrm>
            <a:prstGeom prst="rect">
              <a:avLst/>
            </a:prstGeom>
          </p:spPr>
        </p:pic>
        <p:cxnSp>
          <p:nvCxnSpPr>
            <p:cNvPr id="26" name="直線矢印コネクタ 25">
              <a:extLst>
                <a:ext uri="{FF2B5EF4-FFF2-40B4-BE49-F238E27FC236}">
                  <a16:creationId xmlns:a16="http://schemas.microsoft.com/office/drawing/2014/main" id="{67C84CFC-C327-30A2-FD2B-67BD0DA25B31}"/>
                </a:ext>
              </a:extLst>
            </p:cNvPr>
            <p:cNvCxnSpPr>
              <a:cxnSpLocks/>
            </p:cNvCxnSpPr>
            <p:nvPr/>
          </p:nvCxnSpPr>
          <p:spPr>
            <a:xfrm>
              <a:off x="2520608" y="4801981"/>
              <a:ext cx="415259" cy="0"/>
            </a:xfrm>
            <a:prstGeom prst="straightConnector1">
              <a:avLst/>
            </a:prstGeom>
            <a:ln w="12700">
              <a:solidFill>
                <a:srgbClr val="FF0000"/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テキスト ボックス 27">
                  <a:extLst>
                    <a:ext uri="{FF2B5EF4-FFF2-40B4-BE49-F238E27FC236}">
                      <a16:creationId xmlns:a16="http://schemas.microsoft.com/office/drawing/2014/main" id="{0F079637-FC3C-5388-26C3-B8546D469369}"/>
                    </a:ext>
                  </a:extLst>
                </p:cNvPr>
                <p:cNvSpPr txBox="1"/>
                <p:nvPr/>
              </p:nvSpPr>
              <p:spPr>
                <a:xfrm>
                  <a:off x="2533840" y="4563022"/>
                  <a:ext cx="323438" cy="2935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ja-JP" sz="16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ja-JP" sz="16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a14:m>
                  <a:r>
                    <a:rPr lang="ja-JP" altLang="en-US" sz="1600" dirty="0"/>
                    <a:t> </a:t>
                  </a:r>
                </a:p>
              </p:txBody>
            </p:sp>
          </mc:Choice>
          <mc:Fallback xmlns="">
            <p:sp>
              <p:nvSpPr>
                <p:cNvPr id="28" name="テキスト ボックス 27">
                  <a:extLst>
                    <a:ext uri="{FF2B5EF4-FFF2-40B4-BE49-F238E27FC236}">
                      <a16:creationId xmlns:a16="http://schemas.microsoft.com/office/drawing/2014/main" id="{0F079637-FC3C-5388-26C3-B8546D4693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33840" y="4563022"/>
                  <a:ext cx="323438" cy="2935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33" name="図 32" descr="グラフ, 折れ線グラフ, ヒストグラム&#10;&#10;自動的に生成された説明">
            <a:extLst>
              <a:ext uri="{FF2B5EF4-FFF2-40B4-BE49-F238E27FC236}">
                <a16:creationId xmlns:a16="http://schemas.microsoft.com/office/drawing/2014/main" id="{587EBA6B-E737-D459-7039-83F436C7394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78308" y="1331271"/>
            <a:ext cx="5738113" cy="309451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3CF1AC5F-A0B4-8A51-7AB6-160B0834BBB8}"/>
                  </a:ext>
                </a:extLst>
              </p:cNvPr>
              <p:cNvSpPr txBox="1"/>
              <p:nvPr/>
            </p:nvSpPr>
            <p:spPr>
              <a:xfrm>
                <a:off x="4694096" y="1553925"/>
                <a:ext cx="14871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u="sng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kumimoji="1" lang="en-US" altLang="ja-JP" b="0" i="1" u="sng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kumimoji="1" lang="en-US" altLang="ja-JP" b="0" i="1" u="sng" smtClean="0">
                          <a:latin typeface="Cambria Math" panose="02040503050406030204" pitchFamily="18" charset="0"/>
                        </a:rPr>
                        <m:t>=1.0 </m:t>
                      </m:r>
                      <m:r>
                        <m:rPr>
                          <m:sty m:val="p"/>
                        </m:rPr>
                        <a:rPr kumimoji="1" lang="ja-JP" altLang="en-US" b="0" i="0" u="sng" smtClean="0">
                          <a:latin typeface="Cambria Math" panose="02040503050406030204" pitchFamily="18" charset="0"/>
                        </a:rPr>
                        <m:t>μ</m:t>
                      </m:r>
                      <m:r>
                        <m:rPr>
                          <m:sty m:val="p"/>
                        </m:rPr>
                        <a:rPr kumimoji="1" lang="en-US" altLang="ja-JP" b="0" i="0" u="sng" smtClean="0">
                          <a:latin typeface="Cambria Math" panose="02040503050406030204" pitchFamily="18" charset="0"/>
                        </a:rPr>
                        <m:t>m</m:t>
                      </m:r>
                    </m:oMath>
                  </m:oMathPara>
                </a14:m>
                <a:endParaRPr kumimoji="1" lang="ja-JP" altLang="en-US" u="sng" dirty="0"/>
              </a:p>
            </p:txBody>
          </p:sp>
        </mc:Choice>
        <mc:Fallback xmlns="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3CF1AC5F-A0B4-8A51-7AB6-160B0834BB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4096" y="1553925"/>
                <a:ext cx="1487138" cy="369332"/>
              </a:xfrm>
              <a:prstGeom prst="rect">
                <a:avLst/>
              </a:prstGeom>
              <a:blipFill>
                <a:blip r:embed="rId10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テキスト ボックス 36">
                <a:extLst>
                  <a:ext uri="{FF2B5EF4-FFF2-40B4-BE49-F238E27FC236}">
                    <a16:creationId xmlns:a16="http://schemas.microsoft.com/office/drawing/2014/main" id="{8A9D360B-C22F-6849-8A0D-31802182F3AE}"/>
                  </a:ext>
                </a:extLst>
              </p:cNvPr>
              <p:cNvSpPr txBox="1"/>
              <p:nvPr/>
            </p:nvSpPr>
            <p:spPr>
              <a:xfrm>
                <a:off x="7282128" y="1553925"/>
                <a:ext cx="14871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u="sng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kumimoji="1" lang="en-US" altLang="ja-JP" b="0" i="1" u="sng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kumimoji="1" lang="en-US" altLang="ja-JP" b="0" i="1" u="sng" smtClean="0">
                          <a:latin typeface="Cambria Math" panose="02040503050406030204" pitchFamily="18" charset="0"/>
                        </a:rPr>
                        <m:t>=3.0</m:t>
                      </m:r>
                      <m:r>
                        <a:rPr kumimoji="1" lang="en-US" altLang="ja-JP" b="0" i="0" u="sng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l-GR" altLang="ja-JP" b="0" i="0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μ</m:t>
                      </m:r>
                      <m:r>
                        <m:rPr>
                          <m:sty m:val="p"/>
                        </m:rPr>
                        <a:rPr kumimoji="1" lang="en-US" altLang="ja-JP" b="0" i="0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</m:t>
                      </m:r>
                    </m:oMath>
                  </m:oMathPara>
                </a14:m>
                <a:endParaRPr kumimoji="1" lang="ja-JP" altLang="en-US" u="sng" dirty="0"/>
              </a:p>
            </p:txBody>
          </p:sp>
        </mc:Choice>
        <mc:Fallback xmlns="">
          <p:sp>
            <p:nvSpPr>
              <p:cNvPr id="37" name="テキスト ボックス 36">
                <a:extLst>
                  <a:ext uri="{FF2B5EF4-FFF2-40B4-BE49-F238E27FC236}">
                    <a16:creationId xmlns:a16="http://schemas.microsoft.com/office/drawing/2014/main" id="{8A9D360B-C22F-6849-8A0D-31802182F3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2128" y="1553925"/>
                <a:ext cx="1487138" cy="369332"/>
              </a:xfrm>
              <a:prstGeom prst="rect">
                <a:avLst/>
              </a:prstGeom>
              <a:blipFill>
                <a:blip r:embed="rId11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右矢印 23">
            <a:extLst>
              <a:ext uri="{FF2B5EF4-FFF2-40B4-BE49-F238E27FC236}">
                <a16:creationId xmlns:a16="http://schemas.microsoft.com/office/drawing/2014/main" id="{439557D9-D4A3-ECC1-618A-FA1F5C006D43}"/>
              </a:ext>
            </a:extLst>
          </p:cNvPr>
          <p:cNvSpPr/>
          <p:nvPr/>
        </p:nvSpPr>
        <p:spPr>
          <a:xfrm>
            <a:off x="5996494" y="2509910"/>
            <a:ext cx="280025" cy="623889"/>
          </a:xfrm>
          <a:prstGeom prst="rightArrow">
            <a:avLst/>
          </a:prstGeom>
          <a:solidFill>
            <a:srgbClr val="A9B5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79089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タイトル 1">
                <a:extLst>
                  <a:ext uri="{FF2B5EF4-FFF2-40B4-BE49-F238E27FC236}">
                    <a16:creationId xmlns:a16="http://schemas.microsoft.com/office/drawing/2014/main" id="{66626C94-83D2-27FE-8326-2207B5423F3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kumimoji="1" lang="en-US" altLang="ja-JP" dirty="0"/>
                  <a:t>Crack length 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2" name="タイトル 1">
                <a:extLst>
                  <a:ext uri="{FF2B5EF4-FFF2-40B4-BE49-F238E27FC236}">
                    <a16:creationId xmlns:a16="http://schemas.microsoft.com/office/drawing/2014/main" id="{66626C94-83D2-27FE-8326-2207B5423F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700" b="-3584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7448908-FAB7-8F95-51D1-3952F1239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F6909-ABCB-BB45-AC56-A8377246EBB2}" type="slidenum">
              <a:rPr lang="ja-JP" altLang="en-US" smtClean="0"/>
              <a:pPr/>
              <a:t>21</a:t>
            </a:fld>
            <a:endParaRPr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2BD02F8-CDFC-C6CD-24CD-F2525A5F5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Tokyo University of Science - Computational Materials Science Laboratory -</a:t>
            </a:r>
            <a:endParaRPr lang="ja-JP" altLang="en-US" dirty="0"/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AC8349F5-7F80-45D2-A92E-2D40B0AE325E}"/>
              </a:ext>
            </a:extLst>
          </p:cNvPr>
          <p:cNvGrpSpPr/>
          <p:nvPr/>
        </p:nvGrpSpPr>
        <p:grpSpPr>
          <a:xfrm>
            <a:off x="1191695" y="663341"/>
            <a:ext cx="6709808" cy="5066053"/>
            <a:chOff x="1467500" y="1448206"/>
            <a:chExt cx="5939124" cy="4484170"/>
          </a:xfrm>
        </p:grpSpPr>
        <p:pic>
          <p:nvPicPr>
            <p:cNvPr id="12" name="図 11" descr="グラフ, ダイアグラム&#10;&#10;自動的に生成された説明">
              <a:extLst>
                <a:ext uri="{FF2B5EF4-FFF2-40B4-BE49-F238E27FC236}">
                  <a16:creationId xmlns:a16="http://schemas.microsoft.com/office/drawing/2014/main" id="{87EF8769-29E7-95C0-3CF9-76A6EA1DD9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737375" y="1448206"/>
              <a:ext cx="5669249" cy="4196355"/>
            </a:xfrm>
            <a:prstGeom prst="rect">
              <a:avLst/>
            </a:prstGeom>
          </p:spPr>
        </p:pic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F5BD3A6C-715F-14D4-68C5-F1C63570EB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3039927" y="5553303"/>
              <a:ext cx="3425191" cy="379073"/>
            </a:xfrm>
            <a:prstGeom prst="rect">
              <a:avLst/>
            </a:prstGeom>
          </p:spPr>
        </p:pic>
        <p:pic>
          <p:nvPicPr>
            <p:cNvPr id="14" name="図 13" descr="背景パターン&#10;&#10;中程度の精度で自動的に生成された説明">
              <a:extLst>
                <a:ext uri="{FF2B5EF4-FFF2-40B4-BE49-F238E27FC236}">
                  <a16:creationId xmlns:a16="http://schemas.microsoft.com/office/drawing/2014/main" id="{47B4A311-CF85-5CE7-79F6-195708FE522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467500" y="2028825"/>
              <a:ext cx="539750" cy="2800350"/>
            </a:xfrm>
            <a:prstGeom prst="rect">
              <a:avLst/>
            </a:prstGeom>
          </p:spPr>
        </p:pic>
      </p:grp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A446AF53-80DB-54BF-7564-8163D13418F2}"/>
              </a:ext>
            </a:extLst>
          </p:cNvPr>
          <p:cNvSpPr/>
          <p:nvPr/>
        </p:nvSpPr>
        <p:spPr>
          <a:xfrm>
            <a:off x="1349827" y="5740721"/>
            <a:ext cx="7106333" cy="84963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altLang="ja-JP" sz="2400" b="0" i="0" dirty="0">
                <a:solidFill>
                  <a:schemeClr val="tx1"/>
                </a:solidFill>
                <a:effectLst/>
                <a:latin typeface="+mj-ea"/>
                <a:ea typeface="+mj-ea"/>
              </a:rPr>
              <a:t>The </a:t>
            </a:r>
            <a:r>
              <a:rPr lang="en" altLang="ja-JP" sz="2400" b="0" i="0" u="sng" dirty="0">
                <a:solidFill>
                  <a:schemeClr val="tx1"/>
                </a:solidFill>
                <a:effectLst/>
                <a:latin typeface="+mj-ea"/>
                <a:ea typeface="+mj-ea"/>
              </a:rPr>
              <a:t>macrocrack</a:t>
            </a:r>
            <a:r>
              <a:rPr lang="en" altLang="ja-JP" sz="2400" b="0" i="0" dirty="0">
                <a:solidFill>
                  <a:schemeClr val="tx1"/>
                </a:solidFill>
                <a:effectLst/>
                <a:latin typeface="+mj-ea"/>
                <a:ea typeface="+mj-ea"/>
              </a:rPr>
              <a:t> and </a:t>
            </a:r>
            <a:r>
              <a:rPr lang="en" altLang="ja-JP" sz="2400" b="0" i="0" u="sng" dirty="0">
                <a:solidFill>
                  <a:schemeClr val="tx1"/>
                </a:solidFill>
                <a:effectLst/>
                <a:latin typeface="+mj-ea"/>
                <a:ea typeface="+mj-ea"/>
              </a:rPr>
              <a:t>dislocations emitted from macrocrack</a:t>
            </a:r>
            <a:r>
              <a:rPr lang="en" altLang="ja-JP" sz="2400" b="0" i="0" dirty="0">
                <a:solidFill>
                  <a:schemeClr val="tx1"/>
                </a:solidFill>
                <a:effectLst/>
                <a:latin typeface="+mj-ea"/>
                <a:ea typeface="+mj-ea"/>
              </a:rPr>
              <a:t> have little effect on the fracture</a:t>
            </a:r>
            <a:endParaRPr kumimoji="1" lang="en-US" altLang="ja-JP" sz="2200" u="sng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408995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タイトル 1">
                <a:extLst>
                  <a:ext uri="{FF2B5EF4-FFF2-40B4-BE49-F238E27FC236}">
                    <a16:creationId xmlns:a16="http://schemas.microsoft.com/office/drawing/2014/main" id="{24A59D0C-41F6-2C7E-35ED-60A58AABED0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kumimoji="1" lang="en-US" altLang="ja-JP" dirty="0"/>
                  <a:t>Crack length 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2" name="タイトル 1">
                <a:extLst>
                  <a:ext uri="{FF2B5EF4-FFF2-40B4-BE49-F238E27FC236}">
                    <a16:creationId xmlns:a16="http://schemas.microsoft.com/office/drawing/2014/main" id="{24A59D0C-41F6-2C7E-35ED-60A58AABED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700" b="-3584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E2D9329-4B0E-680D-4E33-1A3385165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F6909-ABCB-BB45-AC56-A8377246EBB2}" type="slidenum">
              <a:rPr lang="ja-JP" altLang="en-US" smtClean="0"/>
              <a:pPr/>
              <a:t>22</a:t>
            </a:fld>
            <a:endParaRPr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B2083D4-0769-B803-A0CF-2E3C3D472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Tokyo University of Science - Computational Materials Science Laboratory -</a:t>
            </a:r>
            <a:endParaRPr lang="ja-JP" altLang="en-US" dirty="0"/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7AAC8264-D664-F1CF-E1FC-68C1F30AEC8E}"/>
              </a:ext>
            </a:extLst>
          </p:cNvPr>
          <p:cNvGrpSpPr/>
          <p:nvPr/>
        </p:nvGrpSpPr>
        <p:grpSpPr>
          <a:xfrm>
            <a:off x="869960" y="769663"/>
            <a:ext cx="6606106" cy="4963944"/>
            <a:chOff x="1191695" y="765450"/>
            <a:chExt cx="6606106" cy="4963944"/>
          </a:xfrm>
        </p:grpSpPr>
        <p:pic>
          <p:nvPicPr>
            <p:cNvPr id="6" name="図 5" descr="ダイアグラム&#10;&#10;自動的に生成された説明">
              <a:extLst>
                <a:ext uri="{FF2B5EF4-FFF2-40B4-BE49-F238E27FC236}">
                  <a16:creationId xmlns:a16="http://schemas.microsoft.com/office/drawing/2014/main" id="{39586A78-D64E-15AB-43B0-56CE435E69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499648" y="765450"/>
              <a:ext cx="6298153" cy="4603913"/>
            </a:xfrm>
            <a:prstGeom prst="rect">
              <a:avLst/>
            </a:prstGeom>
          </p:spPr>
        </p:pic>
        <p:pic>
          <p:nvPicPr>
            <p:cNvPr id="12" name="図 11">
              <a:extLst>
                <a:ext uri="{FF2B5EF4-FFF2-40B4-BE49-F238E27FC236}">
                  <a16:creationId xmlns:a16="http://schemas.microsoft.com/office/drawing/2014/main" id="{E883046C-B99E-7E33-8EF7-A219DFE194F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968166" y="5301131"/>
              <a:ext cx="3869657" cy="428263"/>
            </a:xfrm>
            <a:prstGeom prst="rect">
              <a:avLst/>
            </a:prstGeom>
          </p:spPr>
        </p:pic>
        <p:pic>
          <p:nvPicPr>
            <p:cNvPr id="13" name="図 12" descr="背景パターン&#10;&#10;中程度の精度で自動的に生成された説明">
              <a:extLst>
                <a:ext uri="{FF2B5EF4-FFF2-40B4-BE49-F238E27FC236}">
                  <a16:creationId xmlns:a16="http://schemas.microsoft.com/office/drawing/2014/main" id="{41821709-9E61-3732-2CB6-671DD0B3100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191695" y="1319303"/>
              <a:ext cx="609790" cy="3163734"/>
            </a:xfrm>
            <a:prstGeom prst="rect">
              <a:avLst/>
            </a:prstGeom>
          </p:spPr>
        </p:pic>
      </p:grp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04A1790D-7E78-96B8-25A5-86805EFBEB5E}"/>
              </a:ext>
            </a:extLst>
          </p:cNvPr>
          <p:cNvSpPr/>
          <p:nvPr/>
        </p:nvSpPr>
        <p:spPr>
          <a:xfrm>
            <a:off x="1100927" y="5787460"/>
            <a:ext cx="6942143" cy="7202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200" dirty="0">
                <a:solidFill>
                  <a:schemeClr val="tx1"/>
                </a:solidFill>
                <a:latin typeface="+mn-ea"/>
              </a:rPr>
              <a:t>The effect of </a:t>
            </a:r>
            <a:r>
              <a:rPr kumimoji="1" lang="en-US" altLang="ja-JP" sz="2200" dirty="0">
                <a:solidFill>
                  <a:srgbClr val="FF0000"/>
                </a:solidFill>
                <a:latin typeface="+mn-ea"/>
              </a:rPr>
              <a:t>dislocations emitted microcrack-tip far side from macrocrack</a:t>
            </a:r>
            <a:r>
              <a:rPr lang="en-US" altLang="ja-JP" sz="2200" dirty="0">
                <a:solidFill>
                  <a:schemeClr val="tx1"/>
                </a:solidFill>
                <a:latin typeface="+mn-ea"/>
              </a:rPr>
              <a:t> is strong</a:t>
            </a:r>
            <a:endParaRPr kumimoji="1" lang="en-US" altLang="ja-JP" sz="2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DBE49064-3509-EF2D-2378-FF28B49AD52E}"/>
              </a:ext>
            </a:extLst>
          </p:cNvPr>
          <p:cNvSpPr/>
          <p:nvPr/>
        </p:nvSpPr>
        <p:spPr>
          <a:xfrm>
            <a:off x="1787702" y="2971799"/>
            <a:ext cx="2784297" cy="206930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41083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タイトル 1">
                <a:extLst>
                  <a:ext uri="{FF2B5EF4-FFF2-40B4-BE49-F238E27FC236}">
                    <a16:creationId xmlns:a16="http://schemas.microsoft.com/office/drawing/2014/main" id="{07829C69-F8E8-D8A2-ECC6-8A6478735C0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kumimoji="1" lang="en-US" altLang="ja-JP" dirty="0"/>
                  <a:t>Crack length 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2" name="タイトル 1">
                <a:extLst>
                  <a:ext uri="{FF2B5EF4-FFF2-40B4-BE49-F238E27FC236}">
                    <a16:creationId xmlns:a16="http://schemas.microsoft.com/office/drawing/2014/main" id="{07829C69-F8E8-D8A2-ECC6-8A6478735C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700" b="-3584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E15A9C41-0217-2A0E-CCEC-FE2B7E2948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355" y="836358"/>
            <a:ext cx="9328674" cy="3066370"/>
          </a:xfrm>
        </p:spPr>
        <p:txBody>
          <a:bodyPr/>
          <a:lstStyle/>
          <a:p>
            <a:r>
              <a:rPr lang="en-US" altLang="ja-JP" dirty="0"/>
              <a:t>E</a:t>
            </a:r>
            <a:r>
              <a:rPr kumimoji="1" lang="en-US" altLang="ja-JP" dirty="0"/>
              <a:t>ffect</a:t>
            </a:r>
            <a:r>
              <a:rPr lang="en-US" altLang="ja-JP" dirty="0"/>
              <a:t> of dislocations emitted from </a:t>
            </a:r>
            <a:br>
              <a:rPr lang="en-US" altLang="ja-JP" dirty="0"/>
            </a:br>
            <a:r>
              <a:rPr lang="en-US" altLang="ja-JP" dirty="0"/>
              <a:t>microcrack on crack-tip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15FAD78-736B-2755-280F-8025AF815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F6909-ABCB-BB45-AC56-A8377246EBB2}" type="slidenum">
              <a:rPr lang="ja-JP" altLang="en-US" smtClean="0"/>
              <a:pPr/>
              <a:t>23</a:t>
            </a:fld>
            <a:endParaRPr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5AA7DAE-0080-C8D8-CCDA-7565C3F82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Tokyo University of Science - Computational Materials Science Laboratory -</a:t>
            </a:r>
            <a:endParaRPr lang="ja-JP" altLang="en-US" dirty="0"/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A13A0186-5E53-991F-BFBC-37595C941A14}"/>
              </a:ext>
            </a:extLst>
          </p:cNvPr>
          <p:cNvGrpSpPr/>
          <p:nvPr/>
        </p:nvGrpSpPr>
        <p:grpSpPr>
          <a:xfrm>
            <a:off x="4606920" y="1339583"/>
            <a:ext cx="8551584" cy="3066370"/>
            <a:chOff x="4885239" y="1458276"/>
            <a:chExt cx="8551584" cy="3066370"/>
          </a:xfrm>
        </p:grpSpPr>
        <p:grpSp>
          <p:nvGrpSpPr>
            <p:cNvPr id="170" name="グループ化 169">
              <a:extLst>
                <a:ext uri="{FF2B5EF4-FFF2-40B4-BE49-F238E27FC236}">
                  <a16:creationId xmlns:a16="http://schemas.microsoft.com/office/drawing/2014/main" id="{5B37CD65-2FA9-2702-D74D-09BE7F02BA37}"/>
                </a:ext>
              </a:extLst>
            </p:cNvPr>
            <p:cNvGrpSpPr/>
            <p:nvPr/>
          </p:nvGrpSpPr>
          <p:grpSpPr>
            <a:xfrm>
              <a:off x="6100631" y="1816560"/>
              <a:ext cx="1003352" cy="1627452"/>
              <a:chOff x="1286540" y="1949340"/>
              <a:chExt cx="1818925" cy="2950323"/>
            </a:xfrm>
          </p:grpSpPr>
          <p:sp>
            <p:nvSpPr>
              <p:cNvPr id="171" name="円弧 170">
                <a:extLst>
                  <a:ext uri="{FF2B5EF4-FFF2-40B4-BE49-F238E27FC236}">
                    <a16:creationId xmlns:a16="http://schemas.microsoft.com/office/drawing/2014/main" id="{304BB5D6-5711-EC03-7EEF-80777860E9B2}"/>
                  </a:ext>
                </a:extLst>
              </p:cNvPr>
              <p:cNvSpPr/>
              <p:nvPr/>
            </p:nvSpPr>
            <p:spPr>
              <a:xfrm>
                <a:off x="2094613" y="2971800"/>
                <a:ext cx="914400" cy="914400"/>
              </a:xfrm>
              <a:prstGeom prst="arc">
                <a:avLst>
                  <a:gd name="adj1" fmla="val 16200000"/>
                  <a:gd name="adj2" fmla="val 5471258"/>
                </a:avLst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172" name="直線コネクタ 171">
                <a:extLst>
                  <a:ext uri="{FF2B5EF4-FFF2-40B4-BE49-F238E27FC236}">
                    <a16:creationId xmlns:a16="http://schemas.microsoft.com/office/drawing/2014/main" id="{50B8E535-05F9-FEFA-934E-5F30A1F4735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86540" y="2971800"/>
                <a:ext cx="1265273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直線コネクタ 172">
                <a:extLst>
                  <a:ext uri="{FF2B5EF4-FFF2-40B4-BE49-F238E27FC236}">
                    <a16:creationId xmlns:a16="http://schemas.microsoft.com/office/drawing/2014/main" id="{3022F2B2-E0CC-52C6-55B4-A0AFBFCD9F0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86540" y="3886200"/>
                <a:ext cx="1265273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直線コネクタ 173">
                <a:extLst>
                  <a:ext uri="{FF2B5EF4-FFF2-40B4-BE49-F238E27FC236}">
                    <a16:creationId xmlns:a16="http://schemas.microsoft.com/office/drawing/2014/main" id="{9CA69222-1C75-606D-4E80-626C62CD90A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690478" y="1949340"/>
                <a:ext cx="414987" cy="97411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直線コネクタ 174">
                <a:extLst>
                  <a:ext uri="{FF2B5EF4-FFF2-40B4-BE49-F238E27FC236}">
                    <a16:creationId xmlns:a16="http://schemas.microsoft.com/office/drawing/2014/main" id="{23965B24-659B-06DA-5229-E273C4A978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689358" y="3925552"/>
                <a:ext cx="414987" cy="97411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6" name="グループ化 175">
              <a:extLst>
                <a:ext uri="{FF2B5EF4-FFF2-40B4-BE49-F238E27FC236}">
                  <a16:creationId xmlns:a16="http://schemas.microsoft.com/office/drawing/2014/main" id="{A110AA79-E77E-C216-24D1-C0FD3DFBF3C3}"/>
                </a:ext>
              </a:extLst>
            </p:cNvPr>
            <p:cNvGrpSpPr/>
            <p:nvPr/>
          </p:nvGrpSpPr>
          <p:grpSpPr>
            <a:xfrm>
              <a:off x="7493065" y="1821566"/>
              <a:ext cx="1463016" cy="1552839"/>
              <a:chOff x="3206982" y="3953591"/>
              <a:chExt cx="2602593" cy="2762382"/>
            </a:xfrm>
          </p:grpSpPr>
          <p:sp>
            <p:nvSpPr>
              <p:cNvPr id="177" name="円/楕円 176">
                <a:extLst>
                  <a:ext uri="{FF2B5EF4-FFF2-40B4-BE49-F238E27FC236}">
                    <a16:creationId xmlns:a16="http://schemas.microsoft.com/office/drawing/2014/main" id="{B55913EE-857E-D9CA-554D-B89B7604DC0E}"/>
                  </a:ext>
                </a:extLst>
              </p:cNvPr>
              <p:cNvSpPr/>
              <p:nvPr/>
            </p:nvSpPr>
            <p:spPr>
              <a:xfrm rot="9000000">
                <a:off x="4737114" y="5355675"/>
                <a:ext cx="361919" cy="1360298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grpSp>
            <p:nvGrpSpPr>
              <p:cNvPr id="178" name="グループ化 177">
                <a:extLst>
                  <a:ext uri="{FF2B5EF4-FFF2-40B4-BE49-F238E27FC236}">
                    <a16:creationId xmlns:a16="http://schemas.microsoft.com/office/drawing/2014/main" id="{57BAFCF5-6674-4893-DEFF-3B62619420E0}"/>
                  </a:ext>
                </a:extLst>
              </p:cNvPr>
              <p:cNvGrpSpPr/>
              <p:nvPr/>
            </p:nvGrpSpPr>
            <p:grpSpPr>
              <a:xfrm>
                <a:off x="3206982" y="3953591"/>
                <a:ext cx="2602593" cy="2602593"/>
                <a:chOff x="3206982" y="3953591"/>
                <a:chExt cx="2602593" cy="2602593"/>
              </a:xfrm>
            </p:grpSpPr>
            <p:grpSp>
              <p:nvGrpSpPr>
                <p:cNvPr id="179" name="グループ化 178">
                  <a:extLst>
                    <a:ext uri="{FF2B5EF4-FFF2-40B4-BE49-F238E27FC236}">
                      <a16:creationId xmlns:a16="http://schemas.microsoft.com/office/drawing/2014/main" id="{F1457B19-1325-DD01-E4D0-D7B2317998C0}"/>
                    </a:ext>
                  </a:extLst>
                </p:cNvPr>
                <p:cNvGrpSpPr/>
                <p:nvPr/>
              </p:nvGrpSpPr>
              <p:grpSpPr>
                <a:xfrm>
                  <a:off x="3732926" y="4753202"/>
                  <a:ext cx="353027" cy="1294089"/>
                  <a:chOff x="3607413" y="2794864"/>
                  <a:chExt cx="353027" cy="1294089"/>
                </a:xfrm>
              </p:grpSpPr>
              <p:grpSp>
                <p:nvGrpSpPr>
                  <p:cNvPr id="212" name="グループ化 211">
                    <a:extLst>
                      <a:ext uri="{FF2B5EF4-FFF2-40B4-BE49-F238E27FC236}">
                        <a16:creationId xmlns:a16="http://schemas.microsoft.com/office/drawing/2014/main" id="{5DB20E39-8F12-B518-76CD-01AD79BCE6EB}"/>
                      </a:ext>
                    </a:extLst>
                  </p:cNvPr>
                  <p:cNvGrpSpPr/>
                  <p:nvPr/>
                </p:nvGrpSpPr>
                <p:grpSpPr>
                  <a:xfrm>
                    <a:off x="3613337" y="2794864"/>
                    <a:ext cx="347103" cy="529899"/>
                    <a:chOff x="3848845" y="2791423"/>
                    <a:chExt cx="347103" cy="529899"/>
                  </a:xfrm>
                </p:grpSpPr>
                <p:grpSp>
                  <p:nvGrpSpPr>
                    <p:cNvPr id="220" name="グループ化 219">
                      <a:extLst>
                        <a:ext uri="{FF2B5EF4-FFF2-40B4-BE49-F238E27FC236}">
                          <a16:creationId xmlns:a16="http://schemas.microsoft.com/office/drawing/2014/main" id="{1F6467D5-E8B2-E568-54E7-B7A640BE94B0}"/>
                        </a:ext>
                      </a:extLst>
                    </p:cNvPr>
                    <p:cNvGrpSpPr/>
                    <p:nvPr/>
                  </p:nvGrpSpPr>
                  <p:grpSpPr>
                    <a:xfrm rot="3600000">
                      <a:off x="3962951" y="3088326"/>
                      <a:ext cx="267775" cy="198218"/>
                      <a:chOff x="6549656" y="3078619"/>
                      <a:chExt cx="595423" cy="440757"/>
                    </a:xfrm>
                  </p:grpSpPr>
                  <p:sp>
                    <p:nvSpPr>
                      <p:cNvPr id="224" name="正方形/長方形 223">
                        <a:extLst>
                          <a:ext uri="{FF2B5EF4-FFF2-40B4-BE49-F238E27FC236}">
                            <a16:creationId xmlns:a16="http://schemas.microsoft.com/office/drawing/2014/main" id="{33B8C3AA-18D3-0748-26CD-ACA4B4299DC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549656" y="3377963"/>
                        <a:ext cx="595423" cy="141413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sp>
                    <p:nvSpPr>
                      <p:cNvPr id="225" name="正方形/長方形 224">
                        <a:extLst>
                          <a:ext uri="{FF2B5EF4-FFF2-40B4-BE49-F238E27FC236}">
                            <a16:creationId xmlns:a16="http://schemas.microsoft.com/office/drawing/2014/main" id="{2DE73EB8-1D3F-7F91-20E2-C7A03D42778A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6638303" y="3209798"/>
                        <a:ext cx="414669" cy="152312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</p:grpSp>
                <p:grpSp>
                  <p:nvGrpSpPr>
                    <p:cNvPr id="221" name="グループ化 220">
                      <a:extLst>
                        <a:ext uri="{FF2B5EF4-FFF2-40B4-BE49-F238E27FC236}">
                          <a16:creationId xmlns:a16="http://schemas.microsoft.com/office/drawing/2014/main" id="{5AB0E8B1-A22E-2E59-BAFC-0B3C29B024F2}"/>
                        </a:ext>
                      </a:extLst>
                    </p:cNvPr>
                    <p:cNvGrpSpPr/>
                    <p:nvPr/>
                  </p:nvGrpSpPr>
                  <p:grpSpPr>
                    <a:xfrm rot="3600000">
                      <a:off x="3814066" y="2826202"/>
                      <a:ext cx="267775" cy="198218"/>
                      <a:chOff x="6549656" y="3078619"/>
                      <a:chExt cx="595423" cy="440757"/>
                    </a:xfrm>
                  </p:grpSpPr>
                  <p:sp>
                    <p:nvSpPr>
                      <p:cNvPr id="222" name="正方形/長方形 221">
                        <a:extLst>
                          <a:ext uri="{FF2B5EF4-FFF2-40B4-BE49-F238E27FC236}">
                            <a16:creationId xmlns:a16="http://schemas.microsoft.com/office/drawing/2014/main" id="{7F3E19EF-CE62-1F34-360A-1665C3425F3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549656" y="3377963"/>
                        <a:ext cx="595423" cy="141413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sp>
                    <p:nvSpPr>
                      <p:cNvPr id="223" name="正方形/長方形 222">
                        <a:extLst>
                          <a:ext uri="{FF2B5EF4-FFF2-40B4-BE49-F238E27FC236}">
                            <a16:creationId xmlns:a16="http://schemas.microsoft.com/office/drawing/2014/main" id="{C8C56F74-C111-B856-B737-8632E978F472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6638303" y="3209798"/>
                        <a:ext cx="414669" cy="152312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</p:grpSp>
              </p:grpSp>
              <p:grpSp>
                <p:nvGrpSpPr>
                  <p:cNvPr id="213" name="グループ化 212">
                    <a:extLst>
                      <a:ext uri="{FF2B5EF4-FFF2-40B4-BE49-F238E27FC236}">
                        <a16:creationId xmlns:a16="http://schemas.microsoft.com/office/drawing/2014/main" id="{1E6213C5-73E1-6F5A-6CE1-856981BEDE9B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3607413" y="3559054"/>
                    <a:ext cx="347103" cy="529899"/>
                    <a:chOff x="3848845" y="2791423"/>
                    <a:chExt cx="347103" cy="529899"/>
                  </a:xfrm>
                </p:grpSpPr>
                <p:grpSp>
                  <p:nvGrpSpPr>
                    <p:cNvPr id="214" name="グループ化 213">
                      <a:extLst>
                        <a:ext uri="{FF2B5EF4-FFF2-40B4-BE49-F238E27FC236}">
                          <a16:creationId xmlns:a16="http://schemas.microsoft.com/office/drawing/2014/main" id="{BDEAD3FA-1C69-B13E-559A-8465FFBF7246}"/>
                        </a:ext>
                      </a:extLst>
                    </p:cNvPr>
                    <p:cNvGrpSpPr/>
                    <p:nvPr/>
                  </p:nvGrpSpPr>
                  <p:grpSpPr>
                    <a:xfrm rot="3600000">
                      <a:off x="3962951" y="3088326"/>
                      <a:ext cx="267775" cy="198218"/>
                      <a:chOff x="6549656" y="3078619"/>
                      <a:chExt cx="595423" cy="440757"/>
                    </a:xfrm>
                  </p:grpSpPr>
                  <p:sp>
                    <p:nvSpPr>
                      <p:cNvPr id="218" name="正方形/長方形 217">
                        <a:extLst>
                          <a:ext uri="{FF2B5EF4-FFF2-40B4-BE49-F238E27FC236}">
                            <a16:creationId xmlns:a16="http://schemas.microsoft.com/office/drawing/2014/main" id="{D4D33E96-CCD6-4EA2-58E6-322246C4237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549656" y="3377963"/>
                        <a:ext cx="595423" cy="141413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sp>
                    <p:nvSpPr>
                      <p:cNvPr id="219" name="正方形/長方形 218">
                        <a:extLst>
                          <a:ext uri="{FF2B5EF4-FFF2-40B4-BE49-F238E27FC236}">
                            <a16:creationId xmlns:a16="http://schemas.microsoft.com/office/drawing/2014/main" id="{A1157A02-6648-64BD-EE7F-BA5F42EDF060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6638303" y="3209798"/>
                        <a:ext cx="414669" cy="152312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</p:grpSp>
                <p:grpSp>
                  <p:nvGrpSpPr>
                    <p:cNvPr id="215" name="グループ化 214">
                      <a:extLst>
                        <a:ext uri="{FF2B5EF4-FFF2-40B4-BE49-F238E27FC236}">
                          <a16:creationId xmlns:a16="http://schemas.microsoft.com/office/drawing/2014/main" id="{D5AC157A-6C63-A16C-CD46-1FA1BC8D4E94}"/>
                        </a:ext>
                      </a:extLst>
                    </p:cNvPr>
                    <p:cNvGrpSpPr/>
                    <p:nvPr/>
                  </p:nvGrpSpPr>
                  <p:grpSpPr>
                    <a:xfrm rot="3600000">
                      <a:off x="3814066" y="2826202"/>
                      <a:ext cx="267775" cy="198218"/>
                      <a:chOff x="6549656" y="3078619"/>
                      <a:chExt cx="595423" cy="440757"/>
                    </a:xfrm>
                  </p:grpSpPr>
                  <p:sp>
                    <p:nvSpPr>
                      <p:cNvPr id="216" name="正方形/長方形 215">
                        <a:extLst>
                          <a:ext uri="{FF2B5EF4-FFF2-40B4-BE49-F238E27FC236}">
                            <a16:creationId xmlns:a16="http://schemas.microsoft.com/office/drawing/2014/main" id="{BE264743-9B43-375A-BC2B-EB4E818AFB0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549656" y="3377963"/>
                        <a:ext cx="595423" cy="141413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sp>
                    <p:nvSpPr>
                      <p:cNvPr id="217" name="正方形/長方形 216">
                        <a:extLst>
                          <a:ext uri="{FF2B5EF4-FFF2-40B4-BE49-F238E27FC236}">
                            <a16:creationId xmlns:a16="http://schemas.microsoft.com/office/drawing/2014/main" id="{CB300172-D708-DE34-4B79-07443564B744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6638303" y="3209798"/>
                        <a:ext cx="414669" cy="152312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</p:grpSp>
              </p:grpSp>
            </p:grpSp>
            <p:grpSp>
              <p:nvGrpSpPr>
                <p:cNvPr id="180" name="グループ化 179">
                  <a:extLst>
                    <a:ext uri="{FF2B5EF4-FFF2-40B4-BE49-F238E27FC236}">
                      <a16:creationId xmlns:a16="http://schemas.microsoft.com/office/drawing/2014/main" id="{65FE0D21-1E0C-417C-3CFD-CC4B8F1B07B1}"/>
                    </a:ext>
                  </a:extLst>
                </p:cNvPr>
                <p:cNvGrpSpPr/>
                <p:nvPr/>
              </p:nvGrpSpPr>
              <p:grpSpPr>
                <a:xfrm>
                  <a:off x="4573006" y="4206194"/>
                  <a:ext cx="662793" cy="2336040"/>
                  <a:chOff x="5192447" y="2268853"/>
                  <a:chExt cx="662793" cy="2336040"/>
                </a:xfrm>
                <a:solidFill>
                  <a:schemeClr val="tx1"/>
                </a:solidFill>
              </p:grpSpPr>
              <p:grpSp>
                <p:nvGrpSpPr>
                  <p:cNvPr id="186" name="グループ化 185">
                    <a:extLst>
                      <a:ext uri="{FF2B5EF4-FFF2-40B4-BE49-F238E27FC236}">
                        <a16:creationId xmlns:a16="http://schemas.microsoft.com/office/drawing/2014/main" id="{8196E277-1EAC-E8B1-C1E9-0FC93B61F8A2}"/>
                      </a:ext>
                    </a:extLst>
                  </p:cNvPr>
                  <p:cNvGrpSpPr/>
                  <p:nvPr/>
                </p:nvGrpSpPr>
                <p:grpSpPr>
                  <a:xfrm>
                    <a:off x="5195905" y="2268853"/>
                    <a:ext cx="659335" cy="1052468"/>
                    <a:chOff x="5195905" y="2268853"/>
                    <a:chExt cx="659335" cy="1052468"/>
                  </a:xfrm>
                  <a:grpFill/>
                </p:grpSpPr>
                <p:grpSp>
                  <p:nvGrpSpPr>
                    <p:cNvPr id="200" name="グループ化 199">
                      <a:extLst>
                        <a:ext uri="{FF2B5EF4-FFF2-40B4-BE49-F238E27FC236}">
                          <a16:creationId xmlns:a16="http://schemas.microsoft.com/office/drawing/2014/main" id="{6630EE3B-0270-BF31-85F2-CEB55C4E449F}"/>
                        </a:ext>
                      </a:extLst>
                    </p:cNvPr>
                    <p:cNvGrpSpPr/>
                    <p:nvPr/>
                  </p:nvGrpSpPr>
                  <p:grpSpPr>
                    <a:xfrm rot="18000000" flipH="1">
                      <a:off x="5161126" y="3088325"/>
                      <a:ext cx="267775" cy="198218"/>
                      <a:chOff x="6549656" y="3078619"/>
                      <a:chExt cx="595423" cy="440757"/>
                    </a:xfrm>
                    <a:grpFill/>
                  </p:grpSpPr>
                  <p:sp>
                    <p:nvSpPr>
                      <p:cNvPr id="210" name="正方形/長方形 209">
                        <a:extLst>
                          <a:ext uri="{FF2B5EF4-FFF2-40B4-BE49-F238E27FC236}">
                            <a16:creationId xmlns:a16="http://schemas.microsoft.com/office/drawing/2014/main" id="{65C93874-9EE5-5D4B-6DBA-6137013CC68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549656" y="3377963"/>
                        <a:ext cx="595423" cy="141413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sp>
                    <p:nvSpPr>
                      <p:cNvPr id="211" name="正方形/長方形 210">
                        <a:extLst>
                          <a:ext uri="{FF2B5EF4-FFF2-40B4-BE49-F238E27FC236}">
                            <a16:creationId xmlns:a16="http://schemas.microsoft.com/office/drawing/2014/main" id="{43FD403C-5C34-0076-88F5-42B161C21B52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6638303" y="3209798"/>
                        <a:ext cx="414669" cy="152312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</p:grpSp>
                <p:grpSp>
                  <p:nvGrpSpPr>
                    <p:cNvPr id="201" name="グループ化 200">
                      <a:extLst>
                        <a:ext uri="{FF2B5EF4-FFF2-40B4-BE49-F238E27FC236}">
                          <a16:creationId xmlns:a16="http://schemas.microsoft.com/office/drawing/2014/main" id="{1397C142-AE8F-3456-5A78-34129A73EE09}"/>
                        </a:ext>
                      </a:extLst>
                    </p:cNvPr>
                    <p:cNvGrpSpPr/>
                    <p:nvPr/>
                  </p:nvGrpSpPr>
                  <p:grpSpPr>
                    <a:xfrm rot="18000000" flipH="1">
                      <a:off x="5313900" y="2824626"/>
                      <a:ext cx="267775" cy="198218"/>
                      <a:chOff x="6549656" y="3078619"/>
                      <a:chExt cx="595423" cy="440757"/>
                    </a:xfrm>
                    <a:grpFill/>
                  </p:grpSpPr>
                  <p:sp>
                    <p:nvSpPr>
                      <p:cNvPr id="208" name="正方形/長方形 207">
                        <a:extLst>
                          <a:ext uri="{FF2B5EF4-FFF2-40B4-BE49-F238E27FC236}">
                            <a16:creationId xmlns:a16="http://schemas.microsoft.com/office/drawing/2014/main" id="{195ED388-6344-357A-E0E5-480000F3D39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549656" y="3377963"/>
                        <a:ext cx="595423" cy="141413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sp>
                    <p:nvSpPr>
                      <p:cNvPr id="209" name="正方形/長方形 208">
                        <a:extLst>
                          <a:ext uri="{FF2B5EF4-FFF2-40B4-BE49-F238E27FC236}">
                            <a16:creationId xmlns:a16="http://schemas.microsoft.com/office/drawing/2014/main" id="{B7C74187-21E9-04FE-10CA-8C06D8690628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6638303" y="3209798"/>
                        <a:ext cx="414669" cy="152312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</p:grpSp>
                <p:grpSp>
                  <p:nvGrpSpPr>
                    <p:cNvPr id="202" name="グループ化 201">
                      <a:extLst>
                        <a:ext uri="{FF2B5EF4-FFF2-40B4-BE49-F238E27FC236}">
                          <a16:creationId xmlns:a16="http://schemas.microsoft.com/office/drawing/2014/main" id="{1FF7E642-5E06-4B29-F9BC-01734F7FA411}"/>
                        </a:ext>
                      </a:extLst>
                    </p:cNvPr>
                    <p:cNvGrpSpPr/>
                    <p:nvPr/>
                  </p:nvGrpSpPr>
                  <p:grpSpPr>
                    <a:xfrm rot="18000000" flipH="1">
                      <a:off x="5469469" y="2567331"/>
                      <a:ext cx="267775" cy="198218"/>
                      <a:chOff x="6549656" y="3078619"/>
                      <a:chExt cx="595423" cy="440757"/>
                    </a:xfrm>
                    <a:grpFill/>
                  </p:grpSpPr>
                  <p:sp>
                    <p:nvSpPr>
                      <p:cNvPr id="206" name="正方形/長方形 205">
                        <a:extLst>
                          <a:ext uri="{FF2B5EF4-FFF2-40B4-BE49-F238E27FC236}">
                            <a16:creationId xmlns:a16="http://schemas.microsoft.com/office/drawing/2014/main" id="{C952107D-50A7-3EC0-8B8C-383EEA57909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549656" y="3377963"/>
                        <a:ext cx="595423" cy="141413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sp>
                    <p:nvSpPr>
                      <p:cNvPr id="207" name="正方形/長方形 206">
                        <a:extLst>
                          <a:ext uri="{FF2B5EF4-FFF2-40B4-BE49-F238E27FC236}">
                            <a16:creationId xmlns:a16="http://schemas.microsoft.com/office/drawing/2014/main" id="{2717CCD9-C076-C196-A68B-31DB0BEA6E04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6638303" y="3209798"/>
                        <a:ext cx="414669" cy="152312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</p:grpSp>
                <p:grpSp>
                  <p:nvGrpSpPr>
                    <p:cNvPr id="203" name="グループ化 202">
                      <a:extLst>
                        <a:ext uri="{FF2B5EF4-FFF2-40B4-BE49-F238E27FC236}">
                          <a16:creationId xmlns:a16="http://schemas.microsoft.com/office/drawing/2014/main" id="{ED9379C6-B3BA-3711-ACF1-382F798590E0}"/>
                        </a:ext>
                      </a:extLst>
                    </p:cNvPr>
                    <p:cNvGrpSpPr/>
                    <p:nvPr/>
                  </p:nvGrpSpPr>
                  <p:grpSpPr>
                    <a:xfrm rot="18000000" flipH="1">
                      <a:off x="5622243" y="2303632"/>
                      <a:ext cx="267775" cy="198218"/>
                      <a:chOff x="6549656" y="3078619"/>
                      <a:chExt cx="595423" cy="440757"/>
                    </a:xfrm>
                    <a:grpFill/>
                  </p:grpSpPr>
                  <p:sp>
                    <p:nvSpPr>
                      <p:cNvPr id="204" name="正方形/長方形 203">
                        <a:extLst>
                          <a:ext uri="{FF2B5EF4-FFF2-40B4-BE49-F238E27FC236}">
                            <a16:creationId xmlns:a16="http://schemas.microsoft.com/office/drawing/2014/main" id="{1F275ECB-8DDF-C69F-D92B-6DAE5BF9D1A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549656" y="3377963"/>
                        <a:ext cx="595423" cy="141413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sp>
                    <p:nvSpPr>
                      <p:cNvPr id="205" name="正方形/長方形 204">
                        <a:extLst>
                          <a:ext uri="{FF2B5EF4-FFF2-40B4-BE49-F238E27FC236}">
                            <a16:creationId xmlns:a16="http://schemas.microsoft.com/office/drawing/2014/main" id="{0B702D81-7E28-4209-907F-BD7E65B4B9AA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6638303" y="3209798"/>
                        <a:ext cx="414669" cy="152312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</p:grpSp>
              </p:grpSp>
              <p:grpSp>
                <p:nvGrpSpPr>
                  <p:cNvPr id="187" name="グループ化 186">
                    <a:extLst>
                      <a:ext uri="{FF2B5EF4-FFF2-40B4-BE49-F238E27FC236}">
                        <a16:creationId xmlns:a16="http://schemas.microsoft.com/office/drawing/2014/main" id="{5D0FB6E9-CC43-14C7-86F0-F487DC13781A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5192447" y="3552425"/>
                    <a:ext cx="659335" cy="1052468"/>
                    <a:chOff x="5195905" y="2268853"/>
                    <a:chExt cx="659335" cy="1052468"/>
                  </a:xfrm>
                  <a:grpFill/>
                </p:grpSpPr>
                <p:grpSp>
                  <p:nvGrpSpPr>
                    <p:cNvPr id="188" name="グループ化 187">
                      <a:extLst>
                        <a:ext uri="{FF2B5EF4-FFF2-40B4-BE49-F238E27FC236}">
                          <a16:creationId xmlns:a16="http://schemas.microsoft.com/office/drawing/2014/main" id="{87B548F7-AC7D-60F9-BD96-082FAE9B9345}"/>
                        </a:ext>
                      </a:extLst>
                    </p:cNvPr>
                    <p:cNvGrpSpPr/>
                    <p:nvPr/>
                  </p:nvGrpSpPr>
                  <p:grpSpPr>
                    <a:xfrm rot="18000000" flipH="1">
                      <a:off x="5161126" y="3088325"/>
                      <a:ext cx="267775" cy="198218"/>
                      <a:chOff x="6549656" y="3078619"/>
                      <a:chExt cx="595423" cy="440757"/>
                    </a:xfrm>
                    <a:grpFill/>
                  </p:grpSpPr>
                  <p:sp>
                    <p:nvSpPr>
                      <p:cNvPr id="198" name="正方形/長方形 197">
                        <a:extLst>
                          <a:ext uri="{FF2B5EF4-FFF2-40B4-BE49-F238E27FC236}">
                            <a16:creationId xmlns:a16="http://schemas.microsoft.com/office/drawing/2014/main" id="{44F01EFD-6C3A-E7AC-3E15-717BC64E0DC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549656" y="3377963"/>
                        <a:ext cx="595423" cy="141413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sp>
                    <p:nvSpPr>
                      <p:cNvPr id="199" name="正方形/長方形 198">
                        <a:extLst>
                          <a:ext uri="{FF2B5EF4-FFF2-40B4-BE49-F238E27FC236}">
                            <a16:creationId xmlns:a16="http://schemas.microsoft.com/office/drawing/2014/main" id="{FC4B2087-97FC-A673-9994-0C266F6432C1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6638303" y="3209798"/>
                        <a:ext cx="414669" cy="152312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</p:grpSp>
                <p:grpSp>
                  <p:nvGrpSpPr>
                    <p:cNvPr id="189" name="グループ化 188">
                      <a:extLst>
                        <a:ext uri="{FF2B5EF4-FFF2-40B4-BE49-F238E27FC236}">
                          <a16:creationId xmlns:a16="http://schemas.microsoft.com/office/drawing/2014/main" id="{62418DE7-E00C-96C4-2AFA-D24EB84C6E59}"/>
                        </a:ext>
                      </a:extLst>
                    </p:cNvPr>
                    <p:cNvGrpSpPr/>
                    <p:nvPr/>
                  </p:nvGrpSpPr>
                  <p:grpSpPr>
                    <a:xfrm rot="18000000" flipH="1">
                      <a:off x="5313900" y="2824626"/>
                      <a:ext cx="267775" cy="198218"/>
                      <a:chOff x="6549656" y="3078619"/>
                      <a:chExt cx="595423" cy="440757"/>
                    </a:xfrm>
                    <a:grpFill/>
                  </p:grpSpPr>
                  <p:sp>
                    <p:nvSpPr>
                      <p:cNvPr id="196" name="正方形/長方形 195">
                        <a:extLst>
                          <a:ext uri="{FF2B5EF4-FFF2-40B4-BE49-F238E27FC236}">
                            <a16:creationId xmlns:a16="http://schemas.microsoft.com/office/drawing/2014/main" id="{73470630-E11C-FE8E-55E0-E080CBA8169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549656" y="3377963"/>
                        <a:ext cx="595423" cy="141413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sp>
                    <p:nvSpPr>
                      <p:cNvPr id="197" name="正方形/長方形 196">
                        <a:extLst>
                          <a:ext uri="{FF2B5EF4-FFF2-40B4-BE49-F238E27FC236}">
                            <a16:creationId xmlns:a16="http://schemas.microsoft.com/office/drawing/2014/main" id="{CBC05FB0-2B38-55C1-D4DC-241480A27F07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6638303" y="3209798"/>
                        <a:ext cx="414669" cy="152312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</p:grpSp>
                <p:grpSp>
                  <p:nvGrpSpPr>
                    <p:cNvPr id="190" name="グループ化 189">
                      <a:extLst>
                        <a:ext uri="{FF2B5EF4-FFF2-40B4-BE49-F238E27FC236}">
                          <a16:creationId xmlns:a16="http://schemas.microsoft.com/office/drawing/2014/main" id="{FA613BF7-D05F-C6C0-FD9A-BE22053EFB07}"/>
                        </a:ext>
                      </a:extLst>
                    </p:cNvPr>
                    <p:cNvGrpSpPr/>
                    <p:nvPr/>
                  </p:nvGrpSpPr>
                  <p:grpSpPr>
                    <a:xfrm rot="18000000" flipH="1">
                      <a:off x="5469469" y="2567331"/>
                      <a:ext cx="267775" cy="198218"/>
                      <a:chOff x="6549656" y="3078619"/>
                      <a:chExt cx="595423" cy="440757"/>
                    </a:xfrm>
                    <a:grpFill/>
                  </p:grpSpPr>
                  <p:sp>
                    <p:nvSpPr>
                      <p:cNvPr id="194" name="正方形/長方形 193">
                        <a:extLst>
                          <a:ext uri="{FF2B5EF4-FFF2-40B4-BE49-F238E27FC236}">
                            <a16:creationId xmlns:a16="http://schemas.microsoft.com/office/drawing/2014/main" id="{0B1CCB58-4D89-FB3D-52C3-9F8005428F0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549656" y="3377963"/>
                        <a:ext cx="595423" cy="141413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sp>
                    <p:nvSpPr>
                      <p:cNvPr id="195" name="正方形/長方形 194">
                        <a:extLst>
                          <a:ext uri="{FF2B5EF4-FFF2-40B4-BE49-F238E27FC236}">
                            <a16:creationId xmlns:a16="http://schemas.microsoft.com/office/drawing/2014/main" id="{B0EB6B8A-C6C0-6CCF-34CE-74505559E3A6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6638303" y="3209798"/>
                        <a:ext cx="414669" cy="152312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</p:grpSp>
                <p:grpSp>
                  <p:nvGrpSpPr>
                    <p:cNvPr id="191" name="グループ化 190">
                      <a:extLst>
                        <a:ext uri="{FF2B5EF4-FFF2-40B4-BE49-F238E27FC236}">
                          <a16:creationId xmlns:a16="http://schemas.microsoft.com/office/drawing/2014/main" id="{484389BE-93D6-BBA2-96DB-93497DA1A76F}"/>
                        </a:ext>
                      </a:extLst>
                    </p:cNvPr>
                    <p:cNvGrpSpPr/>
                    <p:nvPr/>
                  </p:nvGrpSpPr>
                  <p:grpSpPr>
                    <a:xfrm rot="18000000" flipH="1">
                      <a:off x="5622243" y="2303632"/>
                      <a:ext cx="267775" cy="198218"/>
                      <a:chOff x="6549656" y="3078619"/>
                      <a:chExt cx="595423" cy="440757"/>
                    </a:xfrm>
                    <a:grpFill/>
                  </p:grpSpPr>
                  <p:sp>
                    <p:nvSpPr>
                      <p:cNvPr id="192" name="正方形/長方形 191">
                        <a:extLst>
                          <a:ext uri="{FF2B5EF4-FFF2-40B4-BE49-F238E27FC236}">
                            <a16:creationId xmlns:a16="http://schemas.microsoft.com/office/drawing/2014/main" id="{469F24D3-9560-646C-7D7A-B40C51C8338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549656" y="3377963"/>
                        <a:ext cx="595423" cy="141413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sp>
                    <p:nvSpPr>
                      <p:cNvPr id="193" name="正方形/長方形 192">
                        <a:extLst>
                          <a:ext uri="{FF2B5EF4-FFF2-40B4-BE49-F238E27FC236}">
                            <a16:creationId xmlns:a16="http://schemas.microsoft.com/office/drawing/2014/main" id="{6C592350-160E-FA24-2B5E-F7DE222C7850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6638303" y="3209798"/>
                        <a:ext cx="414669" cy="152312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</p:grpSp>
              </p:grpSp>
            </p:grpSp>
            <p:sp>
              <p:nvSpPr>
                <p:cNvPr id="181" name="円/楕円 180">
                  <a:extLst>
                    <a:ext uri="{FF2B5EF4-FFF2-40B4-BE49-F238E27FC236}">
                      <a16:creationId xmlns:a16="http://schemas.microsoft.com/office/drawing/2014/main" id="{DE9F7103-1B4D-E916-545C-F18C41D64039}"/>
                    </a:ext>
                  </a:extLst>
                </p:cNvPr>
                <p:cNvSpPr/>
                <p:nvPr/>
              </p:nvSpPr>
              <p:spPr>
                <a:xfrm rot="1800000">
                  <a:off x="4756793" y="4108084"/>
                  <a:ext cx="361919" cy="1360298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182" name="円弧 181">
                  <a:extLst>
                    <a:ext uri="{FF2B5EF4-FFF2-40B4-BE49-F238E27FC236}">
                      <a16:creationId xmlns:a16="http://schemas.microsoft.com/office/drawing/2014/main" id="{B6F9176B-7CBC-7A38-21AB-502D0E4F784A}"/>
                    </a:ext>
                  </a:extLst>
                </p:cNvPr>
                <p:cNvSpPr/>
                <p:nvPr/>
              </p:nvSpPr>
              <p:spPr>
                <a:xfrm rot="18900000">
                  <a:off x="3206982" y="5049007"/>
                  <a:ext cx="2602593" cy="999274"/>
                </a:xfrm>
                <a:prstGeom prst="arc">
                  <a:avLst>
                    <a:gd name="adj1" fmla="val 15355815"/>
                    <a:gd name="adj2" fmla="val 19224440"/>
                  </a:avLst>
                </a:prstGeom>
                <a:ln w="28575">
                  <a:solidFill>
                    <a:srgbClr val="FF0000"/>
                  </a:solidFill>
                  <a:prstDash val="solid"/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183" name="爆発 2 182">
                  <a:extLst>
                    <a:ext uri="{FF2B5EF4-FFF2-40B4-BE49-F238E27FC236}">
                      <a16:creationId xmlns:a16="http://schemas.microsoft.com/office/drawing/2014/main" id="{DD9A4369-51D1-DBC6-6C19-43CEFFC2332B}"/>
                    </a:ext>
                  </a:extLst>
                </p:cNvPr>
                <p:cNvSpPr/>
                <p:nvPr/>
              </p:nvSpPr>
              <p:spPr>
                <a:xfrm rot="19800000">
                  <a:off x="4365630" y="5210770"/>
                  <a:ext cx="353995" cy="353995"/>
                </a:xfrm>
                <a:prstGeom prst="irregularSeal2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cxnSp>
              <p:nvCxnSpPr>
                <p:cNvPr id="184" name="直線コネクタ 183">
                  <a:extLst>
                    <a:ext uri="{FF2B5EF4-FFF2-40B4-BE49-F238E27FC236}">
                      <a16:creationId xmlns:a16="http://schemas.microsoft.com/office/drawing/2014/main" id="{428E3C95-5E1C-052E-EAA6-8B153DA1381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980282" y="5403287"/>
                  <a:ext cx="591718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5" name="円弧 184">
                  <a:extLst>
                    <a:ext uri="{FF2B5EF4-FFF2-40B4-BE49-F238E27FC236}">
                      <a16:creationId xmlns:a16="http://schemas.microsoft.com/office/drawing/2014/main" id="{916E7F11-3525-AE3D-C801-76FD50C94D78}"/>
                    </a:ext>
                  </a:extLst>
                </p:cNvPr>
                <p:cNvSpPr/>
                <p:nvPr/>
              </p:nvSpPr>
              <p:spPr>
                <a:xfrm rot="2700000" flipV="1">
                  <a:off x="3187719" y="4755251"/>
                  <a:ext cx="2602593" cy="999274"/>
                </a:xfrm>
                <a:prstGeom prst="arc">
                  <a:avLst>
                    <a:gd name="adj1" fmla="val 15355815"/>
                    <a:gd name="adj2" fmla="val 19224440"/>
                  </a:avLst>
                </a:prstGeom>
                <a:ln w="28575">
                  <a:solidFill>
                    <a:srgbClr val="FF0000"/>
                  </a:solidFill>
                  <a:prstDash val="solid"/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テキスト プレースホルダー 2">
                  <a:extLst>
                    <a:ext uri="{FF2B5EF4-FFF2-40B4-BE49-F238E27FC236}">
                      <a16:creationId xmlns:a16="http://schemas.microsoft.com/office/drawing/2014/main" id="{24761B5B-2800-3928-CC02-2F8DE7A4C42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885239" y="1458276"/>
                  <a:ext cx="8551584" cy="3066370"/>
                </a:xfrm>
                <a:prstGeom prst="rect">
                  <a:avLst/>
                </a:prstGeom>
              </p:spPr>
              <p:txBody>
                <a:bodyPr vert="horz"/>
                <a:lstStyle>
                  <a:lvl1pPr marL="342000" indent="-342900" algn="l" defTabSz="914400" rtl="0" eaLnBrk="1" latinLnBrk="0" hangingPunct="1">
                    <a:lnSpc>
                      <a:spcPct val="100000"/>
                    </a:lnSpc>
                    <a:spcBef>
                      <a:spcPts val="1800"/>
                    </a:spcBef>
                    <a:spcAft>
                      <a:spcPts val="400"/>
                    </a:spcAft>
                    <a:buClr>
                      <a:schemeClr val="accent6">
                        <a:lumMod val="75000"/>
                      </a:schemeClr>
                    </a:buClr>
                    <a:buSzPct val="140000"/>
                    <a:buFont typeface="ヒラギノ角ゴ ProN W3"/>
                    <a:buChar char="|"/>
                    <a:defRPr kumimoji="1" sz="28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1600" indent="-392400" algn="l" defTabSz="914400" rtl="0" eaLnBrk="1" latinLnBrk="0" hangingPunct="1">
                    <a:lnSpc>
                      <a:spcPct val="100000"/>
                    </a:lnSpc>
                    <a:spcBef>
                      <a:spcPts val="225"/>
                    </a:spcBef>
                    <a:buClr>
                      <a:schemeClr val="accent6">
                        <a:lumMod val="75000"/>
                      </a:schemeClr>
                    </a:buClr>
                    <a:buSzPct val="75000"/>
                    <a:buFont typeface="Wingdings" charset="2"/>
                    <a:buChar char="n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410400" algn="l" defTabSz="914400" rtl="0" eaLnBrk="1" latinLnBrk="0" hangingPunct="1">
                    <a:lnSpc>
                      <a:spcPct val="100000"/>
                    </a:lnSpc>
                    <a:spcBef>
                      <a:spcPts val="25"/>
                    </a:spcBef>
                    <a:buClr>
                      <a:schemeClr val="accent6">
                        <a:lumMod val="75000"/>
                      </a:schemeClr>
                    </a:buClr>
                    <a:buSzPct val="120000"/>
                    <a:buFont typeface="HiraKakuProN-W3" charset="-128"/>
                    <a:buChar char="−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100000"/>
                    </a:lnSpc>
                    <a:spcBef>
                      <a:spcPts val="25"/>
                    </a:spcBef>
                    <a:buClr>
                      <a:schemeClr val="accent6">
                        <a:lumMod val="75000"/>
                      </a:schemeClr>
                    </a:buClr>
                    <a:buFont typeface="Arial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100000"/>
                    </a:lnSpc>
                    <a:spcBef>
                      <a:spcPts val="25"/>
                    </a:spcBef>
                    <a:buClr>
                      <a:schemeClr val="accent6">
                        <a:lumMod val="75000"/>
                      </a:schemeClr>
                    </a:buClr>
                    <a:buFont typeface="Arial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2"/>
                  <a14:m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=1.0</m:t>
                      </m:r>
                    </m:oMath>
                  </a14:m>
                  <a:endParaRPr lang="ja-JP" altLang="en-US"/>
                </a:p>
              </p:txBody>
            </p:sp>
          </mc:Choice>
          <mc:Fallback xmlns="">
            <p:sp>
              <p:nvSpPr>
                <p:cNvPr id="7" name="テキスト プレースホルダー 2">
                  <a:extLst>
                    <a:ext uri="{FF2B5EF4-FFF2-40B4-BE49-F238E27FC236}">
                      <a16:creationId xmlns:a16="http://schemas.microsoft.com/office/drawing/2014/main" id="{24761B5B-2800-3928-CC02-2F8DE7A4C4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85239" y="1458276"/>
                  <a:ext cx="8551584" cy="3066370"/>
                </a:xfrm>
                <a:prstGeom prst="rect">
                  <a:avLst/>
                </a:prstGeom>
                <a:blipFill>
                  <a:blip r:embed="rId4"/>
                  <a:stretch>
                    <a:fillRect t="-535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ABCD6607-9673-F095-DE4E-129055DF8706}"/>
              </a:ext>
            </a:extLst>
          </p:cNvPr>
          <p:cNvGrpSpPr/>
          <p:nvPr/>
        </p:nvGrpSpPr>
        <p:grpSpPr>
          <a:xfrm>
            <a:off x="4606920" y="3351293"/>
            <a:ext cx="8551584" cy="3066370"/>
            <a:chOff x="4666189" y="1344682"/>
            <a:chExt cx="8551584" cy="3066370"/>
          </a:xfrm>
        </p:grpSpPr>
        <p:grpSp>
          <p:nvGrpSpPr>
            <p:cNvPr id="115" name="グループ化 114">
              <a:extLst>
                <a:ext uri="{FF2B5EF4-FFF2-40B4-BE49-F238E27FC236}">
                  <a16:creationId xmlns:a16="http://schemas.microsoft.com/office/drawing/2014/main" id="{66289262-EA14-EA25-D808-7B7722BD5F89}"/>
                </a:ext>
              </a:extLst>
            </p:cNvPr>
            <p:cNvGrpSpPr/>
            <p:nvPr/>
          </p:nvGrpSpPr>
          <p:grpSpPr>
            <a:xfrm>
              <a:off x="5868725" y="1706654"/>
              <a:ext cx="1003352" cy="1627452"/>
              <a:chOff x="1286540" y="1949340"/>
              <a:chExt cx="1818925" cy="2950323"/>
            </a:xfrm>
          </p:grpSpPr>
          <p:sp>
            <p:nvSpPr>
              <p:cNvPr id="116" name="円弧 115">
                <a:extLst>
                  <a:ext uri="{FF2B5EF4-FFF2-40B4-BE49-F238E27FC236}">
                    <a16:creationId xmlns:a16="http://schemas.microsoft.com/office/drawing/2014/main" id="{9EB03CEC-A9CA-75ED-90B9-43A4860307B8}"/>
                  </a:ext>
                </a:extLst>
              </p:cNvPr>
              <p:cNvSpPr/>
              <p:nvPr/>
            </p:nvSpPr>
            <p:spPr>
              <a:xfrm>
                <a:off x="2094613" y="2971800"/>
                <a:ext cx="914400" cy="914400"/>
              </a:xfrm>
              <a:prstGeom prst="arc">
                <a:avLst>
                  <a:gd name="adj1" fmla="val 16200000"/>
                  <a:gd name="adj2" fmla="val 5471258"/>
                </a:avLst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117" name="直線コネクタ 116">
                <a:extLst>
                  <a:ext uri="{FF2B5EF4-FFF2-40B4-BE49-F238E27FC236}">
                    <a16:creationId xmlns:a16="http://schemas.microsoft.com/office/drawing/2014/main" id="{F39E251D-C2FE-8351-5080-32D9F92E5EE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86540" y="2971800"/>
                <a:ext cx="1265273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直線コネクタ 117">
                <a:extLst>
                  <a:ext uri="{FF2B5EF4-FFF2-40B4-BE49-F238E27FC236}">
                    <a16:creationId xmlns:a16="http://schemas.microsoft.com/office/drawing/2014/main" id="{CE437975-7E8A-1F21-90AF-A8E1AAFE64C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86540" y="3886200"/>
                <a:ext cx="1265273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直線コネクタ 118">
                <a:extLst>
                  <a:ext uri="{FF2B5EF4-FFF2-40B4-BE49-F238E27FC236}">
                    <a16:creationId xmlns:a16="http://schemas.microsoft.com/office/drawing/2014/main" id="{2F50FF40-6635-74AF-60F4-8AD54C30190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690478" y="1949340"/>
                <a:ext cx="414987" cy="97411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直線コネクタ 119">
                <a:extLst>
                  <a:ext uri="{FF2B5EF4-FFF2-40B4-BE49-F238E27FC236}">
                    <a16:creationId xmlns:a16="http://schemas.microsoft.com/office/drawing/2014/main" id="{DB498F7B-49BE-54F9-FBA7-A1316116B52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689358" y="3925552"/>
                <a:ext cx="414987" cy="97411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6" name="グループ化 225">
              <a:extLst>
                <a:ext uri="{FF2B5EF4-FFF2-40B4-BE49-F238E27FC236}">
                  <a16:creationId xmlns:a16="http://schemas.microsoft.com/office/drawing/2014/main" id="{B837F05C-D1ED-7BFE-D51D-81488B6BBF25}"/>
                </a:ext>
              </a:extLst>
            </p:cNvPr>
            <p:cNvGrpSpPr/>
            <p:nvPr/>
          </p:nvGrpSpPr>
          <p:grpSpPr>
            <a:xfrm>
              <a:off x="7348470" y="1824053"/>
              <a:ext cx="1360670" cy="1365315"/>
              <a:chOff x="3175880" y="749077"/>
              <a:chExt cx="2721890" cy="2731182"/>
            </a:xfrm>
          </p:grpSpPr>
          <p:grpSp>
            <p:nvGrpSpPr>
              <p:cNvPr id="227" name="グループ化 226">
                <a:extLst>
                  <a:ext uri="{FF2B5EF4-FFF2-40B4-BE49-F238E27FC236}">
                    <a16:creationId xmlns:a16="http://schemas.microsoft.com/office/drawing/2014/main" id="{4AC74CDB-C4AF-F102-572D-BD64B4C5C6D9}"/>
                  </a:ext>
                </a:extLst>
              </p:cNvPr>
              <p:cNvGrpSpPr/>
              <p:nvPr/>
            </p:nvGrpSpPr>
            <p:grpSpPr>
              <a:xfrm>
                <a:off x="3649943" y="1508864"/>
                <a:ext cx="353027" cy="1294089"/>
                <a:chOff x="3607413" y="2794864"/>
                <a:chExt cx="353027" cy="1294089"/>
              </a:xfrm>
            </p:grpSpPr>
            <p:grpSp>
              <p:nvGrpSpPr>
                <p:cNvPr id="261" name="グループ化 260">
                  <a:extLst>
                    <a:ext uri="{FF2B5EF4-FFF2-40B4-BE49-F238E27FC236}">
                      <a16:creationId xmlns:a16="http://schemas.microsoft.com/office/drawing/2014/main" id="{C281AC25-E51A-A990-C17E-F15F7BFD32E2}"/>
                    </a:ext>
                  </a:extLst>
                </p:cNvPr>
                <p:cNvGrpSpPr/>
                <p:nvPr/>
              </p:nvGrpSpPr>
              <p:grpSpPr>
                <a:xfrm>
                  <a:off x="3613337" y="2794864"/>
                  <a:ext cx="347103" cy="529899"/>
                  <a:chOff x="3848845" y="2791423"/>
                  <a:chExt cx="347103" cy="529899"/>
                </a:xfrm>
              </p:grpSpPr>
              <p:grpSp>
                <p:nvGrpSpPr>
                  <p:cNvPr id="269" name="グループ化 268">
                    <a:extLst>
                      <a:ext uri="{FF2B5EF4-FFF2-40B4-BE49-F238E27FC236}">
                        <a16:creationId xmlns:a16="http://schemas.microsoft.com/office/drawing/2014/main" id="{76E42E72-A7D5-9844-98C7-FFF3BEAA4830}"/>
                      </a:ext>
                    </a:extLst>
                  </p:cNvPr>
                  <p:cNvGrpSpPr/>
                  <p:nvPr/>
                </p:nvGrpSpPr>
                <p:grpSpPr>
                  <a:xfrm rot="3600000">
                    <a:off x="3962951" y="3088326"/>
                    <a:ext cx="267775" cy="198218"/>
                    <a:chOff x="6549656" y="3078619"/>
                    <a:chExt cx="595423" cy="440757"/>
                  </a:xfrm>
                </p:grpSpPr>
                <p:sp>
                  <p:nvSpPr>
                    <p:cNvPr id="273" name="正方形/長方形 272">
                      <a:extLst>
                        <a:ext uri="{FF2B5EF4-FFF2-40B4-BE49-F238E27FC236}">
                          <a16:creationId xmlns:a16="http://schemas.microsoft.com/office/drawing/2014/main" id="{B88A349C-924D-E70C-21E5-74A86216673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49656" y="3377963"/>
                      <a:ext cx="595423" cy="141413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  <p:sp>
                  <p:nvSpPr>
                    <p:cNvPr id="274" name="正方形/長方形 273">
                      <a:extLst>
                        <a:ext uri="{FF2B5EF4-FFF2-40B4-BE49-F238E27FC236}">
                          <a16:creationId xmlns:a16="http://schemas.microsoft.com/office/drawing/2014/main" id="{35F20D51-4F08-9884-E089-8F7D5B80157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6638303" y="3209798"/>
                      <a:ext cx="414669" cy="152312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</p:grpSp>
              <p:grpSp>
                <p:nvGrpSpPr>
                  <p:cNvPr id="270" name="グループ化 269">
                    <a:extLst>
                      <a:ext uri="{FF2B5EF4-FFF2-40B4-BE49-F238E27FC236}">
                        <a16:creationId xmlns:a16="http://schemas.microsoft.com/office/drawing/2014/main" id="{02F67369-5432-332A-8AC7-62EE682001A2}"/>
                      </a:ext>
                    </a:extLst>
                  </p:cNvPr>
                  <p:cNvGrpSpPr/>
                  <p:nvPr/>
                </p:nvGrpSpPr>
                <p:grpSpPr>
                  <a:xfrm rot="3600000">
                    <a:off x="3814066" y="2826202"/>
                    <a:ext cx="267775" cy="198218"/>
                    <a:chOff x="6549656" y="3078619"/>
                    <a:chExt cx="595423" cy="440757"/>
                  </a:xfrm>
                </p:grpSpPr>
                <p:sp>
                  <p:nvSpPr>
                    <p:cNvPr id="271" name="正方形/長方形 270">
                      <a:extLst>
                        <a:ext uri="{FF2B5EF4-FFF2-40B4-BE49-F238E27FC236}">
                          <a16:creationId xmlns:a16="http://schemas.microsoft.com/office/drawing/2014/main" id="{DDF9F837-2AB0-D463-0ED7-5248DD59CEE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49656" y="3377963"/>
                      <a:ext cx="595423" cy="141413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  <p:sp>
                  <p:nvSpPr>
                    <p:cNvPr id="272" name="正方形/長方形 271">
                      <a:extLst>
                        <a:ext uri="{FF2B5EF4-FFF2-40B4-BE49-F238E27FC236}">
                          <a16:creationId xmlns:a16="http://schemas.microsoft.com/office/drawing/2014/main" id="{EC1E9AA1-7E75-1EC7-B595-56FE5299EA9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6638303" y="3209798"/>
                      <a:ext cx="414669" cy="152312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</p:grpSp>
            </p:grpSp>
            <p:grpSp>
              <p:nvGrpSpPr>
                <p:cNvPr id="262" name="グループ化 261">
                  <a:extLst>
                    <a:ext uri="{FF2B5EF4-FFF2-40B4-BE49-F238E27FC236}">
                      <a16:creationId xmlns:a16="http://schemas.microsoft.com/office/drawing/2014/main" id="{5DAE5A1A-FD9C-0EF7-E185-E3C9D8EECBCC}"/>
                    </a:ext>
                  </a:extLst>
                </p:cNvPr>
                <p:cNvGrpSpPr/>
                <p:nvPr/>
              </p:nvGrpSpPr>
              <p:grpSpPr>
                <a:xfrm flipV="1">
                  <a:off x="3607413" y="3559054"/>
                  <a:ext cx="347103" cy="529899"/>
                  <a:chOff x="3848845" y="2791423"/>
                  <a:chExt cx="347103" cy="529899"/>
                </a:xfrm>
              </p:grpSpPr>
              <p:grpSp>
                <p:nvGrpSpPr>
                  <p:cNvPr id="263" name="グループ化 262">
                    <a:extLst>
                      <a:ext uri="{FF2B5EF4-FFF2-40B4-BE49-F238E27FC236}">
                        <a16:creationId xmlns:a16="http://schemas.microsoft.com/office/drawing/2014/main" id="{7FD6DA90-1590-7361-87AE-DE168A4EEAA3}"/>
                      </a:ext>
                    </a:extLst>
                  </p:cNvPr>
                  <p:cNvGrpSpPr/>
                  <p:nvPr/>
                </p:nvGrpSpPr>
                <p:grpSpPr>
                  <a:xfrm rot="3600000">
                    <a:off x="3962951" y="3088326"/>
                    <a:ext cx="267775" cy="198218"/>
                    <a:chOff x="6549656" y="3078619"/>
                    <a:chExt cx="595423" cy="440757"/>
                  </a:xfrm>
                </p:grpSpPr>
                <p:sp>
                  <p:nvSpPr>
                    <p:cNvPr id="267" name="正方形/長方形 266">
                      <a:extLst>
                        <a:ext uri="{FF2B5EF4-FFF2-40B4-BE49-F238E27FC236}">
                          <a16:creationId xmlns:a16="http://schemas.microsoft.com/office/drawing/2014/main" id="{B08ECA39-6E43-F13E-C479-5320B1D97B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49656" y="3377963"/>
                      <a:ext cx="595423" cy="141413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  <p:sp>
                  <p:nvSpPr>
                    <p:cNvPr id="268" name="正方形/長方形 267">
                      <a:extLst>
                        <a:ext uri="{FF2B5EF4-FFF2-40B4-BE49-F238E27FC236}">
                          <a16:creationId xmlns:a16="http://schemas.microsoft.com/office/drawing/2014/main" id="{8FEA405A-0433-255B-04BB-70BAEA8CFB4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6638303" y="3209798"/>
                      <a:ext cx="414669" cy="152312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</p:grpSp>
              <p:grpSp>
                <p:nvGrpSpPr>
                  <p:cNvPr id="264" name="グループ化 263">
                    <a:extLst>
                      <a:ext uri="{FF2B5EF4-FFF2-40B4-BE49-F238E27FC236}">
                        <a16:creationId xmlns:a16="http://schemas.microsoft.com/office/drawing/2014/main" id="{4F1A7359-A8C8-4CB3-CCC5-A1B1C4FCF113}"/>
                      </a:ext>
                    </a:extLst>
                  </p:cNvPr>
                  <p:cNvGrpSpPr/>
                  <p:nvPr/>
                </p:nvGrpSpPr>
                <p:grpSpPr>
                  <a:xfrm rot="3600000">
                    <a:off x="3814066" y="2826202"/>
                    <a:ext cx="267775" cy="198218"/>
                    <a:chOff x="6549656" y="3078619"/>
                    <a:chExt cx="595423" cy="440757"/>
                  </a:xfrm>
                </p:grpSpPr>
                <p:sp>
                  <p:nvSpPr>
                    <p:cNvPr id="265" name="正方形/長方形 264">
                      <a:extLst>
                        <a:ext uri="{FF2B5EF4-FFF2-40B4-BE49-F238E27FC236}">
                          <a16:creationId xmlns:a16="http://schemas.microsoft.com/office/drawing/2014/main" id="{0EE9825A-21DA-15C9-F513-3E5ECABA6B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49656" y="3377963"/>
                      <a:ext cx="595423" cy="141413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  <p:sp>
                  <p:nvSpPr>
                    <p:cNvPr id="266" name="正方形/長方形 265">
                      <a:extLst>
                        <a:ext uri="{FF2B5EF4-FFF2-40B4-BE49-F238E27FC236}">
                          <a16:creationId xmlns:a16="http://schemas.microsoft.com/office/drawing/2014/main" id="{96457454-3D60-C18D-DAE3-252024B96B8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6638303" y="3209798"/>
                      <a:ext cx="414669" cy="152312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</p:grpSp>
            </p:grpSp>
          </p:grpSp>
          <p:grpSp>
            <p:nvGrpSpPr>
              <p:cNvPr id="228" name="グループ化 227">
                <a:extLst>
                  <a:ext uri="{FF2B5EF4-FFF2-40B4-BE49-F238E27FC236}">
                    <a16:creationId xmlns:a16="http://schemas.microsoft.com/office/drawing/2014/main" id="{3D0E8ABE-8779-8C88-185E-2334AFFE1A32}"/>
                  </a:ext>
                </a:extLst>
              </p:cNvPr>
              <p:cNvGrpSpPr/>
              <p:nvPr/>
            </p:nvGrpSpPr>
            <p:grpSpPr>
              <a:xfrm>
                <a:off x="5234977" y="982853"/>
                <a:ext cx="662793" cy="2336040"/>
                <a:chOff x="5192447" y="2268853"/>
                <a:chExt cx="662793" cy="2336040"/>
              </a:xfrm>
              <a:solidFill>
                <a:schemeClr val="tx1"/>
              </a:solidFill>
            </p:grpSpPr>
            <p:grpSp>
              <p:nvGrpSpPr>
                <p:cNvPr id="235" name="グループ化 234">
                  <a:extLst>
                    <a:ext uri="{FF2B5EF4-FFF2-40B4-BE49-F238E27FC236}">
                      <a16:creationId xmlns:a16="http://schemas.microsoft.com/office/drawing/2014/main" id="{08C663CA-C29A-2A4E-8BF6-9F2AF7546AC0}"/>
                    </a:ext>
                  </a:extLst>
                </p:cNvPr>
                <p:cNvGrpSpPr/>
                <p:nvPr/>
              </p:nvGrpSpPr>
              <p:grpSpPr>
                <a:xfrm>
                  <a:off x="5195905" y="2268853"/>
                  <a:ext cx="659335" cy="1052468"/>
                  <a:chOff x="5195905" y="2268853"/>
                  <a:chExt cx="659335" cy="1052468"/>
                </a:xfrm>
                <a:grpFill/>
              </p:grpSpPr>
              <p:grpSp>
                <p:nvGrpSpPr>
                  <p:cNvPr id="249" name="グループ化 248">
                    <a:extLst>
                      <a:ext uri="{FF2B5EF4-FFF2-40B4-BE49-F238E27FC236}">
                        <a16:creationId xmlns:a16="http://schemas.microsoft.com/office/drawing/2014/main" id="{F0C5FEF0-49BB-6B6D-21EB-4E257E40E5BC}"/>
                      </a:ext>
                    </a:extLst>
                  </p:cNvPr>
                  <p:cNvGrpSpPr/>
                  <p:nvPr/>
                </p:nvGrpSpPr>
                <p:grpSpPr>
                  <a:xfrm rot="18000000" flipH="1">
                    <a:off x="5161126" y="3088325"/>
                    <a:ext cx="267775" cy="198218"/>
                    <a:chOff x="6549656" y="3078619"/>
                    <a:chExt cx="595423" cy="440757"/>
                  </a:xfrm>
                  <a:grpFill/>
                </p:grpSpPr>
                <p:sp>
                  <p:nvSpPr>
                    <p:cNvPr id="259" name="正方形/長方形 258">
                      <a:extLst>
                        <a:ext uri="{FF2B5EF4-FFF2-40B4-BE49-F238E27FC236}">
                          <a16:creationId xmlns:a16="http://schemas.microsoft.com/office/drawing/2014/main" id="{1970238B-F0FF-BD34-7272-F8C91EAE4E5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49656" y="3377963"/>
                      <a:ext cx="595423" cy="141413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  <p:sp>
                  <p:nvSpPr>
                    <p:cNvPr id="260" name="正方形/長方形 259">
                      <a:extLst>
                        <a:ext uri="{FF2B5EF4-FFF2-40B4-BE49-F238E27FC236}">
                          <a16:creationId xmlns:a16="http://schemas.microsoft.com/office/drawing/2014/main" id="{E7D1FBCF-EF29-D720-FF72-DA807345200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6638303" y="3209798"/>
                      <a:ext cx="414669" cy="152312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</p:grpSp>
              <p:grpSp>
                <p:nvGrpSpPr>
                  <p:cNvPr id="250" name="グループ化 249">
                    <a:extLst>
                      <a:ext uri="{FF2B5EF4-FFF2-40B4-BE49-F238E27FC236}">
                        <a16:creationId xmlns:a16="http://schemas.microsoft.com/office/drawing/2014/main" id="{10C6CCCA-9F7D-F0A5-D40A-D0D299E6F935}"/>
                      </a:ext>
                    </a:extLst>
                  </p:cNvPr>
                  <p:cNvGrpSpPr/>
                  <p:nvPr/>
                </p:nvGrpSpPr>
                <p:grpSpPr>
                  <a:xfrm rot="18000000" flipH="1">
                    <a:off x="5313900" y="2824626"/>
                    <a:ext cx="267775" cy="198218"/>
                    <a:chOff x="6549656" y="3078619"/>
                    <a:chExt cx="595423" cy="440757"/>
                  </a:xfrm>
                  <a:grpFill/>
                </p:grpSpPr>
                <p:sp>
                  <p:nvSpPr>
                    <p:cNvPr id="257" name="正方形/長方形 256">
                      <a:extLst>
                        <a:ext uri="{FF2B5EF4-FFF2-40B4-BE49-F238E27FC236}">
                          <a16:creationId xmlns:a16="http://schemas.microsoft.com/office/drawing/2014/main" id="{6CAE41C8-CDD1-2B43-792D-37B49A9ED9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49656" y="3377963"/>
                      <a:ext cx="595423" cy="141413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  <p:sp>
                  <p:nvSpPr>
                    <p:cNvPr id="258" name="正方形/長方形 257">
                      <a:extLst>
                        <a:ext uri="{FF2B5EF4-FFF2-40B4-BE49-F238E27FC236}">
                          <a16:creationId xmlns:a16="http://schemas.microsoft.com/office/drawing/2014/main" id="{9F3B8514-E766-838A-30CA-BB72A1C666C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6638303" y="3209798"/>
                      <a:ext cx="414669" cy="152312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</p:grpSp>
              <p:grpSp>
                <p:nvGrpSpPr>
                  <p:cNvPr id="251" name="グループ化 250">
                    <a:extLst>
                      <a:ext uri="{FF2B5EF4-FFF2-40B4-BE49-F238E27FC236}">
                        <a16:creationId xmlns:a16="http://schemas.microsoft.com/office/drawing/2014/main" id="{55BEA7B1-A060-2248-68F1-F5BC8F9A569B}"/>
                      </a:ext>
                    </a:extLst>
                  </p:cNvPr>
                  <p:cNvGrpSpPr/>
                  <p:nvPr/>
                </p:nvGrpSpPr>
                <p:grpSpPr>
                  <a:xfrm rot="18000000" flipH="1">
                    <a:off x="5469469" y="2567331"/>
                    <a:ext cx="267775" cy="198218"/>
                    <a:chOff x="6549656" y="3078619"/>
                    <a:chExt cx="595423" cy="440757"/>
                  </a:xfrm>
                  <a:grpFill/>
                </p:grpSpPr>
                <p:sp>
                  <p:nvSpPr>
                    <p:cNvPr id="255" name="正方形/長方形 254">
                      <a:extLst>
                        <a:ext uri="{FF2B5EF4-FFF2-40B4-BE49-F238E27FC236}">
                          <a16:creationId xmlns:a16="http://schemas.microsoft.com/office/drawing/2014/main" id="{8DAA9D35-0AD2-A110-12FB-2B5C9934665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49656" y="3377963"/>
                      <a:ext cx="595423" cy="141413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  <p:sp>
                  <p:nvSpPr>
                    <p:cNvPr id="256" name="正方形/長方形 255">
                      <a:extLst>
                        <a:ext uri="{FF2B5EF4-FFF2-40B4-BE49-F238E27FC236}">
                          <a16:creationId xmlns:a16="http://schemas.microsoft.com/office/drawing/2014/main" id="{80B6C1AB-B97B-626D-340E-AB6D7D83BB9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6638303" y="3209798"/>
                      <a:ext cx="414669" cy="152312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</p:grpSp>
              <p:grpSp>
                <p:nvGrpSpPr>
                  <p:cNvPr id="252" name="グループ化 251">
                    <a:extLst>
                      <a:ext uri="{FF2B5EF4-FFF2-40B4-BE49-F238E27FC236}">
                        <a16:creationId xmlns:a16="http://schemas.microsoft.com/office/drawing/2014/main" id="{3D85E888-4759-DC43-455F-57A4F962432B}"/>
                      </a:ext>
                    </a:extLst>
                  </p:cNvPr>
                  <p:cNvGrpSpPr/>
                  <p:nvPr/>
                </p:nvGrpSpPr>
                <p:grpSpPr>
                  <a:xfrm rot="18000000" flipH="1">
                    <a:off x="5622243" y="2303632"/>
                    <a:ext cx="267775" cy="198218"/>
                    <a:chOff x="6549656" y="3078619"/>
                    <a:chExt cx="595423" cy="440757"/>
                  </a:xfrm>
                  <a:grpFill/>
                </p:grpSpPr>
                <p:sp>
                  <p:nvSpPr>
                    <p:cNvPr id="253" name="正方形/長方形 252">
                      <a:extLst>
                        <a:ext uri="{FF2B5EF4-FFF2-40B4-BE49-F238E27FC236}">
                          <a16:creationId xmlns:a16="http://schemas.microsoft.com/office/drawing/2014/main" id="{B97AB73B-A147-422A-9742-897FD742EA9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49656" y="3377963"/>
                      <a:ext cx="595423" cy="141413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  <p:sp>
                  <p:nvSpPr>
                    <p:cNvPr id="254" name="正方形/長方形 253">
                      <a:extLst>
                        <a:ext uri="{FF2B5EF4-FFF2-40B4-BE49-F238E27FC236}">
                          <a16:creationId xmlns:a16="http://schemas.microsoft.com/office/drawing/2014/main" id="{D34F4857-5EE8-00FA-154F-010EFD4FAE3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6638303" y="3209798"/>
                      <a:ext cx="414669" cy="152312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</p:grpSp>
            </p:grpSp>
            <p:grpSp>
              <p:nvGrpSpPr>
                <p:cNvPr id="236" name="グループ化 235">
                  <a:extLst>
                    <a:ext uri="{FF2B5EF4-FFF2-40B4-BE49-F238E27FC236}">
                      <a16:creationId xmlns:a16="http://schemas.microsoft.com/office/drawing/2014/main" id="{CE1198F0-CD06-CFE9-C4A3-6CE4347B05E7}"/>
                    </a:ext>
                  </a:extLst>
                </p:cNvPr>
                <p:cNvGrpSpPr/>
                <p:nvPr/>
              </p:nvGrpSpPr>
              <p:grpSpPr>
                <a:xfrm flipV="1">
                  <a:off x="5192447" y="3552425"/>
                  <a:ext cx="659335" cy="1052468"/>
                  <a:chOff x="5195905" y="2268853"/>
                  <a:chExt cx="659335" cy="1052468"/>
                </a:xfrm>
                <a:grpFill/>
              </p:grpSpPr>
              <p:grpSp>
                <p:nvGrpSpPr>
                  <p:cNvPr id="237" name="グループ化 236">
                    <a:extLst>
                      <a:ext uri="{FF2B5EF4-FFF2-40B4-BE49-F238E27FC236}">
                        <a16:creationId xmlns:a16="http://schemas.microsoft.com/office/drawing/2014/main" id="{2F1538F8-EA6A-E5EB-8DF2-7BC46C42EA14}"/>
                      </a:ext>
                    </a:extLst>
                  </p:cNvPr>
                  <p:cNvGrpSpPr/>
                  <p:nvPr/>
                </p:nvGrpSpPr>
                <p:grpSpPr>
                  <a:xfrm rot="18000000" flipH="1">
                    <a:off x="5161126" y="3088325"/>
                    <a:ext cx="267775" cy="198218"/>
                    <a:chOff x="6549656" y="3078619"/>
                    <a:chExt cx="595423" cy="440757"/>
                  </a:xfrm>
                  <a:grpFill/>
                </p:grpSpPr>
                <p:sp>
                  <p:nvSpPr>
                    <p:cNvPr id="247" name="正方形/長方形 246">
                      <a:extLst>
                        <a:ext uri="{FF2B5EF4-FFF2-40B4-BE49-F238E27FC236}">
                          <a16:creationId xmlns:a16="http://schemas.microsoft.com/office/drawing/2014/main" id="{80495B9D-2156-54B5-5007-C2BDC7381EE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49656" y="3377963"/>
                      <a:ext cx="595423" cy="141413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  <p:sp>
                  <p:nvSpPr>
                    <p:cNvPr id="248" name="正方形/長方形 247">
                      <a:extLst>
                        <a:ext uri="{FF2B5EF4-FFF2-40B4-BE49-F238E27FC236}">
                          <a16:creationId xmlns:a16="http://schemas.microsoft.com/office/drawing/2014/main" id="{498102E0-FCC7-6F55-FBF4-6A392D4BEC7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6638303" y="3209798"/>
                      <a:ext cx="414669" cy="152312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</p:grpSp>
              <p:grpSp>
                <p:nvGrpSpPr>
                  <p:cNvPr id="238" name="グループ化 237">
                    <a:extLst>
                      <a:ext uri="{FF2B5EF4-FFF2-40B4-BE49-F238E27FC236}">
                        <a16:creationId xmlns:a16="http://schemas.microsoft.com/office/drawing/2014/main" id="{15511FEC-DE80-CF42-20C5-AB98341FB80E}"/>
                      </a:ext>
                    </a:extLst>
                  </p:cNvPr>
                  <p:cNvGrpSpPr/>
                  <p:nvPr/>
                </p:nvGrpSpPr>
                <p:grpSpPr>
                  <a:xfrm rot="18000000" flipH="1">
                    <a:off x="5313900" y="2824626"/>
                    <a:ext cx="267775" cy="198218"/>
                    <a:chOff x="6549656" y="3078619"/>
                    <a:chExt cx="595423" cy="440757"/>
                  </a:xfrm>
                  <a:grpFill/>
                </p:grpSpPr>
                <p:sp>
                  <p:nvSpPr>
                    <p:cNvPr id="245" name="正方形/長方形 244">
                      <a:extLst>
                        <a:ext uri="{FF2B5EF4-FFF2-40B4-BE49-F238E27FC236}">
                          <a16:creationId xmlns:a16="http://schemas.microsoft.com/office/drawing/2014/main" id="{DD94D15D-88F7-C227-59F7-F18C6DD3648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49656" y="3377963"/>
                      <a:ext cx="595423" cy="141413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  <p:sp>
                  <p:nvSpPr>
                    <p:cNvPr id="246" name="正方形/長方形 245">
                      <a:extLst>
                        <a:ext uri="{FF2B5EF4-FFF2-40B4-BE49-F238E27FC236}">
                          <a16:creationId xmlns:a16="http://schemas.microsoft.com/office/drawing/2014/main" id="{C9629C51-BD6D-B13A-4FF2-FA393106A76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6638303" y="3209798"/>
                      <a:ext cx="414669" cy="152312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</p:grpSp>
              <p:grpSp>
                <p:nvGrpSpPr>
                  <p:cNvPr id="239" name="グループ化 238">
                    <a:extLst>
                      <a:ext uri="{FF2B5EF4-FFF2-40B4-BE49-F238E27FC236}">
                        <a16:creationId xmlns:a16="http://schemas.microsoft.com/office/drawing/2014/main" id="{B6793802-2BAD-615E-5E9F-8A396F953DA7}"/>
                      </a:ext>
                    </a:extLst>
                  </p:cNvPr>
                  <p:cNvGrpSpPr/>
                  <p:nvPr/>
                </p:nvGrpSpPr>
                <p:grpSpPr>
                  <a:xfrm rot="18000000" flipH="1">
                    <a:off x="5469469" y="2567331"/>
                    <a:ext cx="267775" cy="198218"/>
                    <a:chOff x="6549656" y="3078619"/>
                    <a:chExt cx="595423" cy="440757"/>
                  </a:xfrm>
                  <a:grpFill/>
                </p:grpSpPr>
                <p:sp>
                  <p:nvSpPr>
                    <p:cNvPr id="243" name="正方形/長方形 242">
                      <a:extLst>
                        <a:ext uri="{FF2B5EF4-FFF2-40B4-BE49-F238E27FC236}">
                          <a16:creationId xmlns:a16="http://schemas.microsoft.com/office/drawing/2014/main" id="{A3A02387-873A-44BC-1A06-6E2F372F2D6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49656" y="3377963"/>
                      <a:ext cx="595423" cy="141413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  <p:sp>
                  <p:nvSpPr>
                    <p:cNvPr id="244" name="正方形/長方形 243">
                      <a:extLst>
                        <a:ext uri="{FF2B5EF4-FFF2-40B4-BE49-F238E27FC236}">
                          <a16:creationId xmlns:a16="http://schemas.microsoft.com/office/drawing/2014/main" id="{64AD5AE1-75F5-98C6-F9E6-C4822F5240B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6638303" y="3209798"/>
                      <a:ext cx="414669" cy="152312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</p:grpSp>
              <p:grpSp>
                <p:nvGrpSpPr>
                  <p:cNvPr id="240" name="グループ化 239">
                    <a:extLst>
                      <a:ext uri="{FF2B5EF4-FFF2-40B4-BE49-F238E27FC236}">
                        <a16:creationId xmlns:a16="http://schemas.microsoft.com/office/drawing/2014/main" id="{E897C506-8BF8-9B82-72E3-D70F21B7CB08}"/>
                      </a:ext>
                    </a:extLst>
                  </p:cNvPr>
                  <p:cNvGrpSpPr/>
                  <p:nvPr/>
                </p:nvGrpSpPr>
                <p:grpSpPr>
                  <a:xfrm rot="18000000" flipH="1">
                    <a:off x="5622243" y="2303632"/>
                    <a:ext cx="267775" cy="198218"/>
                    <a:chOff x="6549656" y="3078619"/>
                    <a:chExt cx="595423" cy="440757"/>
                  </a:xfrm>
                  <a:grpFill/>
                </p:grpSpPr>
                <p:sp>
                  <p:nvSpPr>
                    <p:cNvPr id="241" name="正方形/長方形 240">
                      <a:extLst>
                        <a:ext uri="{FF2B5EF4-FFF2-40B4-BE49-F238E27FC236}">
                          <a16:creationId xmlns:a16="http://schemas.microsoft.com/office/drawing/2014/main" id="{FDC96AFC-2235-03B3-A314-35DA6639D9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49656" y="3377963"/>
                      <a:ext cx="595423" cy="141413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  <p:sp>
                  <p:nvSpPr>
                    <p:cNvPr id="242" name="正方形/長方形 241">
                      <a:extLst>
                        <a:ext uri="{FF2B5EF4-FFF2-40B4-BE49-F238E27FC236}">
                          <a16:creationId xmlns:a16="http://schemas.microsoft.com/office/drawing/2014/main" id="{0DEA7CBA-FC40-8721-3F56-AAD530D3DE1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6638303" y="3209798"/>
                      <a:ext cx="414669" cy="152312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</p:grpSp>
            </p:grpSp>
          </p:grpSp>
          <p:sp>
            <p:nvSpPr>
              <p:cNvPr id="229" name="爆発 2 228">
                <a:extLst>
                  <a:ext uri="{FF2B5EF4-FFF2-40B4-BE49-F238E27FC236}">
                    <a16:creationId xmlns:a16="http://schemas.microsoft.com/office/drawing/2014/main" id="{9360A417-1965-EE22-3660-E85D5AF017AC}"/>
                  </a:ext>
                </a:extLst>
              </p:cNvPr>
              <p:cNvSpPr/>
              <p:nvPr/>
            </p:nvSpPr>
            <p:spPr>
              <a:xfrm rot="19800000">
                <a:off x="3750710" y="1966003"/>
                <a:ext cx="353995" cy="353995"/>
              </a:xfrm>
              <a:prstGeom prst="irregularSeal2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230" name="直線コネクタ 229">
                <a:extLst>
                  <a:ext uri="{FF2B5EF4-FFF2-40B4-BE49-F238E27FC236}">
                    <a16:creationId xmlns:a16="http://schemas.microsoft.com/office/drawing/2014/main" id="{90C760CD-5B20-32D4-4975-29629294EAE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897299" y="2158949"/>
                <a:ext cx="1440245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1" name="円/楕円 230">
                <a:extLst>
                  <a:ext uri="{FF2B5EF4-FFF2-40B4-BE49-F238E27FC236}">
                    <a16:creationId xmlns:a16="http://schemas.microsoft.com/office/drawing/2014/main" id="{1F12D689-3745-FAA6-FBCC-BA53A879862B}"/>
                  </a:ext>
                </a:extLst>
              </p:cNvPr>
              <p:cNvSpPr/>
              <p:nvPr/>
            </p:nvSpPr>
            <p:spPr>
              <a:xfrm rot="1800000">
                <a:off x="5375403" y="850049"/>
                <a:ext cx="361919" cy="1360298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32" name="円/楕円 231">
                <a:extLst>
                  <a:ext uri="{FF2B5EF4-FFF2-40B4-BE49-F238E27FC236}">
                    <a16:creationId xmlns:a16="http://schemas.microsoft.com/office/drawing/2014/main" id="{ED9E2B94-89C9-AA05-C3FD-E4D18608498E}"/>
                  </a:ext>
                </a:extLst>
              </p:cNvPr>
              <p:cNvSpPr/>
              <p:nvPr/>
            </p:nvSpPr>
            <p:spPr>
              <a:xfrm rot="9000000">
                <a:off x="5399085" y="2119961"/>
                <a:ext cx="361919" cy="1360298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33" name="円弧 232">
                <a:extLst>
                  <a:ext uri="{FF2B5EF4-FFF2-40B4-BE49-F238E27FC236}">
                    <a16:creationId xmlns:a16="http://schemas.microsoft.com/office/drawing/2014/main" id="{32B8B539-EC3D-1B12-143D-E3B91BFFCB42}"/>
                  </a:ext>
                </a:extLst>
              </p:cNvPr>
              <p:cNvSpPr/>
              <p:nvPr/>
            </p:nvSpPr>
            <p:spPr>
              <a:xfrm rot="18900000">
                <a:off x="3175880" y="1673561"/>
                <a:ext cx="2602593" cy="999274"/>
              </a:xfrm>
              <a:prstGeom prst="arc">
                <a:avLst>
                  <a:gd name="adj1" fmla="val 15355815"/>
                  <a:gd name="adj2" fmla="val 0"/>
                </a:avLst>
              </a:prstGeom>
              <a:ln w="19050">
                <a:solidFill>
                  <a:srgbClr val="FF0000"/>
                </a:solidFill>
                <a:prstDash val="sysDash"/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34" name="円弧 233">
                <a:extLst>
                  <a:ext uri="{FF2B5EF4-FFF2-40B4-BE49-F238E27FC236}">
                    <a16:creationId xmlns:a16="http://schemas.microsoft.com/office/drawing/2014/main" id="{346B8440-925D-0F58-338E-A3119CD3C3C3}"/>
                  </a:ext>
                </a:extLst>
              </p:cNvPr>
              <p:cNvSpPr/>
              <p:nvPr/>
            </p:nvSpPr>
            <p:spPr>
              <a:xfrm rot="2700000" flipV="1">
                <a:off x="3187720" y="1550737"/>
                <a:ext cx="2602593" cy="999274"/>
              </a:xfrm>
              <a:prstGeom prst="arc">
                <a:avLst>
                  <a:gd name="adj1" fmla="val 15355815"/>
                  <a:gd name="adj2" fmla="val 0"/>
                </a:avLst>
              </a:prstGeom>
              <a:ln w="19050">
                <a:solidFill>
                  <a:srgbClr val="FF0000"/>
                </a:solidFill>
                <a:prstDash val="sysDash"/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テキスト プレースホルダー 2">
                  <a:extLst>
                    <a:ext uri="{FF2B5EF4-FFF2-40B4-BE49-F238E27FC236}">
                      <a16:creationId xmlns:a16="http://schemas.microsoft.com/office/drawing/2014/main" id="{7415E6F3-4918-4C98-5373-40A81949E754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666189" y="1344682"/>
                  <a:ext cx="8551584" cy="3066370"/>
                </a:xfrm>
                <a:prstGeom prst="rect">
                  <a:avLst/>
                </a:prstGeom>
              </p:spPr>
              <p:txBody>
                <a:bodyPr vert="horz"/>
                <a:lstStyle>
                  <a:lvl1pPr marL="342000" indent="-342900" algn="l" defTabSz="914400" rtl="0" eaLnBrk="1" latinLnBrk="0" hangingPunct="1">
                    <a:lnSpc>
                      <a:spcPct val="100000"/>
                    </a:lnSpc>
                    <a:spcBef>
                      <a:spcPts val="1800"/>
                    </a:spcBef>
                    <a:spcAft>
                      <a:spcPts val="400"/>
                    </a:spcAft>
                    <a:buClr>
                      <a:schemeClr val="accent6">
                        <a:lumMod val="75000"/>
                      </a:schemeClr>
                    </a:buClr>
                    <a:buSzPct val="140000"/>
                    <a:buFont typeface="ヒラギノ角ゴ ProN W3"/>
                    <a:buChar char="|"/>
                    <a:defRPr kumimoji="1" sz="28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1600" indent="-392400" algn="l" defTabSz="914400" rtl="0" eaLnBrk="1" latinLnBrk="0" hangingPunct="1">
                    <a:lnSpc>
                      <a:spcPct val="100000"/>
                    </a:lnSpc>
                    <a:spcBef>
                      <a:spcPts val="225"/>
                    </a:spcBef>
                    <a:buClr>
                      <a:schemeClr val="accent6">
                        <a:lumMod val="75000"/>
                      </a:schemeClr>
                    </a:buClr>
                    <a:buSzPct val="75000"/>
                    <a:buFont typeface="Wingdings" charset="2"/>
                    <a:buChar char="n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410400" algn="l" defTabSz="914400" rtl="0" eaLnBrk="1" latinLnBrk="0" hangingPunct="1">
                    <a:lnSpc>
                      <a:spcPct val="100000"/>
                    </a:lnSpc>
                    <a:spcBef>
                      <a:spcPts val="25"/>
                    </a:spcBef>
                    <a:buClr>
                      <a:schemeClr val="accent6">
                        <a:lumMod val="75000"/>
                      </a:schemeClr>
                    </a:buClr>
                    <a:buSzPct val="120000"/>
                    <a:buFont typeface="HiraKakuProN-W3" charset="-128"/>
                    <a:buChar char="−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100000"/>
                    </a:lnSpc>
                    <a:spcBef>
                      <a:spcPts val="25"/>
                    </a:spcBef>
                    <a:buClr>
                      <a:schemeClr val="accent6">
                        <a:lumMod val="75000"/>
                      </a:schemeClr>
                    </a:buClr>
                    <a:buFont typeface="Arial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100000"/>
                    </a:lnSpc>
                    <a:spcBef>
                      <a:spcPts val="25"/>
                    </a:spcBef>
                    <a:buClr>
                      <a:schemeClr val="accent6">
                        <a:lumMod val="75000"/>
                      </a:schemeClr>
                    </a:buClr>
                    <a:buFont typeface="Arial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2"/>
                  <a14:m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=3.0</m:t>
                      </m:r>
                    </m:oMath>
                  </a14:m>
                  <a:endParaRPr lang="ja-JP" altLang="en-US"/>
                </a:p>
              </p:txBody>
            </p:sp>
          </mc:Choice>
          <mc:Fallback xmlns="">
            <p:sp>
              <p:nvSpPr>
                <p:cNvPr id="8" name="テキスト プレースホルダー 2">
                  <a:extLst>
                    <a:ext uri="{FF2B5EF4-FFF2-40B4-BE49-F238E27FC236}">
                      <a16:creationId xmlns:a16="http://schemas.microsoft.com/office/drawing/2014/main" id="{7415E6F3-4918-4C98-5373-40A81949E7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66189" y="1344682"/>
                  <a:ext cx="8551584" cy="3066370"/>
                </a:xfrm>
                <a:prstGeom prst="rect">
                  <a:avLst/>
                </a:prstGeom>
                <a:blipFill>
                  <a:blip r:embed="rId5"/>
                  <a:stretch>
                    <a:fillRect t="-537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F2C2E29D-341C-F0B5-E3FB-E3878284DABB}"/>
              </a:ext>
            </a:extLst>
          </p:cNvPr>
          <p:cNvGrpSpPr/>
          <p:nvPr/>
        </p:nvGrpSpPr>
        <p:grpSpPr>
          <a:xfrm>
            <a:off x="-915681" y="1664952"/>
            <a:ext cx="7560804" cy="5292563"/>
            <a:chOff x="-926259" y="1312151"/>
            <a:chExt cx="7901242" cy="5530869"/>
          </a:xfrm>
        </p:grpSpPr>
        <p:pic>
          <p:nvPicPr>
            <p:cNvPr id="6" name="図 5">
              <a:extLst>
                <a:ext uri="{FF2B5EF4-FFF2-40B4-BE49-F238E27FC236}">
                  <a16:creationId xmlns:a16="http://schemas.microsoft.com/office/drawing/2014/main" id="{74AFFF66-73CE-4363-1834-7E545CC7BC2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5400000">
              <a:off x="258927" y="126965"/>
              <a:ext cx="5530869" cy="7901242"/>
            </a:xfrm>
            <a:prstGeom prst="rect">
              <a:avLst/>
            </a:prstGeom>
          </p:spPr>
        </p:pic>
        <p:sp>
          <p:nvSpPr>
            <p:cNvPr id="9" name="円/楕円 8">
              <a:extLst>
                <a:ext uri="{FF2B5EF4-FFF2-40B4-BE49-F238E27FC236}">
                  <a16:creationId xmlns:a16="http://schemas.microsoft.com/office/drawing/2014/main" id="{75591BE4-DD4B-5AD2-BE44-F9CEE69968E1}"/>
                </a:ext>
              </a:extLst>
            </p:cNvPr>
            <p:cNvSpPr/>
            <p:nvPr/>
          </p:nvSpPr>
          <p:spPr>
            <a:xfrm>
              <a:off x="2112842" y="2244433"/>
              <a:ext cx="540597" cy="88367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C269325-522D-B51F-E6D9-8DFBB3F5F988}"/>
              </a:ext>
            </a:extLst>
          </p:cNvPr>
          <p:cNvSpPr/>
          <p:nvPr/>
        </p:nvSpPr>
        <p:spPr>
          <a:xfrm>
            <a:off x="5096786" y="5485136"/>
            <a:ext cx="3991420" cy="94725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altLang="ja-JP" sz="2000" b="0" i="0" u="sng" dirty="0">
                <a:solidFill>
                  <a:schemeClr val="tx1"/>
                </a:solidFill>
                <a:effectLst/>
                <a:latin typeface="+mj-ea"/>
                <a:ea typeface="+mj-ea"/>
              </a:rPr>
              <a:t>The shielding effect decreases as the crack size increases</a:t>
            </a:r>
            <a:endParaRPr lang="en-US" altLang="ja-JP" sz="2000" u="sng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0667450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プレースホルダー 2">
                <a:extLst>
                  <a:ext uri="{FF2B5EF4-FFF2-40B4-BE49-F238E27FC236}">
                    <a16:creationId xmlns:a16="http://schemas.microsoft.com/office/drawing/2014/main" id="{49541148-69B7-EFF8-0EC1-47B63D95C5E3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0" y="798955"/>
                <a:ext cx="9791700" cy="3066370"/>
              </a:xfrm>
            </p:spPr>
            <p:txBody>
              <a:bodyPr/>
              <a:lstStyle/>
              <a:p>
                <a:r>
                  <a:rPr kumimoji="1" lang="en-US" altLang="ja-JP" dirty="0"/>
                  <a:t>Crack position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kumimoji="1" lang="en-US" altLang="ja-JP" b="1" i="1" smtClean="0">
                            <a:latin typeface="Cambria Math" panose="02040503050406030204" pitchFamily="18" charset="0"/>
                          </a:rPr>
                          <m:t>𝒏𝒆𝒂𝒓</m:t>
                        </m:r>
                      </m:sub>
                    </m:sSub>
                  </m:oMath>
                </a14:m>
                <a:endParaRPr kumimoji="1" lang="en-US" altLang="ja-JP" dirty="0"/>
              </a:p>
            </p:txBody>
          </p:sp>
        </mc:Choice>
        <mc:Fallback xmlns="">
          <p:sp>
            <p:nvSpPr>
              <p:cNvPr id="3" name="テキスト プレースホルダー 2">
                <a:extLst>
                  <a:ext uri="{FF2B5EF4-FFF2-40B4-BE49-F238E27FC236}">
                    <a16:creationId xmlns:a16="http://schemas.microsoft.com/office/drawing/2014/main" id="{49541148-69B7-EFF8-0EC1-47B63D95C5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0" y="798955"/>
                <a:ext cx="9791700" cy="3066370"/>
              </a:xfrm>
              <a:blipFill>
                <a:blip r:embed="rId2"/>
                <a:stretch>
                  <a:fillRect l="-2205" t="-9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タイトル 1">
            <a:extLst>
              <a:ext uri="{FF2B5EF4-FFF2-40B4-BE49-F238E27FC236}">
                <a16:creationId xmlns:a16="http://schemas.microsoft.com/office/drawing/2014/main" id="{3538F436-DD3F-A9D9-F0C0-2DFD862A6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Main factors</a:t>
            </a:r>
            <a:r>
              <a:rPr kumimoji="1" lang="en-US" altLang="ja-JP" dirty="0"/>
              <a:t> that shift the type of fracture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51C37FD-1200-6667-5870-4A4DBAE6C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F6909-ABCB-BB45-AC56-A8377246EBB2}" type="slidenum">
              <a:rPr lang="ja-JP" altLang="en-US" smtClean="0"/>
              <a:pPr/>
              <a:t>24</a:t>
            </a:fld>
            <a:endParaRPr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24CDCB6-8180-F773-A87C-622EF9B33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Tokyo University of Science - Computational Materials Science Laboratory -</a:t>
            </a:r>
            <a:endParaRPr lang="ja-JP" altLang="en-US" dirty="0"/>
          </a:p>
        </p:txBody>
      </p:sp>
      <p:sp>
        <p:nvSpPr>
          <p:cNvPr id="9" name="右矢印 23">
            <a:extLst>
              <a:ext uri="{FF2B5EF4-FFF2-40B4-BE49-F238E27FC236}">
                <a16:creationId xmlns:a16="http://schemas.microsoft.com/office/drawing/2014/main" id="{A14F7698-7820-F075-FEE7-1D8C3DD2D819}"/>
              </a:ext>
            </a:extLst>
          </p:cNvPr>
          <p:cNvSpPr/>
          <p:nvPr/>
        </p:nvSpPr>
        <p:spPr>
          <a:xfrm rot="5400000">
            <a:off x="1621446" y="3671469"/>
            <a:ext cx="211264" cy="470691"/>
          </a:xfrm>
          <a:prstGeom prst="rightArrow">
            <a:avLst/>
          </a:prstGeom>
          <a:solidFill>
            <a:srgbClr val="A9B5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86848B1A-5D82-BD51-F6C9-D82577145571}"/>
                  </a:ext>
                </a:extLst>
              </p:cNvPr>
              <p:cNvSpPr txBox="1"/>
              <p:nvPr/>
            </p:nvSpPr>
            <p:spPr>
              <a:xfrm>
                <a:off x="82504" y="1331271"/>
                <a:ext cx="17691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u="sng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u="sng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kumimoji="1" lang="en-US" altLang="ja-JP" b="0" i="1" u="sng" smtClean="0">
                              <a:latin typeface="Cambria Math" panose="02040503050406030204" pitchFamily="18" charset="0"/>
                            </a:rPr>
                            <m:t>𝑛𝑒𝑎𝑟</m:t>
                          </m:r>
                        </m:sub>
                      </m:sSub>
                      <m:r>
                        <a:rPr kumimoji="1" lang="en-US" altLang="ja-JP" b="0" i="1" u="sng" smtClean="0">
                          <a:latin typeface="Cambria Math" panose="02040503050406030204" pitchFamily="18" charset="0"/>
                        </a:rPr>
                        <m:t>=1.0 </m:t>
                      </m:r>
                      <m:r>
                        <m:rPr>
                          <m:sty m:val="p"/>
                        </m:rPr>
                        <a:rPr kumimoji="1" lang="ja-JP" altLang="en-US" b="0" i="0" u="sng" smtClean="0">
                          <a:latin typeface="Cambria Math" panose="02040503050406030204" pitchFamily="18" charset="0"/>
                        </a:rPr>
                        <m:t>μ</m:t>
                      </m:r>
                      <m:r>
                        <m:rPr>
                          <m:sty m:val="p"/>
                        </m:rPr>
                        <a:rPr kumimoji="1" lang="en-US" altLang="ja-JP" b="0" i="0" u="sng" smtClean="0">
                          <a:latin typeface="Cambria Math" panose="02040503050406030204" pitchFamily="18" charset="0"/>
                        </a:rPr>
                        <m:t>m</m:t>
                      </m:r>
                    </m:oMath>
                  </m:oMathPara>
                </a14:m>
                <a:endParaRPr kumimoji="1" lang="ja-JP" altLang="en-US" u="sng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86848B1A-5D82-BD51-F6C9-D825771455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04" y="1331271"/>
                <a:ext cx="1769139" cy="369332"/>
              </a:xfrm>
              <a:prstGeom prst="rect">
                <a:avLst/>
              </a:prstGeom>
              <a:blipFill>
                <a:blip r:embed="rId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6C4643E8-E67D-30FC-E14E-22B868A602E5}"/>
                  </a:ext>
                </a:extLst>
              </p:cNvPr>
              <p:cNvSpPr txBox="1"/>
              <p:nvPr/>
            </p:nvSpPr>
            <p:spPr>
              <a:xfrm>
                <a:off x="88083" y="4049991"/>
                <a:ext cx="17635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u="sng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u="sng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kumimoji="1" lang="en-US" altLang="ja-JP" b="0" i="1" u="sng" smtClean="0">
                              <a:latin typeface="Cambria Math" panose="02040503050406030204" pitchFamily="18" charset="0"/>
                            </a:rPr>
                            <m:t>𝑛𝑒𝑎𝑟</m:t>
                          </m:r>
                        </m:sub>
                      </m:sSub>
                      <m:r>
                        <a:rPr kumimoji="1" lang="en-US" altLang="ja-JP" b="0" i="1" u="sng" smtClean="0">
                          <a:latin typeface="Cambria Math" panose="02040503050406030204" pitchFamily="18" charset="0"/>
                        </a:rPr>
                        <m:t>=3.0 </m:t>
                      </m:r>
                      <m:r>
                        <m:rPr>
                          <m:sty m:val="p"/>
                        </m:rPr>
                        <a:rPr kumimoji="1" lang="ja-JP" altLang="en-US" b="0" i="0" u="sng" smtClean="0">
                          <a:latin typeface="Cambria Math" panose="02040503050406030204" pitchFamily="18" charset="0"/>
                        </a:rPr>
                        <m:t>μ</m:t>
                      </m:r>
                      <m:r>
                        <m:rPr>
                          <m:sty m:val="p"/>
                        </m:rPr>
                        <a:rPr kumimoji="1" lang="en-US" altLang="ja-JP" b="0" i="0" u="sng" smtClean="0">
                          <a:latin typeface="Cambria Math" panose="02040503050406030204" pitchFamily="18" charset="0"/>
                        </a:rPr>
                        <m:t>m</m:t>
                      </m:r>
                    </m:oMath>
                  </m:oMathPara>
                </a14:m>
                <a:endParaRPr kumimoji="1" lang="ja-JP" altLang="en-US" u="sng" dirty="0"/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6C4643E8-E67D-30FC-E14E-22B868A602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83" y="4049991"/>
                <a:ext cx="1763560" cy="369332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CC7E8EF1-998A-ADC8-A696-A4FAB257E4CE}"/>
              </a:ext>
            </a:extLst>
          </p:cNvPr>
          <p:cNvGrpSpPr/>
          <p:nvPr/>
        </p:nvGrpSpPr>
        <p:grpSpPr>
          <a:xfrm>
            <a:off x="181205" y="1676556"/>
            <a:ext cx="2621053" cy="2024911"/>
            <a:chOff x="545859" y="2016316"/>
            <a:chExt cx="2621053" cy="2024911"/>
          </a:xfrm>
        </p:grpSpPr>
        <p:sp>
          <p:nvSpPr>
            <p:cNvPr id="10" name="爆発: 14 pt 30">
              <a:extLst>
                <a:ext uri="{FF2B5EF4-FFF2-40B4-BE49-F238E27FC236}">
                  <a16:creationId xmlns:a16="http://schemas.microsoft.com/office/drawing/2014/main" id="{982241C0-A665-C6C6-6745-AFA1CA8BBD26}"/>
                </a:ext>
              </a:extLst>
            </p:cNvPr>
            <p:cNvSpPr/>
            <p:nvPr/>
          </p:nvSpPr>
          <p:spPr>
            <a:xfrm>
              <a:off x="2753806" y="2918606"/>
              <a:ext cx="207750" cy="207750"/>
            </a:xfrm>
            <a:prstGeom prst="irregularSeal2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1" name="図 10" descr="図形&#10;&#10;中程度の精度で自動的に生成された説明">
              <a:extLst>
                <a:ext uri="{FF2B5EF4-FFF2-40B4-BE49-F238E27FC236}">
                  <a16:creationId xmlns:a16="http://schemas.microsoft.com/office/drawing/2014/main" id="{D37C7FC5-DFBD-7A45-5103-307EBBCE9AB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5859" y="2016316"/>
              <a:ext cx="2621053" cy="2024911"/>
            </a:xfrm>
            <a:prstGeom prst="rect">
              <a:avLst/>
            </a:prstGeom>
          </p:spPr>
        </p:pic>
        <p:cxnSp>
          <p:nvCxnSpPr>
            <p:cNvPr id="12" name="直線矢印コネクタ 11">
              <a:extLst>
                <a:ext uri="{FF2B5EF4-FFF2-40B4-BE49-F238E27FC236}">
                  <a16:creationId xmlns:a16="http://schemas.microsoft.com/office/drawing/2014/main" id="{89ECCF22-657F-9C3D-721F-3ABB90378E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71572" y="3028771"/>
              <a:ext cx="767418" cy="2841"/>
            </a:xfrm>
            <a:prstGeom prst="straightConnector1">
              <a:avLst/>
            </a:prstGeom>
            <a:ln>
              <a:solidFill>
                <a:srgbClr val="FF0000"/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テキスト ボックス 19">
                  <a:extLst>
                    <a:ext uri="{FF2B5EF4-FFF2-40B4-BE49-F238E27FC236}">
                      <a16:creationId xmlns:a16="http://schemas.microsoft.com/office/drawing/2014/main" id="{645CED8E-2A11-5750-5B5E-C0A700005771}"/>
                    </a:ext>
                  </a:extLst>
                </p:cNvPr>
                <p:cNvSpPr txBox="1"/>
                <p:nvPr/>
              </p:nvSpPr>
              <p:spPr>
                <a:xfrm>
                  <a:off x="2071572" y="2659439"/>
                  <a:ext cx="7873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𝑛𝑒𝑎𝑟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 xmlns="">
            <p:sp>
              <p:nvSpPr>
                <p:cNvPr id="20" name="テキスト ボックス 19">
                  <a:extLst>
                    <a:ext uri="{FF2B5EF4-FFF2-40B4-BE49-F238E27FC236}">
                      <a16:creationId xmlns:a16="http://schemas.microsoft.com/office/drawing/2014/main" id="{645CED8E-2A11-5750-5B5E-C0A7000057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71572" y="2659439"/>
                  <a:ext cx="787331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E6E65052-205F-0602-D8F8-E1A9C78BDF0F}"/>
              </a:ext>
            </a:extLst>
          </p:cNvPr>
          <p:cNvGrpSpPr/>
          <p:nvPr/>
        </p:nvGrpSpPr>
        <p:grpSpPr>
          <a:xfrm>
            <a:off x="175130" y="4488901"/>
            <a:ext cx="3167928" cy="2024912"/>
            <a:chOff x="586116" y="4376265"/>
            <a:chExt cx="3167928" cy="2024912"/>
          </a:xfrm>
        </p:grpSpPr>
        <p:sp>
          <p:nvSpPr>
            <p:cNvPr id="22" name="爆発: 14 pt 31">
              <a:extLst>
                <a:ext uri="{FF2B5EF4-FFF2-40B4-BE49-F238E27FC236}">
                  <a16:creationId xmlns:a16="http://schemas.microsoft.com/office/drawing/2014/main" id="{48AD292D-C538-CA2A-46C2-0B39E354D6EE}"/>
                </a:ext>
              </a:extLst>
            </p:cNvPr>
            <p:cNvSpPr/>
            <p:nvPr/>
          </p:nvSpPr>
          <p:spPr>
            <a:xfrm>
              <a:off x="3519152" y="5284846"/>
              <a:ext cx="207750" cy="207750"/>
            </a:xfrm>
            <a:prstGeom prst="irregularSeal2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27" name="図 26" descr="図形&#10;&#10;中程度の精度で自動的に生成された説明">
              <a:extLst>
                <a:ext uri="{FF2B5EF4-FFF2-40B4-BE49-F238E27FC236}">
                  <a16:creationId xmlns:a16="http://schemas.microsoft.com/office/drawing/2014/main" id="{0709B6B2-93A2-6D9B-EF81-163F9C2683D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86116" y="4376265"/>
              <a:ext cx="3167928" cy="2024912"/>
            </a:xfrm>
            <a:prstGeom prst="rect">
              <a:avLst/>
            </a:prstGeom>
          </p:spPr>
        </p:pic>
        <p:cxnSp>
          <p:nvCxnSpPr>
            <p:cNvPr id="29" name="直線矢印コネクタ 28">
              <a:extLst>
                <a:ext uri="{FF2B5EF4-FFF2-40B4-BE49-F238E27FC236}">
                  <a16:creationId xmlns:a16="http://schemas.microsoft.com/office/drawing/2014/main" id="{3CD40B63-AE9D-4837-8B15-1269E532B479}"/>
                </a:ext>
              </a:extLst>
            </p:cNvPr>
            <p:cNvCxnSpPr>
              <a:cxnSpLocks/>
            </p:cNvCxnSpPr>
            <p:nvPr/>
          </p:nvCxnSpPr>
          <p:spPr>
            <a:xfrm>
              <a:off x="2105236" y="5388721"/>
              <a:ext cx="1299815" cy="0"/>
            </a:xfrm>
            <a:prstGeom prst="straightConnector1">
              <a:avLst/>
            </a:prstGeom>
            <a:ln>
              <a:solidFill>
                <a:srgbClr val="FF0000"/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テキスト ボックス 30">
                  <a:extLst>
                    <a:ext uri="{FF2B5EF4-FFF2-40B4-BE49-F238E27FC236}">
                      <a16:creationId xmlns:a16="http://schemas.microsoft.com/office/drawing/2014/main" id="{A693C0DD-42E7-263D-D5C2-479215B2DD83}"/>
                    </a:ext>
                  </a:extLst>
                </p:cNvPr>
                <p:cNvSpPr txBox="1"/>
                <p:nvPr/>
              </p:nvSpPr>
              <p:spPr>
                <a:xfrm>
                  <a:off x="2379581" y="5019389"/>
                  <a:ext cx="7873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𝑛𝑒𝑎𝑟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 xmlns="">
            <p:sp>
              <p:nvSpPr>
                <p:cNvPr id="31" name="テキスト ボックス 30">
                  <a:extLst>
                    <a:ext uri="{FF2B5EF4-FFF2-40B4-BE49-F238E27FC236}">
                      <a16:creationId xmlns:a16="http://schemas.microsoft.com/office/drawing/2014/main" id="{A693C0DD-42E7-263D-D5C2-479215B2DD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79581" y="5019389"/>
                  <a:ext cx="787331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グループ化 44">
            <a:extLst>
              <a:ext uri="{FF2B5EF4-FFF2-40B4-BE49-F238E27FC236}">
                <a16:creationId xmlns:a16="http://schemas.microsoft.com/office/drawing/2014/main" id="{96C07713-726E-6A1F-B8F7-E665B55446C5}"/>
              </a:ext>
            </a:extLst>
          </p:cNvPr>
          <p:cNvGrpSpPr/>
          <p:nvPr/>
        </p:nvGrpSpPr>
        <p:grpSpPr>
          <a:xfrm>
            <a:off x="3195213" y="1184073"/>
            <a:ext cx="5833074" cy="2977447"/>
            <a:chOff x="3020174" y="1402614"/>
            <a:chExt cx="5833074" cy="2977447"/>
          </a:xfrm>
        </p:grpSpPr>
        <p:pic>
          <p:nvPicPr>
            <p:cNvPr id="34" name="図 33" descr="グラフ, 折れ線グラフ, ヒストグラム&#10;&#10;自動的に生成された説明">
              <a:extLst>
                <a:ext uri="{FF2B5EF4-FFF2-40B4-BE49-F238E27FC236}">
                  <a16:creationId xmlns:a16="http://schemas.microsoft.com/office/drawing/2014/main" id="{C5B8A2A0-A631-997C-904C-33AA534A046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14538" t="-246" r="-1290" b="246"/>
            <a:stretch/>
          </p:blipFill>
          <p:spPr>
            <a:xfrm>
              <a:off x="6131351" y="1402614"/>
              <a:ext cx="2721897" cy="2951828"/>
            </a:xfrm>
            <a:prstGeom prst="rect">
              <a:avLst/>
            </a:prstGeom>
          </p:spPr>
        </p:pic>
        <p:pic>
          <p:nvPicPr>
            <p:cNvPr id="36" name="図 35" descr="グラフ&#10;&#10;自動的に生成された説明">
              <a:extLst>
                <a:ext uri="{FF2B5EF4-FFF2-40B4-BE49-F238E27FC236}">
                  <a16:creationId xmlns:a16="http://schemas.microsoft.com/office/drawing/2014/main" id="{C06F8786-6697-10A3-25CC-003928BF4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3020174" y="1431745"/>
              <a:ext cx="3133828" cy="294831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テキスト ボックス 34">
                  <a:extLst>
                    <a:ext uri="{FF2B5EF4-FFF2-40B4-BE49-F238E27FC236}">
                      <a16:creationId xmlns:a16="http://schemas.microsoft.com/office/drawing/2014/main" id="{3CF1AC5F-A0B4-8A51-7AB6-160B0834BBB8}"/>
                    </a:ext>
                  </a:extLst>
                </p:cNvPr>
                <p:cNvSpPr txBox="1"/>
                <p:nvPr/>
              </p:nvSpPr>
              <p:spPr>
                <a:xfrm>
                  <a:off x="4549704" y="1547780"/>
                  <a:ext cx="159492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1600" i="1" u="sng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600" i="1" u="sng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ja-JP" sz="1600" i="1" u="sng">
                                <a:latin typeface="Cambria Math" panose="02040503050406030204" pitchFamily="18" charset="0"/>
                              </a:rPr>
                              <m:t>𝑛𝑒𝑎𝑟</m:t>
                            </m:r>
                          </m:sub>
                        </m:sSub>
                        <m:r>
                          <a:rPr kumimoji="1" lang="en-US" altLang="ja-JP" sz="1600" b="0" i="1" u="sng" smtClean="0">
                            <a:latin typeface="Cambria Math" panose="02040503050406030204" pitchFamily="18" charset="0"/>
                          </a:rPr>
                          <m:t>=1.0 </m:t>
                        </m:r>
                        <m:r>
                          <m:rPr>
                            <m:sty m:val="p"/>
                          </m:rPr>
                          <a:rPr kumimoji="1" lang="ja-JP" altLang="en-US" sz="1600" b="0" i="0" u="sng" smtClean="0">
                            <a:latin typeface="Cambria Math" panose="02040503050406030204" pitchFamily="18" charset="0"/>
                          </a:rPr>
                          <m:t>μ</m:t>
                        </m:r>
                        <m:r>
                          <m:rPr>
                            <m:sty m:val="p"/>
                          </m:rPr>
                          <a:rPr kumimoji="1" lang="en-US" altLang="ja-JP" sz="1600" b="0" i="0" u="sng" smtClean="0">
                            <a:latin typeface="Cambria Math" panose="02040503050406030204" pitchFamily="18" charset="0"/>
                          </a:rPr>
                          <m:t>m</m:t>
                        </m:r>
                      </m:oMath>
                    </m:oMathPara>
                  </a14:m>
                  <a:endParaRPr kumimoji="1" lang="ja-JP" altLang="en-US" sz="1600" u="sng" dirty="0"/>
                </a:p>
              </p:txBody>
            </p:sp>
          </mc:Choice>
          <mc:Fallback xmlns="">
            <p:sp>
              <p:nvSpPr>
                <p:cNvPr id="35" name="テキスト ボックス 34">
                  <a:extLst>
                    <a:ext uri="{FF2B5EF4-FFF2-40B4-BE49-F238E27FC236}">
                      <a16:creationId xmlns:a16="http://schemas.microsoft.com/office/drawing/2014/main" id="{3CF1AC5F-A0B4-8A51-7AB6-160B0834BB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49704" y="1547780"/>
                  <a:ext cx="1594924" cy="338554"/>
                </a:xfrm>
                <a:prstGeom prst="rect">
                  <a:avLst/>
                </a:prstGeom>
                <a:blipFill>
                  <a:blip r:embed="rId11"/>
                  <a:stretch>
                    <a:fillRect b="-1071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テキスト ボックス 36">
                  <a:extLst>
                    <a:ext uri="{FF2B5EF4-FFF2-40B4-BE49-F238E27FC236}">
                      <a16:creationId xmlns:a16="http://schemas.microsoft.com/office/drawing/2014/main" id="{8A9D360B-C22F-6849-8A0D-31802182F3AE}"/>
                    </a:ext>
                  </a:extLst>
                </p:cNvPr>
                <p:cNvSpPr txBox="1"/>
                <p:nvPr/>
              </p:nvSpPr>
              <p:spPr>
                <a:xfrm>
                  <a:off x="7170145" y="1543712"/>
                  <a:ext cx="159492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1600" i="1" u="sng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600" i="1" u="sng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ja-JP" sz="1600" i="1" u="sng">
                                <a:latin typeface="Cambria Math" panose="02040503050406030204" pitchFamily="18" charset="0"/>
                              </a:rPr>
                              <m:t>𝑛𝑒𝑎𝑟</m:t>
                            </m:r>
                          </m:sub>
                        </m:sSub>
                        <m:r>
                          <a:rPr kumimoji="1" lang="en-US" altLang="ja-JP" sz="1600" b="0" i="1" u="sng" smtClean="0">
                            <a:latin typeface="Cambria Math" panose="02040503050406030204" pitchFamily="18" charset="0"/>
                          </a:rPr>
                          <m:t>=3.0</m:t>
                        </m:r>
                        <m:r>
                          <a:rPr kumimoji="1" lang="en-US" altLang="ja-JP" sz="1600" b="0" i="0" u="sng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kumimoji="1" lang="el-GR" altLang="ja-JP" sz="1600" b="0" i="0" u="sng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μ</m:t>
                        </m:r>
                        <m:r>
                          <m:rPr>
                            <m:sty m:val="p"/>
                          </m:rPr>
                          <a:rPr kumimoji="1" lang="en-US" altLang="ja-JP" sz="1600" b="0" i="0" u="sng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</m:oMath>
                    </m:oMathPara>
                  </a14:m>
                  <a:endParaRPr kumimoji="1" lang="ja-JP" altLang="en-US" sz="1600" u="sng" dirty="0"/>
                </a:p>
              </p:txBody>
            </p:sp>
          </mc:Choice>
          <mc:Fallback xmlns="">
            <p:sp>
              <p:nvSpPr>
                <p:cNvPr id="37" name="テキスト ボックス 36">
                  <a:extLst>
                    <a:ext uri="{FF2B5EF4-FFF2-40B4-BE49-F238E27FC236}">
                      <a16:creationId xmlns:a16="http://schemas.microsoft.com/office/drawing/2014/main" id="{8A9D360B-C22F-6849-8A0D-31802182F3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70145" y="1543712"/>
                  <a:ext cx="1594924" cy="338554"/>
                </a:xfrm>
                <a:prstGeom prst="rect">
                  <a:avLst/>
                </a:prstGeom>
                <a:blipFill>
                  <a:blip r:embed="rId12"/>
                  <a:stretch>
                    <a:fillRect b="-1071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右矢印 23">
              <a:extLst>
                <a:ext uri="{FF2B5EF4-FFF2-40B4-BE49-F238E27FC236}">
                  <a16:creationId xmlns:a16="http://schemas.microsoft.com/office/drawing/2014/main" id="{439557D9-D4A3-ECC1-618A-FA1F5C006D43}"/>
                </a:ext>
              </a:extLst>
            </p:cNvPr>
            <p:cNvSpPr/>
            <p:nvPr/>
          </p:nvSpPr>
          <p:spPr>
            <a:xfrm>
              <a:off x="5985862" y="2509910"/>
              <a:ext cx="290657" cy="623889"/>
            </a:xfrm>
            <a:prstGeom prst="rightArrow">
              <a:avLst/>
            </a:prstGeom>
            <a:solidFill>
              <a:srgbClr val="A9B5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" name="正方形/長方形 40">
              <a:extLst>
                <a:ext uri="{FF2B5EF4-FFF2-40B4-BE49-F238E27FC236}">
                  <a16:creationId xmlns:a16="http://schemas.microsoft.com/office/drawing/2014/main" id="{65A54C0D-D227-816A-6A36-613E20EB6A96}"/>
                </a:ext>
              </a:extLst>
            </p:cNvPr>
            <p:cNvSpPr/>
            <p:nvPr/>
          </p:nvSpPr>
          <p:spPr>
            <a:xfrm>
              <a:off x="6167567" y="1661093"/>
              <a:ext cx="914400" cy="2556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42" name="グループ化 41">
            <a:extLst>
              <a:ext uri="{FF2B5EF4-FFF2-40B4-BE49-F238E27FC236}">
                <a16:creationId xmlns:a16="http://schemas.microsoft.com/office/drawing/2014/main" id="{AC95DCE6-8A57-EE5E-EAE0-4B824E65CAC4}"/>
              </a:ext>
            </a:extLst>
          </p:cNvPr>
          <p:cNvGrpSpPr/>
          <p:nvPr/>
        </p:nvGrpSpPr>
        <p:grpSpPr>
          <a:xfrm>
            <a:off x="3587817" y="4210343"/>
            <a:ext cx="5322270" cy="2227452"/>
            <a:chOff x="4174068" y="4283326"/>
            <a:chExt cx="4805703" cy="2075016"/>
          </a:xfrm>
        </p:grpSpPr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881C8E67-2298-308D-680B-40478366DE1C}"/>
                </a:ext>
              </a:extLst>
            </p:cNvPr>
            <p:cNvSpPr/>
            <p:nvPr/>
          </p:nvSpPr>
          <p:spPr>
            <a:xfrm>
              <a:off x="4174068" y="4283326"/>
              <a:ext cx="4781553" cy="207501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0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4" name="テキスト プレースホルダー 2">
              <a:extLst>
                <a:ext uri="{FF2B5EF4-FFF2-40B4-BE49-F238E27FC236}">
                  <a16:creationId xmlns:a16="http://schemas.microsoft.com/office/drawing/2014/main" id="{E7823FFB-268C-34D5-1383-4CB134136E1F}"/>
                </a:ext>
              </a:extLst>
            </p:cNvPr>
            <p:cNvSpPr txBox="1">
              <a:spLocks/>
            </p:cNvSpPr>
            <p:nvPr/>
          </p:nvSpPr>
          <p:spPr>
            <a:xfrm>
              <a:off x="4246610" y="4317459"/>
              <a:ext cx="4733161" cy="1281354"/>
            </a:xfrm>
            <a:prstGeom prst="rect">
              <a:avLst/>
            </a:prstGeom>
          </p:spPr>
          <p:txBody>
            <a:bodyPr vert="horz"/>
            <a:lstStyle>
              <a:lvl1pPr marL="342000" indent="-342900" algn="l" defTabSz="914400" rtl="0" eaLnBrk="1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400"/>
                </a:spcAft>
                <a:buClr>
                  <a:schemeClr val="accent6">
                    <a:lumMod val="75000"/>
                  </a:schemeClr>
                </a:buClr>
                <a:buSzPct val="140000"/>
                <a:buFont typeface="ヒラギノ角ゴ ProN W3"/>
                <a:buChar char="|"/>
                <a:defRPr kumimoji="1" sz="2800" b="1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1pPr>
              <a:lvl2pPr marL="741600" indent="-392400" algn="l" defTabSz="914400" rtl="0" eaLnBrk="1" latinLnBrk="0" hangingPunct="1">
                <a:lnSpc>
                  <a:spcPct val="100000"/>
                </a:lnSpc>
                <a:spcBef>
                  <a:spcPts val="225"/>
                </a:spcBef>
                <a:buClr>
                  <a:schemeClr val="accent6">
                    <a:lumMod val="75000"/>
                  </a:schemeClr>
                </a:buClr>
                <a:buSzPct val="75000"/>
                <a:buFont typeface="Wingdings" charset="2"/>
                <a:buChar char="n"/>
                <a:defRPr kumimoji="1" sz="28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2pPr>
              <a:lvl3pPr marL="1143000" indent="-410400" algn="l" defTabSz="914400" rtl="0" eaLnBrk="1" latinLnBrk="0" hangingPunct="1">
                <a:lnSpc>
                  <a:spcPct val="100000"/>
                </a:lnSpc>
                <a:spcBef>
                  <a:spcPts val="25"/>
                </a:spcBef>
                <a:buClr>
                  <a:schemeClr val="accent6">
                    <a:lumMod val="75000"/>
                  </a:schemeClr>
                </a:buClr>
                <a:buSzPct val="120000"/>
                <a:buFont typeface="HiraKakuProN-W3" charset="-128"/>
                <a:buChar char="−"/>
                <a:defRPr kumimoji="1" sz="24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00000"/>
                </a:lnSpc>
                <a:spcBef>
                  <a:spcPts val="25"/>
                </a:spcBef>
                <a:buClr>
                  <a:schemeClr val="accent6">
                    <a:lumMod val="75000"/>
                  </a:schemeClr>
                </a:buClr>
                <a:buFont typeface="Arial"/>
                <a:buChar char="•"/>
                <a:defRPr kumimoji="1" sz="18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00000"/>
                </a:lnSpc>
                <a:spcBef>
                  <a:spcPts val="25"/>
                </a:spcBef>
                <a:buClr>
                  <a:schemeClr val="accent6">
                    <a:lumMod val="75000"/>
                  </a:schemeClr>
                </a:buClr>
                <a:buFont typeface="Arial"/>
                <a:buChar char="•"/>
                <a:defRPr kumimoji="1" sz="18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11150" lvl="2" indent="-311150"/>
              <a:r>
                <a:rPr lang="en-US" altLang="ja-JP" sz="2000" dirty="0"/>
                <a:t>Cracks near the macrocrack are subjected to strong tension and fracture </a:t>
              </a:r>
              <a:r>
                <a:rPr lang="en-US" altLang="ja-JP" sz="2000" dirty="0">
                  <a:solidFill>
                    <a:srgbClr val="FF0000"/>
                  </a:solidFill>
                </a:rPr>
                <a:t>before dislocations emitted from microcrack-tip</a:t>
              </a:r>
            </a:p>
            <a:p>
              <a:pPr marL="311150" lvl="2" indent="-311150"/>
              <a:r>
                <a:rPr lang="en-US" altLang="ja-JP" sz="2000" u="sng" dirty="0">
                  <a:solidFill>
                    <a:schemeClr val="tx1"/>
                  </a:solidFill>
                  <a:latin typeface="+mj-ea"/>
                  <a:ea typeface="+mj-ea"/>
                </a:rPr>
                <a:t>Cracks near the macrocrack,</a:t>
              </a:r>
              <a:br>
                <a:rPr lang="en-US" altLang="ja-JP" sz="2000" u="sng" dirty="0">
                  <a:solidFill>
                    <a:schemeClr val="tx1"/>
                  </a:solidFill>
                  <a:latin typeface="+mj-ea"/>
                  <a:ea typeface="+mj-ea"/>
                </a:rPr>
              </a:br>
              <a:r>
                <a:rPr lang="en-US" altLang="ja-JP" sz="2000" u="sng" dirty="0">
                  <a:solidFill>
                    <a:schemeClr val="tx1"/>
                  </a:solidFill>
                  <a:latin typeface="+mj-ea"/>
                  <a:ea typeface="+mj-ea"/>
                </a:rPr>
                <a:t>the ratio of shielding effect to load</a:t>
              </a:r>
              <a:br>
                <a:rPr lang="en-US" altLang="ja-JP" sz="2000" u="sng" dirty="0">
                  <a:solidFill>
                    <a:schemeClr val="tx1"/>
                  </a:solidFill>
                  <a:latin typeface="+mj-ea"/>
                  <a:ea typeface="+mj-ea"/>
                </a:rPr>
              </a:br>
              <a:r>
                <a:rPr lang="en-US" altLang="ja-JP" sz="2000" u="sng" dirty="0">
                  <a:solidFill>
                    <a:schemeClr val="tx1"/>
                  </a:solidFill>
                  <a:latin typeface="+mj-ea"/>
                  <a:ea typeface="+mj-ea"/>
                </a:rPr>
                <a:t> is</a:t>
              </a:r>
              <a:r>
                <a:rPr lang="en-US" altLang="ja-JP" sz="2000" u="sng" dirty="0">
                  <a:latin typeface="+mj-ea"/>
                  <a:ea typeface="+mj-ea"/>
                </a:rPr>
                <a:t> small</a:t>
              </a:r>
              <a:endParaRPr lang="en-US" altLang="ja-JP" sz="2000" u="sng" dirty="0">
                <a:solidFill>
                  <a:schemeClr val="tx1"/>
                </a:solidFill>
                <a:latin typeface="+mj-ea"/>
                <a:ea typeface="+mj-ea"/>
              </a:endParaRPr>
            </a:p>
            <a:p>
              <a:pPr marL="311150" lvl="2" indent="-311150"/>
              <a:endParaRPr lang="en-US" altLang="ja-JP" sz="20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627248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タイトル 1">
                <a:extLst>
                  <a:ext uri="{FF2B5EF4-FFF2-40B4-BE49-F238E27FC236}">
                    <a16:creationId xmlns:a16="http://schemas.microsoft.com/office/drawing/2014/main" id="{26DD685D-C870-94C2-2797-9F68AD62FDA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kumimoji="1" lang="en-US" altLang="ja-JP" dirty="0"/>
                  <a:t>Crack position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𝑛𝑒𝑎𝑟</m:t>
                        </m:r>
                      </m:sub>
                    </m:sSub>
                  </m:oMath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2" name="タイトル 1">
                <a:extLst>
                  <a:ext uri="{FF2B5EF4-FFF2-40B4-BE49-F238E27FC236}">
                    <a16:creationId xmlns:a16="http://schemas.microsoft.com/office/drawing/2014/main" id="{26DD685D-C870-94C2-2797-9F68AD62FD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700" b="-3584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C82A7A1-E2A3-B87D-7EFE-6F406FE2C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F6909-ABCB-BB45-AC56-A8377246EBB2}" type="slidenum">
              <a:rPr lang="ja-JP" altLang="en-US" smtClean="0"/>
              <a:pPr/>
              <a:t>25</a:t>
            </a:fld>
            <a:endParaRPr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AB35FF0-A3F1-D7C4-9DF1-7C65F5869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Tokyo University of Science - Computational Materials Science Laboratory -</a:t>
            </a:r>
            <a:endParaRPr lang="ja-JP" altLang="en-US" dirty="0"/>
          </a:p>
        </p:txBody>
      </p:sp>
      <p:pic>
        <p:nvPicPr>
          <p:cNvPr id="13" name="図 12" descr="グラフ, ダイアグラム&#10;&#10;自動的に生成された説明">
            <a:extLst>
              <a:ext uri="{FF2B5EF4-FFF2-40B4-BE49-F238E27FC236}">
                <a16:creationId xmlns:a16="http://schemas.microsoft.com/office/drawing/2014/main" id="{4042AB51-F12C-747E-2E88-78153907808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32418" y="714143"/>
            <a:ext cx="6419887" cy="4744795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64CDF376-6E2E-8B82-C1F8-F8BEE831A77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968166" y="5301131"/>
            <a:ext cx="3869657" cy="428263"/>
          </a:xfrm>
          <a:prstGeom prst="rect">
            <a:avLst/>
          </a:prstGeom>
        </p:spPr>
      </p:pic>
      <p:pic>
        <p:nvPicPr>
          <p:cNvPr id="15" name="図 14" descr="背景パターン&#10;&#10;中程度の精度で自動的に生成された説明">
            <a:extLst>
              <a:ext uri="{FF2B5EF4-FFF2-40B4-BE49-F238E27FC236}">
                <a16:creationId xmlns:a16="http://schemas.microsoft.com/office/drawing/2014/main" id="{6889E693-591C-5732-E3D9-6F8F8A639B7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91695" y="1319303"/>
            <a:ext cx="609790" cy="3163734"/>
          </a:xfrm>
          <a:prstGeom prst="rect">
            <a:avLst/>
          </a:prstGeom>
        </p:spPr>
      </p:pic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03AB5C1C-AAA7-600D-049C-108DEF648680}"/>
              </a:ext>
            </a:extLst>
          </p:cNvPr>
          <p:cNvSpPr/>
          <p:nvPr/>
        </p:nvSpPr>
        <p:spPr>
          <a:xfrm>
            <a:off x="1933924" y="5770838"/>
            <a:ext cx="5616873" cy="84963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11150" lvl="2" indent="-311150" algn="ctr"/>
            <a:r>
              <a:rPr lang="en-US" altLang="ja-JP" sz="2400" dirty="0">
                <a:solidFill>
                  <a:schemeClr val="tx1"/>
                </a:solidFill>
                <a:latin typeface="+mj-ea"/>
                <a:ea typeface="+mj-ea"/>
              </a:rPr>
              <a:t>Microcrack near the macrocrack are </a:t>
            </a:r>
            <a:r>
              <a:rPr lang="en-US" altLang="ja-JP" sz="2400" u="sng" dirty="0">
                <a:solidFill>
                  <a:schemeClr val="tx1"/>
                </a:solidFill>
                <a:latin typeface="+mj-ea"/>
                <a:ea typeface="+mj-ea"/>
              </a:rPr>
              <a:t>subjected to strong tension</a:t>
            </a:r>
          </a:p>
        </p:txBody>
      </p:sp>
    </p:spTree>
    <p:extLst>
      <p:ext uri="{BB962C8B-B14F-4D97-AF65-F5344CB8AC3E}">
        <p14:creationId xmlns:p14="http://schemas.microsoft.com/office/powerpoint/2010/main" val="14169408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タイトル 1">
                <a:extLst>
                  <a:ext uri="{FF2B5EF4-FFF2-40B4-BE49-F238E27FC236}">
                    <a16:creationId xmlns:a16="http://schemas.microsoft.com/office/drawing/2014/main" id="{08A8535B-B2AD-F898-9E5C-12C8BCB2D75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kumimoji="1" lang="en-US" altLang="ja-JP" dirty="0"/>
                  <a:t>Crack position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𝑛𝑒𝑎𝑟</m:t>
                        </m:r>
                      </m:sub>
                    </m:sSub>
                  </m:oMath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2" name="タイトル 1">
                <a:extLst>
                  <a:ext uri="{FF2B5EF4-FFF2-40B4-BE49-F238E27FC236}">
                    <a16:creationId xmlns:a16="http://schemas.microsoft.com/office/drawing/2014/main" id="{08A8535B-B2AD-F898-9E5C-12C8BCB2D7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700" b="-3584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F451F49-7CF6-1744-8F58-08F4BE468F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785748"/>
            <a:ext cx="9745885" cy="1001815"/>
          </a:xfrm>
        </p:spPr>
        <p:txBody>
          <a:bodyPr/>
          <a:lstStyle/>
          <a:p>
            <a:r>
              <a:rPr kumimoji="1" lang="en-US" altLang="ja-JP" dirty="0"/>
              <a:t>Effects from the macrocrack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684467A-DAAB-9C3F-E350-4BE01C84F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F6909-ABCB-BB45-AC56-A8377246EBB2}" type="slidenum">
              <a:rPr lang="ja-JP" altLang="en-US" smtClean="0"/>
              <a:pPr/>
              <a:t>26</a:t>
            </a:fld>
            <a:endParaRPr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6F03AC8-CDC6-C9C9-8BA5-53E538BA5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Tokyo University of Science - Computational Materials Science Laboratory -</a:t>
            </a:r>
            <a:endParaRPr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プレースホルダー 2">
                <a:extLst>
                  <a:ext uri="{FF2B5EF4-FFF2-40B4-BE49-F238E27FC236}">
                    <a16:creationId xmlns:a16="http://schemas.microsoft.com/office/drawing/2014/main" id="{045808FF-88D7-CEFE-B2E3-348FFAF578E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560192" y="1451166"/>
                <a:ext cx="6017184" cy="3066370"/>
              </a:xfrm>
              <a:prstGeom prst="rect">
                <a:avLst/>
              </a:prstGeom>
            </p:spPr>
            <p:txBody>
              <a:bodyPr vert="horz"/>
              <a:lstStyle>
                <a:lvl1pPr marL="342000" indent="-342900" algn="l" defTabSz="914400" rtl="0" eaLnBrk="1" latinLnBrk="0" hangingPunct="1">
                  <a:lnSpc>
                    <a:spcPct val="100000"/>
                  </a:lnSpc>
                  <a:spcBef>
                    <a:spcPts val="1800"/>
                  </a:spcBef>
                  <a:spcAft>
                    <a:spcPts val="400"/>
                  </a:spcAft>
                  <a:buClr>
                    <a:schemeClr val="accent6">
                      <a:lumMod val="75000"/>
                    </a:schemeClr>
                  </a:buClr>
                  <a:buSzPct val="140000"/>
                  <a:buFont typeface="ヒラギノ角ゴ ProN W3"/>
                  <a:buChar char="|"/>
                  <a:defRPr kumimoji="1"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1600" indent="-392400" algn="l" defTabSz="914400" rtl="0" eaLnBrk="1" latinLnBrk="0" hangingPunct="1">
                  <a:lnSpc>
                    <a:spcPct val="100000"/>
                  </a:lnSpc>
                  <a:spcBef>
                    <a:spcPts val="225"/>
                  </a:spcBef>
                  <a:buClr>
                    <a:schemeClr val="accent6">
                      <a:lumMod val="75000"/>
                    </a:schemeClr>
                  </a:buClr>
                  <a:buSzPct val="75000"/>
                  <a:buFont typeface="Wingdings" charset="2"/>
                  <a:buChar char="n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410400" algn="l" defTabSz="914400" rtl="0" eaLnBrk="1" latinLnBrk="0" hangingPunct="1">
                  <a:lnSpc>
                    <a:spcPct val="100000"/>
                  </a:lnSpc>
                  <a:spcBef>
                    <a:spcPts val="25"/>
                  </a:spcBef>
                  <a:buClr>
                    <a:schemeClr val="accent6">
                      <a:lumMod val="75000"/>
                    </a:schemeClr>
                  </a:buClr>
                  <a:buSzPct val="120000"/>
                  <a:buFont typeface="HiraKakuProN-W3" charset="-128"/>
                  <a:buChar char="−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00000"/>
                  </a:lnSpc>
                  <a:spcBef>
                    <a:spcPts val="25"/>
                  </a:spcBef>
                  <a:buClr>
                    <a:schemeClr val="accent6">
                      <a:lumMod val="75000"/>
                    </a:schemeClr>
                  </a:buClr>
                  <a:buFont typeface="Arial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00000"/>
                  </a:lnSpc>
                  <a:spcBef>
                    <a:spcPts val="25"/>
                  </a:spcBef>
                  <a:buClr>
                    <a:schemeClr val="accent6">
                      <a:lumMod val="75000"/>
                    </a:schemeClr>
                  </a:buClr>
                  <a:buFont typeface="Arial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2"/>
                <a:r>
                  <a:rPr lang="en-US" altLang="ja-JP" dirty="0">
                    <a:latin typeface="+mj-ea"/>
                    <a:ea typeface="+mj-ea"/>
                  </a:rPr>
                  <a:t>Shear stress on microcrack </a:t>
                </a:r>
                <a14:m>
                  <m:oMath xmlns:m="http://schemas.openxmlformats.org/officeDocument/2006/math">
                    <m:r>
                      <a:rPr lang="ja-JP" altLang="en-US" i="1" smtClean="0">
                        <a:latin typeface="Cambria Math" panose="02040503050406030204" pitchFamily="18" charset="0"/>
                        <a:ea typeface="+mj-ea"/>
                      </a:rPr>
                      <m:t>𝜏</m:t>
                    </m:r>
                  </m:oMath>
                </a14:m>
                <a:endParaRPr lang="ja-JP" altLang="en-US">
                  <a:latin typeface="+mj-ea"/>
                  <a:ea typeface="+mj-ea"/>
                </a:endParaRPr>
              </a:p>
              <a:p>
                <a:pPr lvl="2"/>
                <a:endParaRPr lang="ja-JP" altLang="en-US"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8" name="テキスト プレースホルダー 2">
                <a:extLst>
                  <a:ext uri="{FF2B5EF4-FFF2-40B4-BE49-F238E27FC236}">
                    <a16:creationId xmlns:a16="http://schemas.microsoft.com/office/drawing/2014/main" id="{045808FF-88D7-CEFE-B2E3-348FFAF578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60192" y="1451166"/>
                <a:ext cx="6017184" cy="3066370"/>
              </a:xfrm>
              <a:prstGeom prst="rect">
                <a:avLst/>
              </a:prstGeom>
              <a:blipFill>
                <a:blip r:embed="rId3"/>
                <a:stretch>
                  <a:fillRect t="-578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D2A21258-B94B-8E36-17DB-3D3F2D077060}"/>
              </a:ext>
            </a:extLst>
          </p:cNvPr>
          <p:cNvGrpSpPr/>
          <p:nvPr/>
        </p:nvGrpSpPr>
        <p:grpSpPr>
          <a:xfrm>
            <a:off x="-600075" y="2012756"/>
            <a:ext cx="6057067" cy="4239947"/>
            <a:chOff x="-755233" y="2040627"/>
            <a:chExt cx="6057067" cy="4239947"/>
          </a:xfrm>
        </p:grpSpPr>
        <p:pic>
          <p:nvPicPr>
            <p:cNvPr id="29" name="図 28">
              <a:extLst>
                <a:ext uri="{FF2B5EF4-FFF2-40B4-BE49-F238E27FC236}">
                  <a16:creationId xmlns:a16="http://schemas.microsoft.com/office/drawing/2014/main" id="{6906FDF5-11B9-61CC-2524-DD3C4BB5A42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5400000">
              <a:off x="153327" y="1132067"/>
              <a:ext cx="4239947" cy="605706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4D34F65F-CED2-0473-0866-98D1253BD8A1}"/>
                    </a:ext>
                  </a:extLst>
                </p:cNvPr>
                <p:cNvSpPr txBox="1"/>
                <p:nvPr/>
              </p:nvSpPr>
              <p:spPr>
                <a:xfrm>
                  <a:off x="758695" y="3242254"/>
                  <a:ext cx="1933670" cy="9233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kumimoji="1" lang="en-US" altLang="ja-JP" u="sng" dirty="0">
                      <a:solidFill>
                        <a:srgbClr val="C00000"/>
                      </a:solidFill>
                      <a:latin typeface="+mj-ea"/>
                      <a:ea typeface="+mj-ea"/>
                    </a:rPr>
                    <a:t>Blunted  </a:t>
                  </a:r>
                  <a:br>
                    <a:rPr kumimoji="1" lang="en-US" altLang="ja-JP" u="sng" dirty="0">
                      <a:solidFill>
                        <a:srgbClr val="C00000"/>
                      </a:solidFill>
                      <a:latin typeface="+mj-ea"/>
                      <a:ea typeface="+mj-ea"/>
                    </a:rPr>
                  </a:br>
                  <a:r>
                    <a:rPr kumimoji="1" lang="en-US" altLang="ja-JP" u="sng" dirty="0">
                      <a:solidFill>
                        <a:srgbClr val="C00000"/>
                      </a:solidFill>
                      <a:latin typeface="+mj-ea"/>
                      <a:ea typeface="+mj-ea"/>
                    </a:rPr>
                    <a:t>macrocrack-tip </a:t>
                  </a:r>
                  <a:br>
                    <a:rPr kumimoji="1" lang="en-US" altLang="ja-JP" u="sng" dirty="0">
                      <a:solidFill>
                        <a:srgbClr val="C00000"/>
                      </a:solidFill>
                      <a:latin typeface="+mj-ea"/>
                      <a:ea typeface="+mj-ea"/>
                    </a:rPr>
                  </a:br>
                  <a:r>
                    <a:rPr kumimoji="1" lang="en-US" altLang="ja-JP" b="1" u="sng" dirty="0">
                      <a:solidFill>
                        <a:srgbClr val="C00000"/>
                      </a:solidFill>
                      <a:latin typeface="+mj-ea"/>
                      <a:ea typeface="+mj-ea"/>
                    </a:rPr>
                    <a:t>increase </a:t>
                  </a:r>
                  <a14:m>
                    <m:oMath xmlns:m="http://schemas.openxmlformats.org/officeDocument/2006/math">
                      <m:r>
                        <a:rPr kumimoji="1" lang="en-US" altLang="ja-JP" b="1" i="1" u="sng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+mj-ea"/>
                        </a:rPr>
                        <m:t>𝝉</m:t>
                      </m:r>
                    </m:oMath>
                  </a14:m>
                  <a:endParaRPr kumimoji="1" lang="ja-JP" altLang="en-US" b="1" u="sng">
                    <a:solidFill>
                      <a:srgbClr val="C00000"/>
                    </a:solidFill>
                    <a:latin typeface="+mj-ea"/>
                    <a:ea typeface="+mj-ea"/>
                  </a:endParaRPr>
                </a:p>
              </p:txBody>
            </p:sp>
          </mc:Choice>
          <mc:Fallback xmlns="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4D34F65F-CED2-0473-0866-98D1253BD8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695" y="3242254"/>
                  <a:ext cx="1933670" cy="923330"/>
                </a:xfrm>
                <a:prstGeom prst="rect">
                  <a:avLst/>
                </a:prstGeom>
                <a:blipFill>
                  <a:blip r:embed="rId5"/>
                  <a:stretch>
                    <a:fillRect l="-2614" t="-1351" r="-1961" b="-10811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円/楕円 14">
              <a:extLst>
                <a:ext uri="{FF2B5EF4-FFF2-40B4-BE49-F238E27FC236}">
                  <a16:creationId xmlns:a16="http://schemas.microsoft.com/office/drawing/2014/main" id="{177950A0-13E9-5117-62E6-077E42E8CC4C}"/>
                </a:ext>
              </a:extLst>
            </p:cNvPr>
            <p:cNvSpPr/>
            <p:nvPr/>
          </p:nvSpPr>
          <p:spPr>
            <a:xfrm>
              <a:off x="1282537" y="4685400"/>
              <a:ext cx="237009" cy="237009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フリーフォーム 8">
              <a:extLst>
                <a:ext uri="{FF2B5EF4-FFF2-40B4-BE49-F238E27FC236}">
                  <a16:creationId xmlns:a16="http://schemas.microsoft.com/office/drawing/2014/main" id="{3227A537-E6E8-C2B8-C877-9992CE6FD91E}"/>
                </a:ext>
              </a:extLst>
            </p:cNvPr>
            <p:cNvSpPr/>
            <p:nvPr/>
          </p:nvSpPr>
          <p:spPr>
            <a:xfrm>
              <a:off x="1519546" y="2689257"/>
              <a:ext cx="2201797" cy="2093159"/>
            </a:xfrm>
            <a:custGeom>
              <a:avLst/>
              <a:gdLst>
                <a:gd name="connsiteX0" fmla="*/ 0 w 2099145"/>
                <a:gd name="connsiteY0" fmla="*/ 1876508 h 1876508"/>
                <a:gd name="connsiteX1" fmla="*/ 1057524 w 2099145"/>
                <a:gd name="connsiteY1" fmla="*/ 1256306 h 1876508"/>
                <a:gd name="connsiteX2" fmla="*/ 2099145 w 2099145"/>
                <a:gd name="connsiteY2" fmla="*/ 0 h 1876508"/>
                <a:gd name="connsiteX0" fmla="*/ 0 w 2417198"/>
                <a:gd name="connsiteY0" fmla="*/ 2083242 h 2083242"/>
                <a:gd name="connsiteX1" fmla="*/ 1057524 w 2417198"/>
                <a:gd name="connsiteY1" fmla="*/ 1463040 h 2083242"/>
                <a:gd name="connsiteX2" fmla="*/ 2417198 w 2417198"/>
                <a:gd name="connsiteY2" fmla="*/ 0 h 2083242"/>
                <a:gd name="connsiteX0" fmla="*/ 0 w 2425149"/>
                <a:gd name="connsiteY0" fmla="*/ 2091194 h 2091194"/>
                <a:gd name="connsiteX1" fmla="*/ 1057524 w 2425149"/>
                <a:gd name="connsiteY1" fmla="*/ 1470992 h 2091194"/>
                <a:gd name="connsiteX2" fmla="*/ 2425149 w 2425149"/>
                <a:gd name="connsiteY2" fmla="*/ 0 h 2091194"/>
                <a:gd name="connsiteX0" fmla="*/ 0 w 2345636"/>
                <a:gd name="connsiteY0" fmla="*/ 2154804 h 2154804"/>
                <a:gd name="connsiteX1" fmla="*/ 1057524 w 2345636"/>
                <a:gd name="connsiteY1" fmla="*/ 1534602 h 2154804"/>
                <a:gd name="connsiteX2" fmla="*/ 2345636 w 2345636"/>
                <a:gd name="connsiteY2" fmla="*/ 0 h 2154804"/>
                <a:gd name="connsiteX0" fmla="*/ 0 w 2294265"/>
                <a:gd name="connsiteY0" fmla="*/ 2206175 h 2206175"/>
                <a:gd name="connsiteX1" fmla="*/ 1057524 w 2294265"/>
                <a:gd name="connsiteY1" fmla="*/ 1585973 h 2206175"/>
                <a:gd name="connsiteX2" fmla="*/ 2294265 w 2294265"/>
                <a:gd name="connsiteY2" fmla="*/ 0 h 2206175"/>
                <a:gd name="connsiteX0" fmla="*/ 0 w 2201797"/>
                <a:gd name="connsiteY0" fmla="*/ 2093159 h 2093159"/>
                <a:gd name="connsiteX1" fmla="*/ 1057524 w 2201797"/>
                <a:gd name="connsiteY1" fmla="*/ 1472957 h 2093159"/>
                <a:gd name="connsiteX2" fmla="*/ 2201797 w 2201797"/>
                <a:gd name="connsiteY2" fmla="*/ 0 h 2093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01797" h="2093159">
                  <a:moveTo>
                    <a:pt x="0" y="2093159"/>
                  </a:moveTo>
                  <a:cubicBezTo>
                    <a:pt x="353833" y="1939433"/>
                    <a:pt x="707667" y="1785708"/>
                    <a:pt x="1057524" y="1472957"/>
                  </a:cubicBezTo>
                  <a:cubicBezTo>
                    <a:pt x="1407381" y="1160206"/>
                    <a:pt x="1855915" y="471777"/>
                    <a:pt x="2201797" y="0"/>
                  </a:cubicBezTo>
                </a:path>
              </a:pathLst>
            </a:custGeom>
            <a:noFill/>
            <a:ln w="19050">
              <a:solidFill>
                <a:srgbClr val="FF0000"/>
              </a:solidFill>
              <a:tailEnd type="stealt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F35AB8D0-BB77-9075-5021-5648E9D9EAD1}"/>
              </a:ext>
            </a:extLst>
          </p:cNvPr>
          <p:cNvSpPr txBox="1"/>
          <p:nvPr/>
        </p:nvSpPr>
        <p:spPr>
          <a:xfrm>
            <a:off x="4637352" y="2695436"/>
            <a:ext cx="52305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en-US" altLang="ja-JP" sz="2000" dirty="0">
                <a:latin typeface="+mj-ea"/>
                <a:ea typeface="+mj-ea"/>
              </a:rPr>
              <a:t>The macrocrack fracture </a:t>
            </a:r>
          </a:p>
          <a:p>
            <a:pPr algn="just"/>
            <a:r>
              <a:rPr kumimoji="1" lang="en-US" altLang="ja-JP" sz="2000" u="sng" dirty="0">
                <a:solidFill>
                  <a:srgbClr val="C00000"/>
                </a:solidFill>
                <a:latin typeface="+mj-ea"/>
                <a:ea typeface="+mj-ea"/>
              </a:rPr>
              <a:t>before it can sufficiently blunt</a:t>
            </a:r>
          </a:p>
          <a:p>
            <a:pPr algn="just"/>
            <a:r>
              <a:rPr kumimoji="1" lang="en-US" altLang="ja-JP" sz="2000" dirty="0">
                <a:latin typeface="+mj-ea"/>
                <a:ea typeface="+mj-ea"/>
              </a:rPr>
              <a:t> under strong tensile loading</a:t>
            </a:r>
            <a:endParaRPr kumimoji="1" lang="ja-JP" altLang="en-US" sz="2000">
              <a:latin typeface="+mj-ea"/>
              <a:ea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1049CFB8-C3CE-F780-A4F1-6E52BFAAEABA}"/>
                  </a:ext>
                </a:extLst>
              </p:cNvPr>
              <p:cNvSpPr txBox="1"/>
              <p:nvPr/>
            </p:nvSpPr>
            <p:spPr>
              <a:xfrm>
                <a:off x="4627051" y="2130175"/>
                <a:ext cx="229678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b="0" i="1" u="sng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u="sng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kumimoji="1" lang="en-US" altLang="ja-JP" sz="2400" b="0" i="1" u="sng" smtClean="0">
                              <a:latin typeface="Cambria Math" panose="02040503050406030204" pitchFamily="18" charset="0"/>
                            </a:rPr>
                            <m:t>𝑛𝑒𝑎𝑟</m:t>
                          </m:r>
                        </m:sub>
                      </m:sSub>
                      <m:r>
                        <a:rPr kumimoji="1" lang="en-US" altLang="ja-JP" sz="2400" b="0" i="1" u="sng" smtClean="0">
                          <a:latin typeface="Cambria Math" panose="02040503050406030204" pitchFamily="18" charset="0"/>
                        </a:rPr>
                        <m:t>=1.0 </m:t>
                      </m:r>
                      <m:r>
                        <m:rPr>
                          <m:sty m:val="p"/>
                        </m:rPr>
                        <a:rPr kumimoji="1" lang="ja-JP" altLang="en-US" sz="2400" b="0" i="0" u="sng" smtClean="0">
                          <a:latin typeface="Cambria Math" panose="02040503050406030204" pitchFamily="18" charset="0"/>
                        </a:rPr>
                        <m:t>μ</m:t>
                      </m:r>
                      <m:r>
                        <m:rPr>
                          <m:sty m:val="p"/>
                        </m:rPr>
                        <a:rPr kumimoji="1" lang="en-US" altLang="ja-JP" sz="2400" b="0" i="0" u="sng" smtClean="0">
                          <a:latin typeface="Cambria Math" panose="02040503050406030204" pitchFamily="18" charset="0"/>
                        </a:rPr>
                        <m:t>m</m:t>
                      </m:r>
                    </m:oMath>
                  </m:oMathPara>
                </a14:m>
                <a:endParaRPr kumimoji="1" lang="ja-JP" altLang="en-US" sz="2400" u="sng" dirty="0"/>
              </a:p>
            </p:txBody>
          </p:sp>
        </mc:Choice>
        <mc:Fallback xmlns=""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1049CFB8-C3CE-F780-A4F1-6E52BFAAEA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7051" y="2130175"/>
                <a:ext cx="2296783" cy="461665"/>
              </a:xfrm>
              <a:prstGeom prst="rect">
                <a:avLst/>
              </a:prstGeom>
              <a:blipFill>
                <a:blip r:embed="rId6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05DC98F6-D6F4-9337-6B6E-67264C8307A1}"/>
                  </a:ext>
                </a:extLst>
              </p:cNvPr>
              <p:cNvSpPr txBox="1"/>
              <p:nvPr/>
            </p:nvSpPr>
            <p:spPr>
              <a:xfrm>
                <a:off x="4627050" y="3867062"/>
                <a:ext cx="229678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b="0" i="1" u="sng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u="sng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kumimoji="1" lang="en-US" altLang="ja-JP" sz="2400" b="0" i="1" u="sng" smtClean="0">
                              <a:latin typeface="Cambria Math" panose="02040503050406030204" pitchFamily="18" charset="0"/>
                            </a:rPr>
                            <m:t>𝑛𝑒𝑎𝑟</m:t>
                          </m:r>
                        </m:sub>
                      </m:sSub>
                      <m:r>
                        <a:rPr kumimoji="1" lang="en-US" altLang="ja-JP" sz="2400" b="0" i="1" u="sng" smtClean="0">
                          <a:latin typeface="Cambria Math" panose="02040503050406030204" pitchFamily="18" charset="0"/>
                        </a:rPr>
                        <m:t>=3.0 </m:t>
                      </m:r>
                      <m:r>
                        <m:rPr>
                          <m:sty m:val="p"/>
                        </m:rPr>
                        <a:rPr kumimoji="1" lang="ja-JP" altLang="en-US" sz="2400" b="0" i="0" u="sng" smtClean="0">
                          <a:latin typeface="Cambria Math" panose="02040503050406030204" pitchFamily="18" charset="0"/>
                        </a:rPr>
                        <m:t>μ</m:t>
                      </m:r>
                      <m:r>
                        <m:rPr>
                          <m:sty m:val="p"/>
                        </m:rPr>
                        <a:rPr kumimoji="1" lang="en-US" altLang="ja-JP" sz="2400" b="0" i="0" u="sng" smtClean="0">
                          <a:latin typeface="Cambria Math" panose="02040503050406030204" pitchFamily="18" charset="0"/>
                        </a:rPr>
                        <m:t>m</m:t>
                      </m:r>
                    </m:oMath>
                  </m:oMathPara>
                </a14:m>
                <a:endParaRPr kumimoji="1" lang="ja-JP" altLang="en-US" sz="2400" u="sng" dirty="0"/>
              </a:p>
            </p:txBody>
          </p:sp>
        </mc:Choice>
        <mc:Fallback xmlns="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05DC98F6-D6F4-9337-6B6E-67264C8307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7050" y="3867062"/>
                <a:ext cx="2296783" cy="461665"/>
              </a:xfrm>
              <a:prstGeom prst="rect">
                <a:avLst/>
              </a:prstGeom>
              <a:blipFill>
                <a:blip r:embed="rId7"/>
                <a:stretch>
                  <a:fillRect b="-1891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D1CBC37C-2024-B321-2BDD-4504EAF8E4CB}"/>
              </a:ext>
            </a:extLst>
          </p:cNvPr>
          <p:cNvSpPr txBox="1"/>
          <p:nvPr/>
        </p:nvSpPr>
        <p:spPr>
          <a:xfrm>
            <a:off x="4637352" y="4361949"/>
            <a:ext cx="42082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en-US" altLang="ja-JP" sz="2000" dirty="0">
                <a:latin typeface="+mj-ea"/>
                <a:ea typeface="+mj-ea"/>
              </a:rPr>
              <a:t>The macrocrack becomes</a:t>
            </a:r>
          </a:p>
          <a:p>
            <a:pPr algn="just"/>
            <a:r>
              <a:rPr kumimoji="1" lang="en-US" altLang="ja-JP" sz="2000" u="sng" dirty="0">
                <a:solidFill>
                  <a:srgbClr val="C00000"/>
                </a:solidFill>
                <a:latin typeface="+mj-ea"/>
                <a:ea typeface="+mj-ea"/>
              </a:rPr>
              <a:t>sufficiently blunted</a:t>
            </a:r>
            <a:r>
              <a:rPr kumimoji="1" lang="en-US" altLang="ja-JP" sz="2000" dirty="0">
                <a:solidFill>
                  <a:srgbClr val="C00000"/>
                </a:solidFill>
                <a:latin typeface="+mj-ea"/>
                <a:ea typeface="+mj-ea"/>
              </a:rPr>
              <a:t> </a:t>
            </a:r>
            <a:r>
              <a:rPr kumimoji="1" lang="en-US" altLang="ja-JP" sz="2000" dirty="0">
                <a:latin typeface="+mj-ea"/>
                <a:ea typeface="+mj-ea"/>
              </a:rPr>
              <a:t>and </a:t>
            </a:r>
            <a:r>
              <a:rPr kumimoji="1" lang="en-US" altLang="ja-JP" sz="2000" u="sng" dirty="0">
                <a:solidFill>
                  <a:srgbClr val="C00000"/>
                </a:solidFill>
                <a:latin typeface="+mj-ea"/>
                <a:ea typeface="+mj-ea"/>
              </a:rPr>
              <a:t>releases numerous dislocations from th</a:t>
            </a:r>
            <a:r>
              <a:rPr lang="en-US" altLang="ja-JP" sz="2000" u="sng" dirty="0">
                <a:solidFill>
                  <a:srgbClr val="C00000"/>
                </a:solidFill>
                <a:latin typeface="+mj-ea"/>
                <a:ea typeface="+mj-ea"/>
              </a:rPr>
              <a:t>e microcrack</a:t>
            </a:r>
            <a:endParaRPr kumimoji="1" lang="ja-JP" altLang="en-US" sz="2000" u="sng">
              <a:solidFill>
                <a:srgbClr val="C0000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0234840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81F982-8534-C4E7-C534-8D597B757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Conclusions</a:t>
            </a:r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テキスト プレースホルダー 2">
                <a:extLst>
                  <a:ext uri="{FF2B5EF4-FFF2-40B4-BE49-F238E27FC236}">
                    <a16:creationId xmlns:a16="http://schemas.microsoft.com/office/drawing/2014/main" id="{94E812DB-9B54-F053-6FD8-FC5084BCD6E7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0" y="746999"/>
                <a:ext cx="8955621" cy="3358880"/>
              </a:xfrm>
            </p:spPr>
            <p:txBody>
              <a:bodyPr/>
              <a:lstStyle/>
              <a:p>
                <a:r>
                  <a:rPr lang="en-US" altLang="ja-JP" sz="2400" dirty="0">
                    <a:solidFill>
                      <a:srgbClr val="FF0000"/>
                    </a:solidFill>
                  </a:rPr>
                  <a:t>Coupled analysis</a:t>
                </a:r>
                <a:r>
                  <a:rPr lang="en-US" altLang="ja-JP" sz="2400" dirty="0"/>
                  <a:t> was</a:t>
                </a:r>
                <a:r>
                  <a:rPr lang="en-US" altLang="ja-JP" sz="24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ja-JP" sz="2400" dirty="0"/>
                  <a:t>carried out</a:t>
                </a:r>
                <a:r>
                  <a:rPr lang="ja-JP" altLang="en-US" sz="2400" dirty="0"/>
                  <a:t> </a:t>
                </a:r>
                <a:r>
                  <a:rPr lang="en-US" altLang="ja-JP" sz="2400" dirty="0"/>
                  <a:t>for</a:t>
                </a:r>
                <a:r>
                  <a:rPr lang="ja-JP" altLang="en-US" sz="2400" dirty="0"/>
                  <a:t> </a:t>
                </a:r>
                <a:r>
                  <a:rPr lang="en-US" altLang="ja-JP" sz="2400" dirty="0"/>
                  <a:t>each</a:t>
                </a:r>
                <a:r>
                  <a:rPr lang="ja-JP" altLang="en-US" sz="2400" dirty="0"/>
                  <a:t> </a:t>
                </a:r>
                <a:br>
                  <a:rPr lang="en-US" altLang="ja-JP" sz="2400" dirty="0"/>
                </a:br>
                <a:r>
                  <a:rPr lang="en-US" altLang="ja-JP" sz="2400" dirty="0"/>
                  <a:t>crack</a:t>
                </a:r>
                <a:r>
                  <a:rPr lang="ja-JP" altLang="en-US" sz="2400" dirty="0"/>
                  <a:t> </a:t>
                </a:r>
                <a:r>
                  <a:rPr lang="en-US" altLang="ja-JP" sz="2400" dirty="0"/>
                  <a:t>length,</a:t>
                </a:r>
                <a:r>
                  <a:rPr lang="ja-JP" altLang="en-US" sz="2400" dirty="0"/>
                  <a:t> </a:t>
                </a:r>
                <a:r>
                  <a:rPr lang="en-US" altLang="ja-JP" sz="2400" dirty="0"/>
                  <a:t>position,</a:t>
                </a:r>
                <a:r>
                  <a:rPr lang="ja-JP" altLang="en-US" sz="2400" dirty="0"/>
                  <a:t> </a:t>
                </a:r>
                <a:r>
                  <a:rPr lang="en-US" altLang="ja-JP" sz="2400" dirty="0"/>
                  <a:t>and</a:t>
                </a:r>
                <a:r>
                  <a:rPr lang="ja-JP" altLang="en-US" sz="2400" dirty="0"/>
                  <a:t> </a:t>
                </a:r>
                <a:r>
                  <a:rPr lang="en-US" altLang="ja-JP" sz="2400" dirty="0"/>
                  <a:t>temperature</a:t>
                </a:r>
              </a:p>
              <a:p>
                <a:pPr lvl="1"/>
                <a:r>
                  <a:rPr lang="en-US" altLang="ja-JP" sz="2400" dirty="0"/>
                  <a:t>Three different fracture types were obtained</a:t>
                </a:r>
              </a:p>
              <a:p>
                <a:r>
                  <a:rPr lang="en-US" altLang="ja-JP" sz="2400" dirty="0"/>
                  <a:t>Fracture toughness and </a:t>
                </a:r>
                <a:br>
                  <a:rPr lang="en-US" altLang="ja-JP" sz="2400" dirty="0"/>
                </a:br>
                <a:r>
                  <a:rPr lang="en-US" altLang="ja-JP" sz="2400" dirty="0"/>
                  <a:t>transition temperatures were calculated</a:t>
                </a:r>
              </a:p>
              <a:p>
                <a:pPr lvl="1"/>
                <a:r>
                  <a:rPr lang="en" altLang="ja-JP" sz="2400" dirty="0">
                    <a:latin typeface="+mj-ea"/>
                    <a:ea typeface="+mj-ea"/>
                  </a:rPr>
                  <a:t>F</a:t>
                </a:r>
                <a:r>
                  <a:rPr lang="en" altLang="ja-JP" sz="2400" b="0" i="0" dirty="0">
                    <a:effectLst/>
                    <a:latin typeface="+mj-ea"/>
                    <a:ea typeface="+mj-ea"/>
                  </a:rPr>
                  <a:t>racture toughness and transition temperature </a:t>
                </a:r>
                <a:br>
                  <a:rPr lang="en" altLang="ja-JP" sz="2400" b="0" i="0" dirty="0">
                    <a:effectLst/>
                    <a:latin typeface="+mj-ea"/>
                    <a:ea typeface="+mj-ea"/>
                  </a:rPr>
                </a:br>
                <a:r>
                  <a:rPr lang="en" altLang="ja-JP" sz="2400" b="0" i="0" dirty="0">
                    <a:effectLst/>
                    <a:latin typeface="+mj-ea"/>
                    <a:ea typeface="+mj-ea"/>
                  </a:rPr>
                  <a:t>by assuming the conditions of a certain microcrack were obtained</a:t>
                </a:r>
                <a:endParaRPr lang="en-US" altLang="ja-JP" sz="2400" dirty="0">
                  <a:latin typeface="+mj-ea"/>
                  <a:ea typeface="+mj-ea"/>
                </a:endParaRPr>
              </a:p>
              <a:p>
                <a:r>
                  <a:rPr lang="en-US" altLang="ja-JP" sz="2400" dirty="0"/>
                  <a:t>Main factors</a:t>
                </a:r>
                <a:r>
                  <a:rPr kumimoji="1" lang="en-US" altLang="ja-JP" sz="2400" dirty="0"/>
                  <a:t> that shift the type of fracture</a:t>
                </a:r>
              </a:p>
              <a:p>
                <a:pPr lvl="1"/>
                <a:r>
                  <a:rPr kumimoji="1" lang="en-US" altLang="ja-JP" sz="2400" dirty="0"/>
                  <a:t>Temperature 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altLang="ja-JP" sz="2400" dirty="0"/>
              </a:p>
              <a:p>
                <a:pPr lvl="2"/>
                <a:r>
                  <a:rPr lang="en-US" altLang="ja-JP" sz="2200" u="sng" dirty="0"/>
                  <a:t>Blunted macrocracks cause numerous dislocations to be emitted from microcrack-tip</a:t>
                </a:r>
              </a:p>
              <a:p>
                <a:pPr lvl="2"/>
                <a:r>
                  <a:rPr lang="en-US" altLang="ja-JP" sz="2200" dirty="0"/>
                  <a:t>At high temperature, </a:t>
                </a:r>
                <a:r>
                  <a:rPr lang="en-US" altLang="ja-JP" sz="2200" dirty="0">
                    <a:solidFill>
                      <a:srgbClr val="FF0000"/>
                    </a:solidFill>
                  </a:rPr>
                  <a:t>dislocations are emitted easily </a:t>
                </a:r>
                <a:r>
                  <a:rPr lang="en-US" altLang="ja-JP" sz="2200" dirty="0"/>
                  <a:t>and </a:t>
                </a:r>
                <a:r>
                  <a:rPr lang="en-US" altLang="ja-JP" sz="2200" dirty="0">
                    <a:solidFill>
                      <a:srgbClr val="FF0000"/>
                    </a:solidFill>
                  </a:rPr>
                  <a:t>macrocrack blunted more rapidly</a:t>
                </a:r>
                <a:endParaRPr kumimoji="1" lang="en-US" altLang="ja-JP" sz="2400" dirty="0"/>
              </a:p>
              <a:p>
                <a:pPr lvl="2"/>
                <a:endParaRPr lang="en-US" altLang="ja-JP" dirty="0"/>
              </a:p>
              <a:p>
                <a:pPr lvl="1"/>
                <a:endParaRPr lang="en-US" altLang="ja-JP" sz="2600" dirty="0"/>
              </a:p>
              <a:p>
                <a:pPr lvl="1"/>
                <a:endParaRPr lang="en-US" altLang="ja-JP" sz="2600" dirty="0"/>
              </a:p>
              <a:p>
                <a:pPr lvl="1"/>
                <a:endParaRPr lang="en-US" altLang="ja-JP" dirty="0"/>
              </a:p>
              <a:p>
                <a:pPr lvl="1"/>
                <a:endParaRPr lang="en-US" altLang="ja-JP" dirty="0"/>
              </a:p>
            </p:txBody>
          </p:sp>
        </mc:Choice>
        <mc:Fallback>
          <p:sp>
            <p:nvSpPr>
              <p:cNvPr id="3" name="テキスト プレースホルダー 2">
                <a:extLst>
                  <a:ext uri="{FF2B5EF4-FFF2-40B4-BE49-F238E27FC236}">
                    <a16:creationId xmlns:a16="http://schemas.microsoft.com/office/drawing/2014/main" id="{94E812DB-9B54-F053-6FD8-FC5084BCD6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0" y="746999"/>
                <a:ext cx="8955621" cy="3358880"/>
              </a:xfrm>
              <a:blipFill>
                <a:blip r:embed="rId2"/>
                <a:stretch>
                  <a:fillRect l="-1983" t="-8302" b="-7547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517C24E-9BF8-8CF2-E177-0CA7E1DF5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F6909-ABCB-BB45-AC56-A8377246EBB2}" type="slidenum">
              <a:rPr lang="ja-JP" altLang="en-US" smtClean="0"/>
              <a:pPr/>
              <a:t>27</a:t>
            </a:fld>
            <a:endParaRPr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B3D5CEE-2B9F-86E3-1989-AF53A5AA2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Tokyo University of Science - Computational Materials Science Laboratory -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578181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FB25ED-182C-65F2-4DA5-BFC035679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Conclusions</a:t>
            </a:r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テキスト プレースホルダー 2">
                <a:extLst>
                  <a:ext uri="{FF2B5EF4-FFF2-40B4-BE49-F238E27FC236}">
                    <a16:creationId xmlns:a16="http://schemas.microsoft.com/office/drawing/2014/main" id="{BB3787D8-4BFE-5EC6-771E-7210275FC2E2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0" y="760045"/>
                <a:ext cx="8773611" cy="3066370"/>
              </a:xfrm>
            </p:spPr>
            <p:txBody>
              <a:bodyPr/>
              <a:lstStyle/>
              <a:p>
                <a:pPr lvl="1"/>
                <a:r>
                  <a:rPr kumimoji="1" lang="en-US" altLang="ja-JP" sz="2400" dirty="0"/>
                  <a:t>Crack length 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altLang="ja-JP" sz="2400" dirty="0"/>
              </a:p>
              <a:p>
                <a:pPr lvl="2"/>
                <a:r>
                  <a:rPr lang="en-US" altLang="ja-JP" sz="2200" u="sng" dirty="0"/>
                  <a:t>Dislocations emitted from far side microcrack-tip shield the near side microcrack-tip</a:t>
                </a:r>
              </a:p>
              <a:p>
                <a:pPr lvl="2"/>
                <a:r>
                  <a:rPr lang="en-US" altLang="ja-JP" sz="2200" dirty="0">
                    <a:solidFill>
                      <a:srgbClr val="FF0000"/>
                    </a:solidFill>
                  </a:rPr>
                  <a:t>Larger cracks have less this shielding effect</a:t>
                </a:r>
                <a:endParaRPr kumimoji="1" lang="en-US" altLang="ja-JP" sz="2400" dirty="0"/>
              </a:p>
              <a:p>
                <a:pPr lvl="1"/>
                <a:r>
                  <a:rPr kumimoji="1" lang="en-US" altLang="ja-JP" sz="2400" dirty="0"/>
                  <a:t>Crack position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𝑛𝑒𝑎𝑟</m:t>
                        </m:r>
                      </m:sub>
                    </m:sSub>
                  </m:oMath>
                </a14:m>
                <a:r>
                  <a:rPr kumimoji="1" lang="en-US" altLang="ja-JP" dirty="0"/>
                  <a:t> </a:t>
                </a:r>
              </a:p>
              <a:p>
                <a:pPr lvl="2"/>
                <a:r>
                  <a:rPr lang="en-US" altLang="ja-JP" sz="2200" dirty="0"/>
                  <a:t>Cracks near the macrocrack are subjected to strong tension and fracture </a:t>
                </a:r>
                <a:r>
                  <a:rPr lang="en-US" altLang="ja-JP" sz="2200" dirty="0">
                    <a:solidFill>
                      <a:srgbClr val="FF0000"/>
                    </a:solidFill>
                  </a:rPr>
                  <a:t>before dislocations emitted from microcrack-tip</a:t>
                </a:r>
              </a:p>
              <a:p>
                <a:pPr lvl="2"/>
                <a:r>
                  <a:rPr lang="en-US" altLang="ja-JP" sz="2200" u="sng" dirty="0">
                    <a:solidFill>
                      <a:schemeClr val="tx1"/>
                    </a:solidFill>
                    <a:latin typeface="+mj-ea"/>
                    <a:ea typeface="+mj-ea"/>
                  </a:rPr>
                  <a:t>Cracks near the macrocrack, the ratio of shielding effect to load is</a:t>
                </a:r>
                <a:r>
                  <a:rPr lang="en-US" altLang="ja-JP" sz="2200" u="sng" dirty="0">
                    <a:latin typeface="+mj-ea"/>
                    <a:ea typeface="+mj-ea"/>
                  </a:rPr>
                  <a:t> small</a:t>
                </a:r>
              </a:p>
              <a:p>
                <a:pPr lvl="4"/>
                <a:endParaRPr lang="en-US" altLang="ja-JP" sz="1600" dirty="0"/>
              </a:p>
              <a:p>
                <a:r>
                  <a:rPr lang="en-US" altLang="ja-JP" sz="2400" dirty="0"/>
                  <a:t>Future perspective</a:t>
                </a:r>
              </a:p>
              <a:p>
                <a:pPr lvl="1"/>
                <a:r>
                  <a:rPr lang="en-US" altLang="ja-JP" sz="2400" dirty="0"/>
                  <a:t>Extension of microcracks to 3D models </a:t>
                </a:r>
                <a:br>
                  <a:rPr lang="en-US" altLang="ja-JP" sz="2400" dirty="0"/>
                </a:br>
                <a:r>
                  <a:rPr lang="en-US" altLang="ja-JP" sz="2400" dirty="0"/>
                  <a:t>assuming cracking of carbide particles (penny-shaped crack)</a:t>
                </a:r>
                <a:br>
                  <a:rPr lang="en-US" altLang="ja-JP" dirty="0"/>
                </a:br>
                <a:endParaRPr kumimoji="1" lang="ja-JP" altLang="en-US"/>
              </a:p>
            </p:txBody>
          </p:sp>
        </mc:Choice>
        <mc:Fallback>
          <p:sp>
            <p:nvSpPr>
              <p:cNvPr id="3" name="テキスト プレースホルダー 2">
                <a:extLst>
                  <a:ext uri="{FF2B5EF4-FFF2-40B4-BE49-F238E27FC236}">
                    <a16:creationId xmlns:a16="http://schemas.microsoft.com/office/drawing/2014/main" id="{BB3787D8-4BFE-5EC6-771E-7210275FC2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0" y="760045"/>
                <a:ext cx="8773611" cy="3066370"/>
              </a:xfrm>
              <a:blipFill>
                <a:blip r:embed="rId2"/>
                <a:stretch>
                  <a:fillRect l="-2026" t="-1240" b="-8719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44EB691-6EC3-B61D-610D-1C94FCD96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F6909-ABCB-BB45-AC56-A8377246EBB2}" type="slidenum">
              <a:rPr lang="ja-JP" altLang="en-US" smtClean="0"/>
              <a:pPr/>
              <a:t>28</a:t>
            </a:fld>
            <a:endParaRPr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724DE32-2027-8327-C9D0-C93C7A15B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Tokyo University of Science - Computational Materials Science Laboratory -</a:t>
            </a:r>
            <a:endParaRPr lang="ja-JP" altLang="en-US" dirty="0"/>
          </a:p>
        </p:txBody>
      </p:sp>
      <p:pic>
        <p:nvPicPr>
          <p:cNvPr id="12" name="図 11" descr="黒い背景と白い文字&#10;&#10;自動的に生成された説明">
            <a:extLst>
              <a:ext uri="{FF2B5EF4-FFF2-40B4-BE49-F238E27FC236}">
                <a16:creationId xmlns:a16="http://schemas.microsoft.com/office/drawing/2014/main" id="{3B25C451-AA96-C743-3AF3-8E73D2C662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7549" y="4010434"/>
            <a:ext cx="1920657" cy="1469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6238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206D79-C692-802E-C781-4993A5F12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Low-temperature</a:t>
            </a:r>
            <a:r>
              <a:rPr kumimoji="1" lang="ja-JP" altLang="en-US" dirty="0"/>
              <a:t> </a:t>
            </a:r>
            <a:r>
              <a:rPr kumimoji="1" lang="en-US" altLang="ja-JP" dirty="0"/>
              <a:t>embrittlement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F07A49A-1B10-A737-4CA1-F6C1D4E0EF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543" y="796007"/>
            <a:ext cx="8873657" cy="1625496"/>
          </a:xfrm>
        </p:spPr>
        <p:txBody>
          <a:bodyPr/>
          <a:lstStyle/>
          <a:p>
            <a:r>
              <a:rPr lang="en-US" altLang="ja-JP" dirty="0"/>
              <a:t>Brittle-Ductile </a:t>
            </a:r>
            <a:r>
              <a:rPr lang="en-US" altLang="ja-JP" dirty="0" err="1"/>
              <a:t>Transition:BDT</a:t>
            </a:r>
            <a:endParaRPr lang="en-US" altLang="ja-JP" dirty="0"/>
          </a:p>
          <a:p>
            <a:pPr lvl="1"/>
            <a:r>
              <a:rPr lang="en-US" altLang="ja-JP" sz="2400" dirty="0"/>
              <a:t>Transition</a:t>
            </a:r>
            <a:r>
              <a:rPr lang="ja-JP" altLang="en-US" sz="2400" dirty="0"/>
              <a:t> </a:t>
            </a:r>
            <a:r>
              <a:rPr lang="en-US" altLang="ja-JP" sz="2400" dirty="0"/>
              <a:t>to</a:t>
            </a:r>
            <a:r>
              <a:rPr lang="ja-JP" altLang="en-US" sz="2400" dirty="0"/>
              <a:t> </a:t>
            </a:r>
            <a:r>
              <a:rPr lang="en-US" altLang="ja-JP" sz="2400" dirty="0"/>
              <a:t>ductile</a:t>
            </a:r>
            <a:r>
              <a:rPr lang="ja-JP" altLang="en-US" sz="2400" dirty="0"/>
              <a:t> </a:t>
            </a:r>
            <a:r>
              <a:rPr lang="en-US" altLang="ja-JP" sz="2400" dirty="0"/>
              <a:t>or</a:t>
            </a:r>
            <a:r>
              <a:rPr lang="ja-JP" altLang="en-US" sz="2400" dirty="0"/>
              <a:t> </a:t>
            </a:r>
            <a:r>
              <a:rPr lang="en-US" altLang="ja-JP" sz="2400" dirty="0"/>
              <a:t>brittle</a:t>
            </a:r>
            <a:br>
              <a:rPr lang="en-US" altLang="ja-JP" sz="2400" dirty="0"/>
            </a:br>
            <a:r>
              <a:rPr lang="en-US" altLang="ja-JP" sz="2400" dirty="0"/>
              <a:t>with temperature change</a:t>
            </a:r>
            <a:br>
              <a:rPr lang="en-US" altLang="ja-JP" sz="2400" dirty="0"/>
            </a:br>
            <a:endParaRPr lang="en-US" altLang="ja-JP" sz="1400" dirty="0"/>
          </a:p>
          <a:p>
            <a:pPr lvl="1"/>
            <a:r>
              <a:rPr lang="en-US" altLang="ja-JP" sz="2400" u="sng" dirty="0"/>
              <a:t>Rapid</a:t>
            </a:r>
            <a:r>
              <a:rPr lang="ja-JP" altLang="en-US" sz="2400" u="sng" dirty="0"/>
              <a:t> </a:t>
            </a:r>
            <a:r>
              <a:rPr lang="en-US" altLang="ja-JP" sz="2400" u="sng" dirty="0"/>
              <a:t>decrease in fracture </a:t>
            </a:r>
            <a:br>
              <a:rPr lang="en-US" altLang="ja-JP" sz="2400" u="sng" dirty="0"/>
            </a:br>
            <a:r>
              <a:rPr lang="en-US" altLang="ja-JP" sz="2400" u="sng" dirty="0"/>
              <a:t>toughness</a:t>
            </a:r>
            <a:r>
              <a:rPr lang="en-US" altLang="ja-JP" sz="2400" dirty="0"/>
              <a:t> at lower than </a:t>
            </a:r>
            <a:br>
              <a:rPr lang="en-US" altLang="ja-JP" sz="2400" dirty="0"/>
            </a:br>
            <a:r>
              <a:rPr lang="en-US" altLang="ja-JP" sz="2400" dirty="0"/>
              <a:t>the transition temperature</a:t>
            </a:r>
            <a:endParaRPr lang="en-US" altLang="ja-JP" dirty="0"/>
          </a:p>
          <a:p>
            <a:pPr marL="349200" lvl="1" indent="0">
              <a:buNone/>
            </a:pPr>
            <a:endParaRPr lang="en-US" altLang="ja-JP" sz="2400" dirty="0"/>
          </a:p>
          <a:p>
            <a:pPr lvl="5"/>
            <a:endParaRPr lang="en-US" altLang="ja-JP" sz="1400" dirty="0"/>
          </a:p>
          <a:p>
            <a:pPr lvl="5"/>
            <a:endParaRPr lang="en-US" altLang="ja-JP" sz="1400" dirty="0"/>
          </a:p>
          <a:p>
            <a:pPr lvl="1"/>
            <a:endParaRPr lang="en-US" altLang="ja-JP" sz="2400" dirty="0"/>
          </a:p>
          <a:p>
            <a:pPr marL="349200" lvl="1" indent="0">
              <a:buNone/>
            </a:pPr>
            <a:endParaRPr lang="en-US" altLang="ja-JP" sz="2400" dirty="0"/>
          </a:p>
          <a:p>
            <a:pPr marL="349200" lvl="1" indent="0">
              <a:buNone/>
            </a:pPr>
            <a:endParaRPr lang="en-US" altLang="ja-JP" sz="2400" dirty="0"/>
          </a:p>
          <a:p>
            <a:pPr marL="349200" lvl="1" indent="0">
              <a:buNone/>
            </a:pPr>
            <a:endParaRPr lang="en-US" altLang="ja-JP" sz="2400" dirty="0"/>
          </a:p>
          <a:p>
            <a:endParaRPr lang="en-US" altLang="ja-JP" sz="2400" dirty="0"/>
          </a:p>
          <a:p>
            <a:pPr marL="349200" lvl="1" indent="0">
              <a:buNone/>
            </a:pPr>
            <a:endParaRPr lang="en-US" altLang="ja-JP" sz="2400" dirty="0"/>
          </a:p>
          <a:p>
            <a:pPr marL="349200" lvl="1" indent="0">
              <a:buNone/>
            </a:pPr>
            <a:endParaRPr lang="en-US" altLang="ja-JP" sz="2400" dirty="0"/>
          </a:p>
          <a:p>
            <a:pPr marL="349200" lvl="1" indent="0">
              <a:buNone/>
            </a:pPr>
            <a:endParaRPr lang="en-US" altLang="ja-JP" sz="2400" dirty="0"/>
          </a:p>
          <a:p>
            <a:pPr marL="349200" lvl="1" indent="0">
              <a:buNone/>
            </a:pPr>
            <a:endParaRPr lang="en-US" altLang="ja-JP" sz="2400" dirty="0"/>
          </a:p>
          <a:p>
            <a:pPr marL="349200" lvl="1" indent="0">
              <a:buNone/>
            </a:pPr>
            <a:endParaRPr lang="en-US" altLang="ja-JP" sz="2400" dirty="0"/>
          </a:p>
          <a:p>
            <a:pPr marL="349200" lvl="1" indent="0">
              <a:buNone/>
            </a:pPr>
            <a:endParaRPr kumimoji="1" lang="en-US" altLang="ja-JP" sz="2400" dirty="0"/>
          </a:p>
          <a:p>
            <a:endParaRPr lang="en-US" altLang="ja-JP" dirty="0"/>
          </a:p>
          <a:p>
            <a:endParaRPr kumimoji="1" lang="en-US" altLang="ja-JP" dirty="0"/>
          </a:p>
          <a:p>
            <a:pPr marL="349200" lvl="1" indent="0">
              <a:buNone/>
            </a:pPr>
            <a:r>
              <a:rPr lang="ja-JP" altLang="en-US" dirty="0"/>
              <a:t> </a:t>
            </a:r>
            <a:endParaRPr kumimoji="1" lang="en-US" altLang="ja-JP" sz="2400" b="1" u="sng" dirty="0">
              <a:solidFill>
                <a:srgbClr val="FF0000"/>
              </a:solidFill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BC6362A-53EB-9876-777A-BAAEB83D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F6909-ABCB-BB45-AC56-A8377246EBB2}" type="slidenum">
              <a:rPr lang="ja-JP" altLang="en-US" smtClean="0"/>
              <a:pPr/>
              <a:t>29</a:t>
            </a:fld>
            <a:endParaRPr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38DA131-79E3-DEFB-40BB-5BD7A0F9C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Tokyo University of Science - Computational Materials Science Laboratory -</a:t>
            </a:r>
            <a:endParaRPr lang="ja-JP" altLang="en-US" dirty="0"/>
          </a:p>
        </p:txBody>
      </p:sp>
      <p:pic>
        <p:nvPicPr>
          <p:cNvPr id="29" name="図 28" descr="ダイアグラム&#10;&#10;自動的に生成された説明">
            <a:extLst>
              <a:ext uri="{FF2B5EF4-FFF2-40B4-BE49-F238E27FC236}">
                <a16:creationId xmlns:a16="http://schemas.microsoft.com/office/drawing/2014/main" id="{9FFAEC67-E14F-7262-E895-C0F08FCF82A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336967" y="1246279"/>
            <a:ext cx="3921333" cy="2700215"/>
          </a:xfrm>
          <a:prstGeom prst="rect">
            <a:avLst/>
          </a:prstGeom>
        </p:spPr>
      </p:pic>
      <p:sp>
        <p:nvSpPr>
          <p:cNvPr id="38" name="テキスト プレースホルダー 2">
            <a:extLst>
              <a:ext uri="{FF2B5EF4-FFF2-40B4-BE49-F238E27FC236}">
                <a16:creationId xmlns:a16="http://schemas.microsoft.com/office/drawing/2014/main" id="{75CC74A5-B7F3-DDDF-5B5A-38ED2C933EAB}"/>
              </a:ext>
            </a:extLst>
          </p:cNvPr>
          <p:cNvSpPr txBox="1">
            <a:spLocks/>
          </p:cNvSpPr>
          <p:nvPr/>
        </p:nvSpPr>
        <p:spPr>
          <a:xfrm>
            <a:off x="-183759" y="4019689"/>
            <a:ext cx="5375704" cy="422435"/>
          </a:xfrm>
          <a:prstGeom prst="rect">
            <a:avLst/>
          </a:prstGeom>
        </p:spPr>
        <p:txBody>
          <a:bodyPr vert="horz"/>
          <a:lstStyle>
            <a:lvl1pPr marL="342000" indent="-3429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spcAft>
                <a:spcPts val="400"/>
              </a:spcAft>
              <a:buClr>
                <a:schemeClr val="accent6">
                  <a:lumMod val="75000"/>
                </a:schemeClr>
              </a:buClr>
              <a:buSzPct val="140000"/>
              <a:buFont typeface="ヒラギノ角ゴ ProN W3"/>
              <a:buChar char="|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600" indent="-392400" algn="l" defTabSz="914400" rtl="0" eaLnBrk="1" latinLnBrk="0" hangingPunct="1">
              <a:lnSpc>
                <a:spcPct val="100000"/>
              </a:lnSpc>
              <a:spcBef>
                <a:spcPts val="225"/>
              </a:spcBef>
              <a:buClr>
                <a:schemeClr val="accent6">
                  <a:lumMod val="75000"/>
                </a:schemeClr>
              </a:buClr>
              <a:buSzPct val="75000"/>
              <a:buFont typeface="Wingdings" charset="2"/>
              <a:buChar char="n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410400" algn="l" defTabSz="914400" rtl="0" eaLnBrk="1" latinLnBrk="0" hangingPunct="1">
              <a:lnSpc>
                <a:spcPct val="100000"/>
              </a:lnSpc>
              <a:spcBef>
                <a:spcPts val="25"/>
              </a:spcBef>
              <a:buClr>
                <a:schemeClr val="accent6">
                  <a:lumMod val="75000"/>
                </a:schemeClr>
              </a:buClr>
              <a:buSzPct val="120000"/>
              <a:buFont typeface="HiraKakuProN-W3" charset="-128"/>
              <a:buChar char="−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25"/>
              </a:spcBef>
              <a:buClr>
                <a:schemeClr val="accent6">
                  <a:lumMod val="75000"/>
                </a:schemeClr>
              </a:buClr>
              <a:buFont typeface="Arial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25"/>
              </a:spcBef>
              <a:buClr>
                <a:schemeClr val="accent6">
                  <a:lumMod val="75000"/>
                </a:schemeClr>
              </a:buClr>
              <a:buFont typeface="Arial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28650" lvl="1" indent="-279400"/>
            <a:r>
              <a:rPr lang="en-US" altLang="ja-JP" sz="2000" dirty="0">
                <a:latin typeface="+mn-ea"/>
              </a:rPr>
              <a:t>Crack-dislocation interaction</a:t>
            </a:r>
          </a:p>
          <a:p>
            <a:pPr marL="349200" lvl="1" indent="0">
              <a:buFont typeface="Wingdings" charset="2"/>
              <a:buNone/>
            </a:pPr>
            <a:endParaRPr lang="en-US" altLang="ja-JP" sz="2400" dirty="0">
              <a:latin typeface="+mn-ea"/>
            </a:endParaRPr>
          </a:p>
        </p:txBody>
      </p:sp>
      <p:pic>
        <p:nvPicPr>
          <p:cNvPr id="40" name="図 39">
            <a:extLst>
              <a:ext uri="{FF2B5EF4-FFF2-40B4-BE49-F238E27FC236}">
                <a16:creationId xmlns:a16="http://schemas.microsoft.com/office/drawing/2014/main" id="{D61F1571-AC8A-CF2D-67C3-CE8783700F8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217" r="4339" b="3870"/>
          <a:stretch/>
        </p:blipFill>
        <p:spPr>
          <a:xfrm>
            <a:off x="5030966" y="4435200"/>
            <a:ext cx="3401863" cy="2159867"/>
          </a:xfrm>
          <a:prstGeom prst="rect">
            <a:avLst/>
          </a:prstGeom>
        </p:spPr>
      </p:pic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42B52477-FF4A-0B69-4BB8-1C16316A012D}"/>
              </a:ext>
            </a:extLst>
          </p:cNvPr>
          <p:cNvSpPr txBox="1"/>
          <p:nvPr/>
        </p:nvSpPr>
        <p:spPr>
          <a:xfrm>
            <a:off x="8452916" y="4425511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Light"/>
                <a:ea typeface="メイリオ"/>
                <a:cs typeface="+mn-cs"/>
              </a:rPr>
              <a:t>[2]</a:t>
            </a:r>
            <a:endParaRPr kumimoji="1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Light"/>
              <a:ea typeface="メイリオ"/>
              <a:cs typeface="+mn-cs"/>
            </a:endParaRP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AA05F351-50DB-FBF2-46EF-2937739979DC}"/>
              </a:ext>
            </a:extLst>
          </p:cNvPr>
          <p:cNvSpPr txBox="1"/>
          <p:nvPr/>
        </p:nvSpPr>
        <p:spPr>
          <a:xfrm>
            <a:off x="3944190" y="4424864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Light"/>
                <a:ea typeface="メイリオ"/>
                <a:cs typeface="+mn-cs"/>
              </a:rPr>
              <a:t>[1]</a:t>
            </a:r>
            <a:endParaRPr kumimoji="1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Light"/>
              <a:ea typeface="メイリオ"/>
              <a:cs typeface="+mn-cs"/>
            </a:endParaRPr>
          </a:p>
        </p:txBody>
      </p:sp>
      <p:pic>
        <p:nvPicPr>
          <p:cNvPr id="43" name="図 42" descr="写真, 大きい, テーブル, 古い が含まれている画像&#10;&#10;自動的に生成された説明">
            <a:extLst>
              <a:ext uri="{FF2B5EF4-FFF2-40B4-BE49-F238E27FC236}">
                <a16:creationId xmlns:a16="http://schemas.microsoft.com/office/drawing/2014/main" id="{FA4D1E30-E10E-7987-9847-CC49CDF833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789" y="4421290"/>
            <a:ext cx="3418268" cy="2193291"/>
          </a:xfrm>
          <a:prstGeom prst="rect">
            <a:avLst/>
          </a:prstGeom>
        </p:spPr>
      </p:pic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3BCE1374-5932-231B-CF72-BCA71584DACF}"/>
              </a:ext>
            </a:extLst>
          </p:cNvPr>
          <p:cNvSpPr txBox="1"/>
          <p:nvPr/>
        </p:nvSpPr>
        <p:spPr>
          <a:xfrm>
            <a:off x="6097171" y="699055"/>
            <a:ext cx="344476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900" dirty="0">
                <a:solidFill>
                  <a:prstClr val="black"/>
                </a:solidFill>
                <a:latin typeface="Helvetica Light"/>
                <a:ea typeface="メイリオ"/>
              </a:rPr>
              <a:t>[1] Tanaka, M., </a:t>
            </a:r>
            <a:r>
              <a:rPr lang="en-US" altLang="ja-JP" sz="900" dirty="0" err="1">
                <a:solidFill>
                  <a:prstClr val="black"/>
                </a:solidFill>
                <a:latin typeface="Helvetica Light"/>
                <a:ea typeface="メイリオ"/>
              </a:rPr>
              <a:t>Sadamatsu</a:t>
            </a:r>
            <a:r>
              <a:rPr lang="en-US" altLang="ja-JP" sz="900" dirty="0">
                <a:solidFill>
                  <a:prstClr val="black"/>
                </a:solidFill>
                <a:latin typeface="Helvetica Light"/>
                <a:ea typeface="メイリオ"/>
              </a:rPr>
              <a:t>, S., </a:t>
            </a:r>
            <a:br>
              <a:rPr lang="en-US" altLang="ja-JP" sz="900" dirty="0">
                <a:solidFill>
                  <a:prstClr val="black"/>
                </a:solidFill>
                <a:latin typeface="Helvetica Light"/>
                <a:ea typeface="メイリオ"/>
              </a:rPr>
            </a:br>
            <a:r>
              <a:rPr lang="en-US" altLang="ja-JP" sz="900" dirty="0">
                <a:solidFill>
                  <a:prstClr val="black"/>
                </a:solidFill>
                <a:latin typeface="Helvetica Light"/>
                <a:ea typeface="メイリオ"/>
              </a:rPr>
              <a:t>      Journal of Materials </a:t>
            </a:r>
            <a:r>
              <a:rPr lang="en-US" altLang="ja-JP" sz="900" dirty="0" err="1">
                <a:solidFill>
                  <a:prstClr val="black"/>
                </a:solidFill>
                <a:latin typeface="Helvetica Light"/>
                <a:ea typeface="メイリオ"/>
              </a:rPr>
              <a:t>Research,Vol</a:t>
            </a:r>
            <a:r>
              <a:rPr lang="en-US" altLang="ja-JP" sz="900" dirty="0">
                <a:solidFill>
                  <a:prstClr val="black"/>
                </a:solidFill>
                <a:latin typeface="Helvetica Light"/>
                <a:ea typeface="メイリオ"/>
              </a:rPr>
              <a:t> 26, (2011)</a:t>
            </a:r>
            <a:endParaRPr lang="ja-JP" altLang="en-US" sz="9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Light"/>
                <a:ea typeface="メイリオ"/>
                <a:cs typeface="+mn-cs"/>
              </a:rPr>
              <a:t>[2]</a:t>
            </a:r>
            <a:r>
              <a:rPr lang="en-US" altLang="ja-JP" sz="900" dirty="0"/>
              <a:t> </a:t>
            </a:r>
            <a:r>
              <a:rPr lang="en-US" altLang="ja-JP" sz="900" dirty="0" err="1"/>
              <a:t>McMeeking</a:t>
            </a:r>
            <a:r>
              <a:rPr lang="en-US" altLang="ja-JP" sz="900" dirty="0"/>
              <a:t>, R.M.</a:t>
            </a:r>
            <a:r>
              <a:rPr lang="ja-JP" altLang="en-US" sz="900" dirty="0"/>
              <a:t> </a:t>
            </a:r>
            <a:r>
              <a:rPr lang="en-US" altLang="ja-JP" sz="900" dirty="0" err="1"/>
              <a:t>et.a</a:t>
            </a:r>
            <a:r>
              <a:rPr lang="en-US" altLang="ja-JP" sz="900" dirty="0"/>
              <a:t>, J. Mech. Phys. Solids 25, 1977</a:t>
            </a:r>
            <a:endParaRPr lang="ja-JP" altLang="en-US" sz="900" dirty="0"/>
          </a:p>
        </p:txBody>
      </p:sp>
      <p:sp>
        <p:nvSpPr>
          <p:cNvPr id="6" name="テキスト プレースホルダー 2">
            <a:extLst>
              <a:ext uri="{FF2B5EF4-FFF2-40B4-BE49-F238E27FC236}">
                <a16:creationId xmlns:a16="http://schemas.microsoft.com/office/drawing/2014/main" id="{5DDB71A9-2D1E-4DE2-3809-645CFA1E08B2}"/>
              </a:ext>
            </a:extLst>
          </p:cNvPr>
          <p:cNvSpPr txBox="1">
            <a:spLocks/>
          </p:cNvSpPr>
          <p:nvPr/>
        </p:nvSpPr>
        <p:spPr>
          <a:xfrm>
            <a:off x="4572000" y="4019689"/>
            <a:ext cx="5375704" cy="422435"/>
          </a:xfrm>
          <a:prstGeom prst="rect">
            <a:avLst/>
          </a:prstGeom>
        </p:spPr>
        <p:txBody>
          <a:bodyPr vert="horz"/>
          <a:lstStyle>
            <a:lvl1pPr marL="342000" indent="-3429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spcAft>
                <a:spcPts val="400"/>
              </a:spcAft>
              <a:buClr>
                <a:schemeClr val="accent6">
                  <a:lumMod val="75000"/>
                </a:schemeClr>
              </a:buClr>
              <a:buSzPct val="140000"/>
              <a:buFont typeface="ヒラギノ角ゴ ProN W3"/>
              <a:buChar char="|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600" indent="-392400" algn="l" defTabSz="914400" rtl="0" eaLnBrk="1" latinLnBrk="0" hangingPunct="1">
              <a:lnSpc>
                <a:spcPct val="100000"/>
              </a:lnSpc>
              <a:spcBef>
                <a:spcPts val="225"/>
              </a:spcBef>
              <a:buClr>
                <a:schemeClr val="accent6">
                  <a:lumMod val="75000"/>
                </a:schemeClr>
              </a:buClr>
              <a:buSzPct val="75000"/>
              <a:buFont typeface="Wingdings" charset="2"/>
              <a:buChar char="n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410400" algn="l" defTabSz="914400" rtl="0" eaLnBrk="1" latinLnBrk="0" hangingPunct="1">
              <a:lnSpc>
                <a:spcPct val="100000"/>
              </a:lnSpc>
              <a:spcBef>
                <a:spcPts val="25"/>
              </a:spcBef>
              <a:buClr>
                <a:schemeClr val="accent6">
                  <a:lumMod val="75000"/>
                </a:schemeClr>
              </a:buClr>
              <a:buSzPct val="120000"/>
              <a:buFont typeface="HiraKakuProN-W3" charset="-128"/>
              <a:buChar char="−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25"/>
              </a:spcBef>
              <a:buClr>
                <a:schemeClr val="accent6">
                  <a:lumMod val="75000"/>
                </a:schemeClr>
              </a:buClr>
              <a:buFont typeface="Arial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25"/>
              </a:spcBef>
              <a:buClr>
                <a:schemeClr val="accent6">
                  <a:lumMod val="75000"/>
                </a:schemeClr>
              </a:buClr>
              <a:buFont typeface="Arial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28650" lvl="1" indent="-279400"/>
            <a:r>
              <a:rPr lang="en-US" altLang="ja-JP" sz="2000" dirty="0">
                <a:latin typeface="+mn-ea"/>
              </a:rPr>
              <a:t>Crack blunting</a:t>
            </a:r>
          </a:p>
          <a:p>
            <a:pPr marL="349200" lvl="1" indent="0">
              <a:buFont typeface="Wingdings" charset="2"/>
              <a:buNone/>
            </a:pPr>
            <a:endParaRPr lang="en-US" altLang="ja-JP" sz="2400" dirty="0">
              <a:latin typeface="+mn-ea"/>
            </a:endParaRPr>
          </a:p>
        </p:txBody>
      </p:sp>
      <p:sp>
        <p:nvSpPr>
          <p:cNvPr id="7" name="テキスト プレースホルダー 2">
            <a:extLst>
              <a:ext uri="{FF2B5EF4-FFF2-40B4-BE49-F238E27FC236}">
                <a16:creationId xmlns:a16="http://schemas.microsoft.com/office/drawing/2014/main" id="{EA9A3EF4-89B0-BAB2-2160-ECD8998E8D9E}"/>
              </a:ext>
            </a:extLst>
          </p:cNvPr>
          <p:cNvSpPr txBox="1">
            <a:spLocks/>
          </p:cNvSpPr>
          <p:nvPr/>
        </p:nvSpPr>
        <p:spPr>
          <a:xfrm>
            <a:off x="43543" y="3516533"/>
            <a:ext cx="8873657" cy="1625496"/>
          </a:xfrm>
          <a:prstGeom prst="rect">
            <a:avLst/>
          </a:prstGeom>
        </p:spPr>
        <p:txBody>
          <a:bodyPr vert="horz"/>
          <a:lstStyle>
            <a:lvl1pPr marL="342000" indent="-3429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spcAft>
                <a:spcPts val="400"/>
              </a:spcAft>
              <a:buClr>
                <a:schemeClr val="accent6">
                  <a:lumMod val="75000"/>
                </a:schemeClr>
              </a:buClr>
              <a:buSzPct val="140000"/>
              <a:buFont typeface="ヒラギノ角ゴ ProN W3"/>
              <a:buChar char="|"/>
              <a:defRPr kumimoji="1" sz="28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1600" indent="-392400" algn="l" defTabSz="914400" rtl="0" eaLnBrk="1" latinLnBrk="0" hangingPunct="1">
              <a:lnSpc>
                <a:spcPct val="100000"/>
              </a:lnSpc>
              <a:spcBef>
                <a:spcPts val="225"/>
              </a:spcBef>
              <a:buClr>
                <a:schemeClr val="accent6">
                  <a:lumMod val="75000"/>
                </a:schemeClr>
              </a:buClr>
              <a:buSzPct val="75000"/>
              <a:buFont typeface="Wingdings" charset="2"/>
              <a:buChar char="n"/>
              <a:defRPr kumimoji="1" sz="2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410400" algn="l" defTabSz="914400" rtl="0" eaLnBrk="1" latinLnBrk="0" hangingPunct="1">
              <a:lnSpc>
                <a:spcPct val="100000"/>
              </a:lnSpc>
              <a:spcBef>
                <a:spcPts val="25"/>
              </a:spcBef>
              <a:buClr>
                <a:schemeClr val="accent6">
                  <a:lumMod val="75000"/>
                </a:schemeClr>
              </a:buClr>
              <a:buSzPct val="120000"/>
              <a:buFont typeface="HiraKakuProN-W3" charset="-128"/>
              <a:buChar char="−"/>
              <a:defRPr kumimoji="1"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25"/>
              </a:spcBef>
              <a:buClr>
                <a:schemeClr val="accent6">
                  <a:lumMod val="75000"/>
                </a:schemeClr>
              </a:buClr>
              <a:buFont typeface="Arial"/>
              <a:buChar char="•"/>
              <a:defRPr kumimoji="1"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25"/>
              </a:spcBef>
              <a:buClr>
                <a:schemeClr val="accent6">
                  <a:lumMod val="75000"/>
                </a:schemeClr>
              </a:buClr>
              <a:buFont typeface="Arial"/>
              <a:buChar char="•"/>
              <a:defRPr kumimoji="1"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/>
              <a:t>Main factors</a:t>
            </a:r>
            <a:r>
              <a:rPr lang="ja-JP" altLang="en-US" dirty="0"/>
              <a:t> </a:t>
            </a:r>
            <a:r>
              <a:rPr lang="en-US" altLang="ja-JP" dirty="0"/>
              <a:t>of</a:t>
            </a:r>
            <a:r>
              <a:rPr lang="ja-JP" altLang="en-US" dirty="0"/>
              <a:t> </a:t>
            </a:r>
            <a:r>
              <a:rPr lang="en-US" altLang="ja-JP" dirty="0"/>
              <a:t>BDT</a:t>
            </a:r>
          </a:p>
          <a:p>
            <a:pPr marL="349200" lvl="1" indent="0">
              <a:buFont typeface="Wingdings" charset="2"/>
              <a:buNone/>
            </a:pPr>
            <a:endParaRPr lang="en-US" altLang="ja-JP" sz="2400" dirty="0"/>
          </a:p>
          <a:p>
            <a:pPr lvl="5"/>
            <a:endParaRPr lang="en-US" altLang="ja-JP" sz="1400" dirty="0"/>
          </a:p>
          <a:p>
            <a:pPr lvl="5"/>
            <a:endParaRPr lang="en-US" altLang="ja-JP" sz="1400" dirty="0"/>
          </a:p>
          <a:p>
            <a:pPr lvl="1"/>
            <a:endParaRPr lang="en-US" altLang="ja-JP" sz="2400" dirty="0"/>
          </a:p>
          <a:p>
            <a:pPr marL="349200" lvl="1" indent="0">
              <a:buFont typeface="Wingdings" charset="2"/>
              <a:buNone/>
            </a:pPr>
            <a:endParaRPr lang="en-US" altLang="ja-JP" sz="2400" dirty="0"/>
          </a:p>
          <a:p>
            <a:pPr marL="349200" lvl="1" indent="0">
              <a:buFont typeface="Wingdings" charset="2"/>
              <a:buNone/>
            </a:pPr>
            <a:endParaRPr lang="en-US" altLang="ja-JP" sz="2400" dirty="0"/>
          </a:p>
          <a:p>
            <a:pPr marL="349200" lvl="1" indent="0">
              <a:buFont typeface="Wingdings" charset="2"/>
              <a:buNone/>
            </a:pPr>
            <a:endParaRPr lang="en-US" altLang="ja-JP" sz="2400" dirty="0"/>
          </a:p>
          <a:p>
            <a:endParaRPr lang="en-US" altLang="ja-JP" sz="2400" dirty="0"/>
          </a:p>
          <a:p>
            <a:pPr marL="349200" lvl="1" indent="0">
              <a:buFont typeface="Wingdings" charset="2"/>
              <a:buNone/>
            </a:pPr>
            <a:endParaRPr lang="en-US" altLang="ja-JP" sz="2400" dirty="0"/>
          </a:p>
          <a:p>
            <a:pPr marL="349200" lvl="1" indent="0">
              <a:buFont typeface="Wingdings" charset="2"/>
              <a:buNone/>
            </a:pPr>
            <a:endParaRPr lang="en-US" altLang="ja-JP" sz="2400" dirty="0"/>
          </a:p>
          <a:p>
            <a:pPr marL="349200" lvl="1" indent="0">
              <a:buFont typeface="Wingdings" charset="2"/>
              <a:buNone/>
            </a:pPr>
            <a:endParaRPr lang="en-US" altLang="ja-JP" sz="2400" dirty="0"/>
          </a:p>
          <a:p>
            <a:pPr marL="349200" lvl="1" indent="0">
              <a:buFont typeface="Wingdings" charset="2"/>
              <a:buNone/>
            </a:pPr>
            <a:endParaRPr lang="en-US" altLang="ja-JP" sz="2400" dirty="0"/>
          </a:p>
          <a:p>
            <a:pPr marL="349200" lvl="1" indent="0">
              <a:buFont typeface="Wingdings" charset="2"/>
              <a:buNone/>
            </a:pPr>
            <a:endParaRPr lang="en-US" altLang="ja-JP" sz="2400" dirty="0"/>
          </a:p>
          <a:p>
            <a:pPr marL="349200" lvl="1" indent="0">
              <a:buFont typeface="Wingdings" charset="2"/>
              <a:buNone/>
            </a:pPr>
            <a:endParaRPr lang="en-US" altLang="ja-JP" sz="2400" dirty="0"/>
          </a:p>
          <a:p>
            <a:endParaRPr lang="en-US" altLang="ja-JP" dirty="0"/>
          </a:p>
          <a:p>
            <a:endParaRPr lang="en-US" altLang="ja-JP" dirty="0"/>
          </a:p>
          <a:p>
            <a:pPr marL="349200" lvl="1" indent="0">
              <a:buFont typeface="Wingdings" charset="2"/>
              <a:buNone/>
            </a:pPr>
            <a:r>
              <a:rPr lang="ja-JP" altLang="en-US" dirty="0"/>
              <a:t> </a:t>
            </a:r>
            <a:endParaRPr lang="en-US" altLang="ja-JP" sz="2400" b="1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57459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02BFF7-6732-DFB2-B028-1C80E5B11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Crack-dislocation</a:t>
            </a:r>
            <a:r>
              <a:rPr lang="ja-JP" altLang="en-US" dirty="0"/>
              <a:t> </a:t>
            </a:r>
            <a:r>
              <a:rPr lang="en-US" altLang="ja-JP" dirty="0"/>
              <a:t>interaction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A9389CD-B7E1-235F-3CCD-4164FFBAD9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372" y="828241"/>
            <a:ext cx="6492152" cy="3066370"/>
          </a:xfrm>
        </p:spPr>
        <p:txBody>
          <a:bodyPr/>
          <a:lstStyle/>
          <a:p>
            <a:r>
              <a:rPr lang="en-US" altLang="ja-JP" dirty="0"/>
              <a:t>Shielding effect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E4B11B8-1BE2-ECEE-D497-43DD80FAB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F6909-ABCB-BB45-AC56-A8377246EBB2}" type="slidenum">
              <a:rPr lang="ja-JP" altLang="en-US" smtClean="0"/>
              <a:pPr/>
              <a:t>30</a:t>
            </a:fld>
            <a:endParaRPr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4DC3ADC-0D34-B43F-DF34-375301924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Tokyo University of Science - Computational Materials Science Laboratory -</a:t>
            </a:r>
            <a:endParaRPr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3AF6EB71-B4E7-FDB4-2FA6-81B5E4C28AFA}"/>
                  </a:ext>
                </a:extLst>
              </p:cNvPr>
              <p:cNvSpPr txBox="1"/>
              <p:nvPr/>
            </p:nvSpPr>
            <p:spPr>
              <a:xfrm>
                <a:off x="292605" y="4871433"/>
                <a:ext cx="2728824" cy="490199"/>
              </a:xfrm>
              <a:prstGeom prst="rect">
                <a:avLst/>
              </a:prstGeom>
              <a:noFill/>
              <a:ln w="19050">
                <a:solidFill>
                  <a:schemeClr val="accent6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𝑡𝑖𝑝</m:t>
                          </m:r>
                        </m:sub>
                      </m:sSub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𝑎𝑝𝑝</m:t>
                          </m:r>
                        </m:sub>
                      </m:sSub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ja-JP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𝑑𝑖𝑠</m:t>
                          </m:r>
                        </m:sub>
                      </m:sSub>
                    </m:oMath>
                  </m:oMathPara>
                </a14:m>
                <a:endParaRPr kumimoji="1" lang="ja-JP" altLang="en-US" sz="2400" i="1"/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3AF6EB71-B4E7-FDB4-2FA6-81B5E4C28A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605" y="4871433"/>
                <a:ext cx="2728824" cy="490199"/>
              </a:xfrm>
              <a:prstGeom prst="rect">
                <a:avLst/>
              </a:prstGeom>
              <a:blipFill>
                <a:blip r:embed="rId8"/>
                <a:stretch>
                  <a:fillRect b="-4878"/>
                </a:stretch>
              </a:blipFill>
              <a:ln w="19050"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FF7141E9-0704-E2E5-AD51-684BD7F30235}"/>
                  </a:ext>
                </a:extLst>
              </p:cNvPr>
              <p:cNvSpPr txBox="1"/>
              <p:nvPr/>
            </p:nvSpPr>
            <p:spPr>
              <a:xfrm>
                <a:off x="2421204" y="4705969"/>
                <a:ext cx="7337983" cy="8751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1600" i="1" smtClean="0"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ja-JP" sz="1600" i="1">
                            <a:latin typeface="Cambria Math" panose="02040503050406030204" pitchFamily="18" charset="0"/>
                            <a:ea typeface="+mj-ea"/>
                          </a:rPr>
                          <m:t>𝐾</m:t>
                        </m:r>
                      </m:e>
                      <m:sub>
                        <m:r>
                          <a:rPr lang="en-US" altLang="ja-JP" sz="1600" i="1">
                            <a:latin typeface="Cambria Math" panose="02040503050406030204" pitchFamily="18" charset="0"/>
                            <a:ea typeface="+mj-ea"/>
                          </a:rPr>
                          <m:t>𝑡𝑖𝑝</m:t>
                        </m:r>
                      </m:sub>
                    </m:sSub>
                    <m:r>
                      <a:rPr lang="en-US" altLang="ja-JP" sz="1600" i="1">
                        <a:latin typeface="Cambria Math" panose="02040503050406030204" pitchFamily="18" charset="0"/>
                        <a:ea typeface="+mj-ea"/>
                      </a:rPr>
                      <m:t>:</m:t>
                    </m:r>
                  </m:oMath>
                </a14:m>
                <a:r>
                  <a:rPr lang="en-US" altLang="ja-JP" sz="1600" dirty="0">
                    <a:latin typeface="+mj-ea"/>
                    <a:ea typeface="+mj-ea"/>
                  </a:rPr>
                  <a:t>Stress intensity factor at crack-tip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1600" i="1"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ja-JP" sz="1600" i="1">
                            <a:latin typeface="Cambria Math" panose="02040503050406030204" pitchFamily="18" charset="0"/>
                            <a:ea typeface="+mj-ea"/>
                          </a:rPr>
                          <m:t>𝐾</m:t>
                        </m:r>
                      </m:e>
                      <m:sub>
                        <m:r>
                          <a:rPr lang="en-US" altLang="ja-JP" sz="1600" i="1">
                            <a:latin typeface="Cambria Math" panose="02040503050406030204" pitchFamily="18" charset="0"/>
                            <a:ea typeface="+mj-ea"/>
                          </a:rPr>
                          <m:t>𝑎𝑝𝑝</m:t>
                        </m:r>
                      </m:sub>
                    </m:sSub>
                  </m:oMath>
                </a14:m>
                <a:r>
                  <a:rPr lang="en-US" altLang="ja-JP" sz="1600" dirty="0">
                    <a:latin typeface="+mj-ea"/>
                    <a:ea typeface="+mj-ea"/>
                  </a:rPr>
                  <a:t>:Stress intensity factor due to external stress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ja-JP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𝐾</m:t>
                        </m:r>
                      </m:e>
                      <m:sub>
                        <m:r>
                          <a:rPr lang="en-US" altLang="ja-JP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𝑑𝑖𝑠</m:t>
                        </m:r>
                      </m:sub>
                    </m:sSub>
                  </m:oMath>
                </a14:m>
                <a:r>
                  <a:rPr lang="en-US" altLang="ja-JP" sz="1600" dirty="0">
                    <a:solidFill>
                      <a:schemeClr val="tx1"/>
                    </a:solidFill>
                    <a:latin typeface="+mj-ea"/>
                    <a:ea typeface="+mj-ea"/>
                  </a:rPr>
                  <a:t>:Stress intensity factor due to emitted dislocations (-)</a:t>
                </a:r>
                <a:endParaRPr lang="en-US" altLang="ja-JP" sz="1600" dirty="0">
                  <a:solidFill>
                    <a:srgbClr val="0000FF"/>
                  </a:solidFill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FF7141E9-0704-E2E5-AD51-684BD7F302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1204" y="4705969"/>
                <a:ext cx="7337983" cy="875111"/>
              </a:xfrm>
              <a:prstGeom prst="rect">
                <a:avLst/>
              </a:prstGeom>
              <a:blipFill>
                <a:blip r:embed="rId9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0BC6CB1-4087-6DAC-9377-BEFA36B47661}"/>
              </a:ext>
            </a:extLst>
          </p:cNvPr>
          <p:cNvSpPr txBox="1"/>
          <p:nvPr/>
        </p:nvSpPr>
        <p:spPr>
          <a:xfrm>
            <a:off x="289312" y="5784744"/>
            <a:ext cx="85963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2000" dirty="0">
                <a:latin typeface="+mn-ea"/>
              </a:rPr>
              <a:t>Shielding effect</a:t>
            </a:r>
            <a:r>
              <a:rPr lang="en-US" altLang="ja-JP" sz="2000" b="1" dirty="0">
                <a:latin typeface="+mn-ea"/>
              </a:rPr>
              <a:t> </a:t>
            </a:r>
            <a:r>
              <a:rPr lang="en-US" altLang="ja-JP" sz="2400" b="1" dirty="0">
                <a:latin typeface="+mn-ea"/>
              </a:rPr>
              <a:t>reduces stress concentration </a:t>
            </a:r>
            <a:r>
              <a:rPr lang="en-US" altLang="ja-JP" sz="2000" dirty="0">
                <a:latin typeface="+mn-ea"/>
              </a:rPr>
              <a:t>at crack tip</a:t>
            </a:r>
            <a:br>
              <a:rPr lang="en-US" altLang="ja-JP" sz="2000" dirty="0">
                <a:latin typeface="+mn-ea"/>
              </a:rPr>
            </a:br>
            <a:r>
              <a:rPr lang="en-US" altLang="ja-JP" sz="2000" u="sng" dirty="0">
                <a:latin typeface="+mn-ea"/>
              </a:rPr>
              <a:t>BDT occurs at temperature where cleavage fracture does not occur</a:t>
            </a:r>
            <a:endParaRPr kumimoji="1" lang="ja-JP" altLang="en-US" sz="2000" u="sng" dirty="0">
              <a:latin typeface="+mn-ea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15330E4-4F34-E367-10AC-2C7F32C4C133}"/>
              </a:ext>
            </a:extLst>
          </p:cNvPr>
          <p:cNvSpPr txBox="1"/>
          <p:nvPr/>
        </p:nvSpPr>
        <p:spPr>
          <a:xfrm>
            <a:off x="3013163" y="4709160"/>
            <a:ext cx="40876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ja-JP" sz="1100" dirty="0"/>
              <a:t>[1]</a:t>
            </a:r>
            <a:endParaRPr lang="ja-JP" altLang="en-US" sz="1100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44FDAA1-1112-88C4-930B-0919115CD0C4}"/>
              </a:ext>
            </a:extLst>
          </p:cNvPr>
          <p:cNvSpPr txBox="1"/>
          <p:nvPr/>
        </p:nvSpPr>
        <p:spPr>
          <a:xfrm>
            <a:off x="802295" y="1483137"/>
            <a:ext cx="22191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>
                <a:latin typeface="+mj-ea"/>
                <a:ea typeface="+mj-ea"/>
              </a:rPr>
              <a:t>Total stress field</a:t>
            </a:r>
            <a:endParaRPr kumimoji="1" lang="ja-JP" altLang="en-US" sz="2000" dirty="0">
              <a:latin typeface="+mj-ea"/>
              <a:ea typeface="+mj-ea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1048EA43-9470-8B6D-ED08-95E33DF6E64D}"/>
              </a:ext>
            </a:extLst>
          </p:cNvPr>
          <p:cNvSpPr txBox="1"/>
          <p:nvPr/>
        </p:nvSpPr>
        <p:spPr>
          <a:xfrm>
            <a:off x="3808620" y="1454579"/>
            <a:ext cx="20329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>
                <a:latin typeface="+mn-ea"/>
              </a:rPr>
              <a:t>External stress</a:t>
            </a:r>
            <a:endParaRPr kumimoji="1" lang="ja-JP" altLang="en-US" sz="2000" dirty="0">
              <a:latin typeface="+mn-ea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BD44E8DB-13DD-2734-5FF8-EA139F1A034A}"/>
              </a:ext>
            </a:extLst>
          </p:cNvPr>
          <p:cNvSpPr txBox="1"/>
          <p:nvPr/>
        </p:nvSpPr>
        <p:spPr>
          <a:xfrm>
            <a:off x="6439111" y="1461889"/>
            <a:ext cx="25987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>
                <a:latin typeface="+mj-ea"/>
                <a:ea typeface="+mj-ea"/>
              </a:rPr>
              <a:t>Emitted Dislocation</a:t>
            </a:r>
            <a:endParaRPr kumimoji="1" lang="ja-JP" altLang="en-US" sz="2000" dirty="0">
              <a:latin typeface="+mj-ea"/>
              <a:ea typeface="+mj-ea"/>
            </a:endParaRPr>
          </a:p>
        </p:txBody>
      </p:sp>
      <p:pic>
        <p:nvPicPr>
          <p:cNvPr id="6" name="2DD">
            <a:hlinkClick r:id="" action="ppaction://media"/>
            <a:extLst>
              <a:ext uri="{FF2B5EF4-FFF2-40B4-BE49-F238E27FC236}">
                <a16:creationId xmlns:a16="http://schemas.microsoft.com/office/drawing/2014/main" id="{854B21F4-19F6-DC4A-3867-BBBC7B91F55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670880" y="1810146"/>
            <a:ext cx="2606310" cy="2606310"/>
          </a:xfrm>
          <a:prstGeom prst="rect">
            <a:avLst/>
          </a:prstGeom>
        </p:spPr>
      </p:pic>
      <p:pic>
        <p:nvPicPr>
          <p:cNvPr id="7" name="2DD">
            <a:hlinkClick r:id="" action="ppaction://media"/>
            <a:extLst>
              <a:ext uri="{FF2B5EF4-FFF2-40B4-BE49-F238E27FC236}">
                <a16:creationId xmlns:a16="http://schemas.microsoft.com/office/drawing/2014/main" id="{8EF818DE-253D-71C6-E2A7-C930F62A9B2A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3566844" y="1810144"/>
            <a:ext cx="2606311" cy="2606311"/>
          </a:xfrm>
          <a:prstGeom prst="rect">
            <a:avLst/>
          </a:prstGeom>
        </p:spPr>
      </p:pic>
      <p:pic>
        <p:nvPicPr>
          <p:cNvPr id="8" name="2DD">
            <a:hlinkClick r:id="" action="ppaction://media"/>
            <a:extLst>
              <a:ext uri="{FF2B5EF4-FFF2-40B4-BE49-F238E27FC236}">
                <a16:creationId xmlns:a16="http://schemas.microsoft.com/office/drawing/2014/main" id="{78FC98D5-F4B8-6313-5269-5916C3894BE5}"/>
              </a:ext>
            </a:extLst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6462811" y="1818061"/>
            <a:ext cx="2606310" cy="2606310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8B746FF-69A8-CF21-BBFD-98EC829C309E}"/>
              </a:ext>
            </a:extLst>
          </p:cNvPr>
          <p:cNvSpPr txBox="1"/>
          <p:nvPr/>
        </p:nvSpPr>
        <p:spPr>
          <a:xfrm>
            <a:off x="6090196" y="2786608"/>
            <a:ext cx="4555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/>
              <a:t>+</a:t>
            </a:r>
            <a:endParaRPr kumimoji="1" lang="ja-JP" altLang="en-US" sz="320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EBB2D9D1-939F-FD13-8C69-B20E7EB7A55E}"/>
              </a:ext>
            </a:extLst>
          </p:cNvPr>
          <p:cNvSpPr txBox="1"/>
          <p:nvPr/>
        </p:nvSpPr>
        <p:spPr>
          <a:xfrm>
            <a:off x="3194229" y="2820911"/>
            <a:ext cx="4555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dirty="0"/>
              <a:t>=</a:t>
            </a:r>
            <a:endParaRPr kumimoji="1" lang="ja-JP" altLang="en-US" sz="320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43DDD535-F450-8FF2-CB38-9CC385ED6FDD}"/>
              </a:ext>
            </a:extLst>
          </p:cNvPr>
          <p:cNvSpPr/>
          <p:nvPr/>
        </p:nvSpPr>
        <p:spPr>
          <a:xfrm>
            <a:off x="3813161" y="699688"/>
            <a:ext cx="5465217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ja-JP" sz="1000" dirty="0"/>
              <a:t>[1] Tanaka, M., Tarleton, E. and </a:t>
            </a:r>
            <a:r>
              <a:rPr lang="en" altLang="ja-JP" sz="1000" dirty="0" err="1"/>
              <a:t>Roberts,S.G</a:t>
            </a:r>
            <a:r>
              <a:rPr lang="en" altLang="ja-JP" sz="1000" dirty="0"/>
              <a:t>., Acta Materialia, Vol.56 (2008), pp.5123-5129.</a:t>
            </a:r>
            <a:endParaRPr lang="ja-JP" altLang="en-US" sz="1000" dirty="0"/>
          </a:p>
        </p:txBody>
      </p:sp>
      <p:pic>
        <p:nvPicPr>
          <p:cNvPr id="28" name="図 27" descr="テーブル が含まれている画像&#10;&#10;自動的に生成された説明">
            <a:extLst>
              <a:ext uri="{FF2B5EF4-FFF2-40B4-BE49-F238E27FC236}">
                <a16:creationId xmlns:a16="http://schemas.microsoft.com/office/drawing/2014/main" id="{0B0E637D-EFCD-9E50-5291-5E8BD8C6B86C}"/>
              </a:ext>
            </a:extLst>
          </p:cNvPr>
          <p:cNvPicPr>
            <a:picLocks noChangeAspect="1"/>
          </p:cNvPicPr>
          <p:nvPr/>
        </p:nvPicPr>
        <p:blipFill>
          <a:blip r:embed="rId13">
            <a:clrChange>
              <a:clrFrom>
                <a:srgbClr val="48526C"/>
              </a:clrFrom>
              <a:clrTo>
                <a:srgbClr val="48526C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4253" y="1710521"/>
            <a:ext cx="558746" cy="282138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3EC86F2B-E5D8-C22F-B002-39503F4EED96}"/>
                  </a:ext>
                </a:extLst>
              </p:cNvPr>
              <p:cNvSpPr txBox="1"/>
              <p:nvPr/>
            </p:nvSpPr>
            <p:spPr>
              <a:xfrm>
                <a:off x="49405" y="1375342"/>
                <a:ext cx="549894" cy="3579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𝑦𝑦</m:t>
                          </m:r>
                        </m:sub>
                      </m:sSub>
                    </m:oMath>
                  </m:oMathPara>
                </a14:m>
                <a:endParaRPr kumimoji="1" lang="ja-JP" altLang="en-US" sz="1600"/>
              </a:p>
            </p:txBody>
          </p:sp>
        </mc:Choice>
        <mc:Fallback xmlns=""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3EC86F2B-E5D8-C22F-B002-39503F4EED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5" y="1375342"/>
                <a:ext cx="549894" cy="35798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3051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50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500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repeatCount="indefinite" fill="remove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17" repeatCount="indefinite" fill="remove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vol="80000">
                <p:cTn id="23" repeatCount="indefinite" fill="remove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8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91AD955-7FC7-D647-A28F-87AAC14CDF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-22144" y="822374"/>
            <a:ext cx="9144000" cy="3066370"/>
          </a:xfrm>
        </p:spPr>
        <p:txBody>
          <a:bodyPr/>
          <a:lstStyle/>
          <a:p>
            <a:r>
              <a:rPr lang="en-US" altLang="ja-JP" dirty="0"/>
              <a:t>Blunting process</a:t>
            </a:r>
          </a:p>
          <a:p>
            <a:pPr lvl="1"/>
            <a:endParaRPr lang="en-US" altLang="ja-JP" dirty="0"/>
          </a:p>
          <a:p>
            <a:pPr lvl="1"/>
            <a:endParaRPr lang="en-US" altLang="ja-JP" dirty="0"/>
          </a:p>
          <a:p>
            <a:pPr lvl="1"/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lvl="1"/>
            <a:endParaRPr lang="en-US" altLang="ja-JP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12C843B-F2BC-8848-BAC1-855E2527E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Crack</a:t>
            </a:r>
            <a:r>
              <a:rPr lang="en-US" altLang="ja-JP" dirty="0"/>
              <a:t>-tip blunting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28AF682-4917-0649-9FFA-3C304A99E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31907" y="6485870"/>
            <a:ext cx="415315" cy="344785"/>
          </a:xfrm>
        </p:spPr>
        <p:txBody>
          <a:bodyPr/>
          <a:lstStyle/>
          <a:p>
            <a:fld id="{D21F6909-ABCB-BB45-AC56-A8377246EBB2}" type="slidenum">
              <a:rPr lang="ja-JP" altLang="en-US" smtClean="0"/>
              <a:pPr/>
              <a:t>31</a:t>
            </a:fld>
            <a:endParaRPr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2E1C859-3734-4548-9B59-064519718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dirty="0"/>
              <a:t>Tokyo University of Science - Computational Materials Science Laboratory -</a:t>
            </a:r>
            <a:endParaRPr lang="ja-JP" altLang="en-US" dirty="0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4476BF6F-F267-7C46-B75E-44E327FB3077}"/>
              </a:ext>
            </a:extLst>
          </p:cNvPr>
          <p:cNvSpPr txBox="1"/>
          <p:nvPr/>
        </p:nvSpPr>
        <p:spPr>
          <a:xfrm>
            <a:off x="3516839" y="790506"/>
            <a:ext cx="466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[1]</a:t>
            </a:r>
            <a:endParaRPr kumimoji="1" lang="ja-JP" altLang="en-US" sz="1200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B97F34A-69C0-4692-AE91-651044C6A8CD}"/>
              </a:ext>
            </a:extLst>
          </p:cNvPr>
          <p:cNvSpPr/>
          <p:nvPr/>
        </p:nvSpPr>
        <p:spPr>
          <a:xfrm>
            <a:off x="6620300" y="351084"/>
            <a:ext cx="3561221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1000" dirty="0"/>
              <a:t>[1] X.H. Zeng. et </a:t>
            </a:r>
            <a:r>
              <a:rPr lang="en-US" altLang="ja-JP" sz="1000" dirty="0" err="1"/>
              <a:t>al,Acta</a:t>
            </a:r>
            <a:r>
              <a:rPr lang="en-US" altLang="ja-JP" sz="1000" dirty="0"/>
              <a:t> </a:t>
            </a:r>
            <a:r>
              <a:rPr lang="en-US" altLang="ja-JP" sz="1000" dirty="0" err="1"/>
              <a:t>Materialia</a:t>
            </a:r>
            <a:r>
              <a:rPr lang="en-US" altLang="ja-JP" sz="1000" dirty="0"/>
              <a:t> , 2009</a:t>
            </a:r>
            <a:endParaRPr lang="ja-JP" altLang="en-US" sz="1000" dirty="0"/>
          </a:p>
        </p:txBody>
      </p: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51E4DFAF-129C-84A9-EBD1-04E5AA047188}"/>
              </a:ext>
            </a:extLst>
          </p:cNvPr>
          <p:cNvGrpSpPr/>
          <p:nvPr/>
        </p:nvGrpSpPr>
        <p:grpSpPr>
          <a:xfrm>
            <a:off x="-71446" y="1279109"/>
            <a:ext cx="9286892" cy="3345324"/>
            <a:chOff x="-80912" y="2833214"/>
            <a:chExt cx="9286892" cy="3345324"/>
          </a:xfrm>
        </p:grpSpPr>
        <p:sp>
          <p:nvSpPr>
            <p:cNvPr id="92" name="右矢印 91">
              <a:extLst>
                <a:ext uri="{FF2B5EF4-FFF2-40B4-BE49-F238E27FC236}">
                  <a16:creationId xmlns:a16="http://schemas.microsoft.com/office/drawing/2014/main" id="{9E591F3C-6A06-EFDD-242C-F6429B3D6CDE}"/>
                </a:ext>
              </a:extLst>
            </p:cNvPr>
            <p:cNvSpPr/>
            <p:nvPr/>
          </p:nvSpPr>
          <p:spPr>
            <a:xfrm>
              <a:off x="2895214" y="4016471"/>
              <a:ext cx="344362" cy="756889"/>
            </a:xfrm>
            <a:prstGeom prst="righ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1" name="ストライプ矢印 110">
              <a:extLst>
                <a:ext uri="{FF2B5EF4-FFF2-40B4-BE49-F238E27FC236}">
                  <a16:creationId xmlns:a16="http://schemas.microsoft.com/office/drawing/2014/main" id="{F323D3F0-EEF6-9B58-ECC3-F95BAA73038D}"/>
                </a:ext>
              </a:extLst>
            </p:cNvPr>
            <p:cNvSpPr/>
            <p:nvPr/>
          </p:nvSpPr>
          <p:spPr>
            <a:xfrm>
              <a:off x="6010724" y="4016472"/>
              <a:ext cx="344362" cy="756889"/>
            </a:xfrm>
            <a:prstGeom prst="stripedRigh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2" name="図 11" descr="矢印 が含まれている画像&#10;&#10;自動的に生成された説明">
              <a:extLst>
                <a:ext uri="{FF2B5EF4-FFF2-40B4-BE49-F238E27FC236}">
                  <a16:creationId xmlns:a16="http://schemas.microsoft.com/office/drawing/2014/main" id="{98805B71-7B8A-4863-8AE8-28C73CBB1B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-80912" y="2833214"/>
              <a:ext cx="3148307" cy="3184287"/>
            </a:xfrm>
            <a:prstGeom prst="rect">
              <a:avLst/>
            </a:prstGeom>
          </p:spPr>
        </p:pic>
        <p:pic>
          <p:nvPicPr>
            <p:cNvPr id="13" name="図 12" descr="ダイアグラム が含まれている画像&#10;&#10;自動的に生成された説明">
              <a:extLst>
                <a:ext uri="{FF2B5EF4-FFF2-40B4-BE49-F238E27FC236}">
                  <a16:creationId xmlns:a16="http://schemas.microsoft.com/office/drawing/2014/main" id="{B07CAB2E-18ED-C140-0AA3-F52F86F5533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895214" y="2887778"/>
              <a:ext cx="3393408" cy="3290760"/>
            </a:xfrm>
            <a:prstGeom prst="rect">
              <a:avLst/>
            </a:prstGeom>
          </p:spPr>
        </p:pic>
        <p:pic>
          <p:nvPicPr>
            <p:cNvPr id="15" name="図 14" descr="ダイアグラム&#10;&#10;自動的に生成された説明">
              <a:extLst>
                <a:ext uri="{FF2B5EF4-FFF2-40B4-BE49-F238E27FC236}">
                  <a16:creationId xmlns:a16="http://schemas.microsoft.com/office/drawing/2014/main" id="{41473F86-C21D-CEE6-9FF0-1F96EA8CD89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055764" y="2929763"/>
              <a:ext cx="3150216" cy="3066370"/>
            </a:xfrm>
            <a:prstGeom prst="rect">
              <a:avLst/>
            </a:prstGeom>
          </p:spPr>
        </p:pic>
      </p:grp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2FF766E-817C-08B9-838D-D5D6B33C59AD}"/>
              </a:ext>
            </a:extLst>
          </p:cNvPr>
          <p:cNvSpPr txBox="1"/>
          <p:nvPr/>
        </p:nvSpPr>
        <p:spPr>
          <a:xfrm>
            <a:off x="106102" y="5293396"/>
            <a:ext cx="913192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latin typeface="+mj-ea"/>
                <a:ea typeface="+mj-ea"/>
              </a:rPr>
              <a:t>Blunted cracks have </a:t>
            </a:r>
            <a:r>
              <a:rPr kumimoji="1" lang="en-US" altLang="ja-JP" sz="2400" b="1" dirty="0">
                <a:latin typeface="+mj-ea"/>
                <a:ea typeface="+mj-ea"/>
              </a:rPr>
              <a:t>high fracture toughness</a:t>
            </a:r>
            <a:br>
              <a:rPr kumimoji="1" lang="en-US" altLang="ja-JP" sz="2400" dirty="0">
                <a:latin typeface="+mj-ea"/>
                <a:ea typeface="+mj-ea"/>
              </a:rPr>
            </a:br>
            <a:r>
              <a:rPr kumimoji="1" lang="en-US" altLang="ja-JP" sz="2400" b="1" u="sng" dirty="0">
                <a:solidFill>
                  <a:srgbClr val="FF0000"/>
                </a:solidFill>
                <a:latin typeface="+mj-ea"/>
                <a:ea typeface="+mj-ea"/>
              </a:rPr>
              <a:t>Microcracks fracture first </a:t>
            </a:r>
            <a:r>
              <a:rPr kumimoji="1" lang="en-US" altLang="ja-JP" sz="2400" u="sng" dirty="0">
                <a:latin typeface="+mj-ea"/>
                <a:ea typeface="+mj-ea"/>
              </a:rPr>
              <a:t>and combine with macrocracks</a:t>
            </a:r>
            <a:r>
              <a:rPr lang="en-US" altLang="ja-JP" sz="2400" u="sng" dirty="0">
                <a:latin typeface="+mj-ea"/>
                <a:ea typeface="+mj-ea"/>
              </a:rPr>
              <a:t> </a:t>
            </a:r>
            <a:br>
              <a:rPr lang="en-US" altLang="ja-JP" sz="2400" u="sng" dirty="0">
                <a:latin typeface="+mj-ea"/>
                <a:ea typeface="+mj-ea"/>
              </a:rPr>
            </a:br>
            <a:r>
              <a:rPr lang="en-US" altLang="ja-JP" sz="2400" u="sng" dirty="0">
                <a:latin typeface="+mj-ea"/>
                <a:ea typeface="+mj-ea"/>
              </a:rPr>
              <a:t>to progressively fracture</a:t>
            </a:r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E74CD3E4-EA64-17E9-62E9-B893B571F539}"/>
              </a:ext>
            </a:extLst>
          </p:cNvPr>
          <p:cNvGrpSpPr/>
          <p:nvPr/>
        </p:nvGrpSpPr>
        <p:grpSpPr>
          <a:xfrm>
            <a:off x="6231770" y="3954434"/>
            <a:ext cx="2882506" cy="1015662"/>
            <a:chOff x="6225168" y="2765452"/>
            <a:chExt cx="2882506" cy="1015662"/>
          </a:xfrm>
        </p:grpSpPr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A11FBD73-4802-D1CC-045D-353B2458C409}"/>
                </a:ext>
              </a:extLst>
            </p:cNvPr>
            <p:cNvSpPr/>
            <p:nvPr/>
          </p:nvSpPr>
          <p:spPr>
            <a:xfrm>
              <a:off x="6233960" y="2765452"/>
              <a:ext cx="2873714" cy="1015662"/>
            </a:xfrm>
            <a:prstGeom prst="rect">
              <a:avLst/>
            </a:prstGeom>
            <a:solidFill>
              <a:schemeClr val="bg1">
                <a:alpha val="15000"/>
              </a:schemeClr>
            </a:solidFill>
            <a:ln>
              <a:solidFill>
                <a:srgbClr val="EFA6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9D60CAC8-80D1-A1B8-EC07-DA8455A4D9C5}"/>
                </a:ext>
              </a:extLst>
            </p:cNvPr>
            <p:cNvSpPr txBox="1"/>
            <p:nvPr/>
          </p:nvSpPr>
          <p:spPr>
            <a:xfrm>
              <a:off x="6225168" y="2918118"/>
              <a:ext cx="2877711" cy="7078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000" dirty="0">
                  <a:latin typeface="+mn-ea"/>
                </a:rPr>
                <a:t>Crack-tip spread with </a:t>
              </a:r>
              <a:r>
                <a:rPr kumimoji="1" lang="en-US" altLang="ja-JP" sz="2000" b="1" dirty="0">
                  <a:latin typeface="+mn-ea"/>
                </a:rPr>
                <a:t>curvature</a:t>
              </a:r>
              <a:endParaRPr kumimoji="1" lang="ja-JP" altLang="en-US" sz="2000" b="1" dirty="0">
                <a:latin typeface="+mn-ea"/>
              </a:endParaRPr>
            </a:p>
          </p:txBody>
        </p: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A0F05597-FE1A-74AC-9ED5-6291C993F449}"/>
              </a:ext>
            </a:extLst>
          </p:cNvPr>
          <p:cNvGrpSpPr/>
          <p:nvPr/>
        </p:nvGrpSpPr>
        <p:grpSpPr>
          <a:xfrm>
            <a:off x="3151329" y="3954434"/>
            <a:ext cx="2891381" cy="1057635"/>
            <a:chOff x="6225168" y="2876146"/>
            <a:chExt cx="2891381" cy="1057635"/>
          </a:xfrm>
        </p:grpSpPr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4B698DAF-FA47-40F1-431C-012F9CC7B1A9}"/>
                </a:ext>
              </a:extLst>
            </p:cNvPr>
            <p:cNvSpPr/>
            <p:nvPr/>
          </p:nvSpPr>
          <p:spPr>
            <a:xfrm>
              <a:off x="6242835" y="2876146"/>
              <a:ext cx="2873714" cy="1015662"/>
            </a:xfrm>
            <a:prstGeom prst="rect">
              <a:avLst/>
            </a:prstGeom>
            <a:solidFill>
              <a:schemeClr val="bg1">
                <a:alpha val="15000"/>
              </a:schemeClr>
            </a:solidFill>
            <a:ln>
              <a:solidFill>
                <a:srgbClr val="EFA6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9EF34E85-7418-DFE0-11B9-C0E6DB69F27E}"/>
                </a:ext>
              </a:extLst>
            </p:cNvPr>
            <p:cNvSpPr txBox="1"/>
            <p:nvPr/>
          </p:nvSpPr>
          <p:spPr>
            <a:xfrm>
              <a:off x="6225168" y="2918118"/>
              <a:ext cx="2877711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000" dirty="0">
                  <a:latin typeface="+mn-ea"/>
                </a:rPr>
                <a:t>Emitted dislocations </a:t>
              </a:r>
              <a:r>
                <a:rPr kumimoji="1" lang="en-US" altLang="ja-JP" sz="2000" b="1" dirty="0">
                  <a:latin typeface="+mn-ea"/>
                </a:rPr>
                <a:t>become part of the crack-tip</a:t>
              </a:r>
            </a:p>
          </p:txBody>
        </p:sp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551E6F7-D4E8-1D8E-A74C-8DD3D0242DDD}"/>
              </a:ext>
            </a:extLst>
          </p:cNvPr>
          <p:cNvGrpSpPr/>
          <p:nvPr/>
        </p:nvGrpSpPr>
        <p:grpSpPr>
          <a:xfrm>
            <a:off x="13299" y="3965639"/>
            <a:ext cx="2891381" cy="1057635"/>
            <a:chOff x="6225168" y="2876146"/>
            <a:chExt cx="2891381" cy="1057635"/>
          </a:xfrm>
        </p:grpSpPr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C6F4CBBA-117E-E26C-0DE7-7641464ACA1F}"/>
                </a:ext>
              </a:extLst>
            </p:cNvPr>
            <p:cNvSpPr/>
            <p:nvPr/>
          </p:nvSpPr>
          <p:spPr>
            <a:xfrm>
              <a:off x="6242835" y="2876146"/>
              <a:ext cx="2873714" cy="1015662"/>
            </a:xfrm>
            <a:prstGeom prst="rect">
              <a:avLst/>
            </a:prstGeom>
            <a:solidFill>
              <a:schemeClr val="bg1">
                <a:alpha val="15000"/>
              </a:schemeClr>
            </a:solidFill>
            <a:ln>
              <a:solidFill>
                <a:srgbClr val="EFA6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4FE1C8BE-1B65-3839-81C7-AFE205ED2876}"/>
                </a:ext>
              </a:extLst>
            </p:cNvPr>
            <p:cNvSpPr txBox="1"/>
            <p:nvPr/>
          </p:nvSpPr>
          <p:spPr>
            <a:xfrm>
              <a:off x="6225168" y="2918118"/>
              <a:ext cx="2877711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000" dirty="0">
                  <a:latin typeface="+mn-ea"/>
                </a:rPr>
                <a:t>Dislocations are emitted from the crack-tip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116136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テキスト プレースホルダー 31">
            <a:extLst>
              <a:ext uri="{FF2B5EF4-FFF2-40B4-BE49-F238E27FC236}">
                <a16:creationId xmlns:a16="http://schemas.microsoft.com/office/drawing/2014/main" id="{027EB3CC-FC6C-3547-B94B-D186BC6C94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422" y="778895"/>
            <a:ext cx="7658645" cy="3066370"/>
          </a:xfrm>
        </p:spPr>
        <p:txBody>
          <a:bodyPr/>
          <a:lstStyle/>
          <a:p>
            <a:r>
              <a:rPr lang="en-US" altLang="ja-JP" dirty="0"/>
              <a:t>Representation of crack-tip blunting</a:t>
            </a:r>
          </a:p>
          <a:p>
            <a:pPr lvl="1"/>
            <a:r>
              <a:rPr lang="en-US" altLang="ja-JP" sz="2400" dirty="0"/>
              <a:t>Radius</a:t>
            </a:r>
            <a:r>
              <a:rPr lang="ja-JP" altLang="en-US" sz="2400" dirty="0"/>
              <a:t> </a:t>
            </a:r>
            <a:r>
              <a:rPr lang="en-US" altLang="ja-JP" sz="2400" dirty="0"/>
              <a:t>of</a:t>
            </a:r>
            <a:r>
              <a:rPr lang="ja-JP" altLang="en-US" sz="2400" dirty="0"/>
              <a:t> </a:t>
            </a:r>
            <a:r>
              <a:rPr lang="en-US" altLang="ja-JP" sz="2400" dirty="0"/>
              <a:t>curvature</a:t>
            </a:r>
          </a:p>
          <a:p>
            <a:pPr marL="2286000" lvl="5" indent="0">
              <a:buNone/>
            </a:pPr>
            <a:endParaRPr lang="en-US" altLang="ja-JP" dirty="0"/>
          </a:p>
          <a:p>
            <a:pPr lvl="5"/>
            <a:endParaRPr lang="en-US" altLang="ja-JP" dirty="0"/>
          </a:p>
          <a:p>
            <a:pPr lvl="5"/>
            <a:endParaRPr lang="en-US" altLang="ja-JP" dirty="0"/>
          </a:p>
          <a:p>
            <a:pPr lvl="5"/>
            <a:endParaRPr lang="en-US" altLang="ja-JP" dirty="0"/>
          </a:p>
          <a:p>
            <a:pPr lvl="5"/>
            <a:endParaRPr lang="en-US" altLang="ja-JP" dirty="0"/>
          </a:p>
          <a:p>
            <a:r>
              <a:rPr lang="en-US" altLang="ja-JP" dirty="0"/>
              <a:t>Stress</a:t>
            </a:r>
            <a:r>
              <a:rPr lang="ja-JP" altLang="en-US" dirty="0"/>
              <a:t> </a:t>
            </a:r>
            <a:r>
              <a:rPr lang="en-US" altLang="ja-JP" dirty="0"/>
              <a:t>field</a:t>
            </a:r>
            <a:r>
              <a:rPr lang="ja-JP" altLang="en-US" dirty="0"/>
              <a:t> </a:t>
            </a:r>
            <a:r>
              <a:rPr lang="en-US" altLang="ja-JP" dirty="0"/>
              <a:t>near</a:t>
            </a:r>
            <a:r>
              <a:rPr lang="ja-JP" altLang="en-US" dirty="0"/>
              <a:t> </a:t>
            </a:r>
            <a:r>
              <a:rPr lang="en-US" altLang="ja-JP" dirty="0"/>
              <a:t>macrocrack</a:t>
            </a:r>
            <a:r>
              <a:rPr lang="ja-JP" altLang="en-US" dirty="0"/>
              <a:t> </a:t>
            </a:r>
            <a:r>
              <a:rPr lang="en-US" altLang="ja-JP" dirty="0"/>
              <a:t>tip</a:t>
            </a:r>
          </a:p>
          <a:p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endParaRPr lang="en-US" altLang="ja-JP" dirty="0"/>
          </a:p>
          <a:p>
            <a:endParaRPr lang="ja-JP" alt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77CC87D-65A5-D74A-B087-77FEA2604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Macrocrack</a:t>
            </a:r>
            <a:r>
              <a:rPr lang="ja-JP" altLang="en-US" dirty="0"/>
              <a:t> </a:t>
            </a:r>
            <a:r>
              <a:rPr lang="en-US" altLang="ja-JP" dirty="0"/>
              <a:t>model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6D4DB45-B95C-3640-9041-D9711E50D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F6909-ABCB-BB45-AC56-A8377246EBB2}" type="slidenum">
              <a:rPr lang="ja-JP" altLang="en-US" smtClean="0"/>
              <a:pPr/>
              <a:t>32</a:t>
            </a:fld>
            <a:endParaRPr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C42D929-CFBE-DA47-ADF3-82F65D0F3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Tokyo University of Science - Computational Materials Science Laboratory -</a:t>
            </a:r>
            <a:endParaRPr lang="ja-JP" altLang="en-US" dirty="0"/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9D5A4909-B789-674F-B020-A7AE3419E8C4}"/>
              </a:ext>
            </a:extLst>
          </p:cNvPr>
          <p:cNvGrpSpPr/>
          <p:nvPr/>
        </p:nvGrpSpPr>
        <p:grpSpPr>
          <a:xfrm>
            <a:off x="188379" y="3960819"/>
            <a:ext cx="7637000" cy="2295976"/>
            <a:chOff x="-101425" y="1457548"/>
            <a:chExt cx="5858142" cy="229597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テキスト ボックス 93">
                  <a:extLst>
                    <a:ext uri="{FF2B5EF4-FFF2-40B4-BE49-F238E27FC236}">
                      <a16:creationId xmlns:a16="http://schemas.microsoft.com/office/drawing/2014/main" id="{E421E73E-9015-4A4A-9C34-51A2D98190DC}"/>
                    </a:ext>
                  </a:extLst>
                </p:cNvPr>
                <p:cNvSpPr txBox="1"/>
                <p:nvPr/>
              </p:nvSpPr>
              <p:spPr>
                <a:xfrm>
                  <a:off x="-101425" y="2951060"/>
                  <a:ext cx="5858142" cy="8024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sz="2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2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kumimoji="1" lang="en-US" altLang="ja-JP" sz="2200" b="0" i="1" smtClean="0">
                                <a:latin typeface="Cambria Math" panose="02040503050406030204" pitchFamily="18" charset="0"/>
                              </a:rPr>
                              <m:t>𝑥𝑦</m:t>
                            </m:r>
                          </m:sub>
                        </m:sSub>
                        <m:r>
                          <a:rPr kumimoji="1" lang="en-US" altLang="ja-JP" sz="2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kumimoji="1" lang="ja-JP" altLang="en-US" sz="2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kumimoji="1" lang="en-US" altLang="ja-JP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kumimoji="1" lang="en-US" altLang="ja-JP" sz="22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kumimoji="1" lang="en-US" altLang="ja-JP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𝑎𝑝𝑝</m:t>
                                </m:r>
                              </m:sub>
                            </m:sSub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kumimoji="1" lang="en-US" altLang="ja-JP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kumimoji="1" lang="en-US" altLang="ja-JP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kumimoji="1" lang="en-US" altLang="ja-JP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kumimoji="1" lang="en-US" altLang="ja-JP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rad>
                          </m:den>
                        </m:f>
                        <m:r>
                          <a:rPr kumimoji="1" lang="en-US" altLang="ja-JP" sz="2200" b="0" i="1" smtClean="0">
                            <a:latin typeface="Cambria Math" panose="02040503050406030204" pitchFamily="18" charset="0"/>
                          </a:rPr>
                          <m:t>𝑠𝑖𝑛</m:t>
                        </m:r>
                        <m:f>
                          <m:fPr>
                            <m:ctrlPr>
                              <a:rPr kumimoji="1" lang="en-US" altLang="ja-JP" sz="2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ja-JP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num>
                          <m:den>
                            <m:r>
                              <a:rPr kumimoji="1" lang="en-US" altLang="ja-JP" sz="2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kumimoji="1" lang="en-US" altLang="ja-JP" sz="2200" b="0" i="1" smtClean="0">
                            <a:latin typeface="Cambria Math" panose="02040503050406030204" pitchFamily="18" charset="0"/>
                          </a:rPr>
                          <m:t>𝑐𝑜𝑠</m:t>
                        </m:r>
                        <m:f>
                          <m:fPr>
                            <m:ctrlPr>
                              <a:rPr kumimoji="1" lang="en-US" altLang="ja-JP" sz="2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ja-JP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num>
                          <m:den>
                            <m:r>
                              <a:rPr kumimoji="1" lang="en-US" altLang="ja-JP" sz="2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kumimoji="1" lang="en-US" altLang="ja-JP" sz="2200" b="0" i="1" smtClean="0">
                            <a:latin typeface="Cambria Math" panose="02040503050406030204" pitchFamily="18" charset="0"/>
                          </a:rPr>
                          <m:t>𝑐𝑜𝑠</m:t>
                        </m:r>
                        <m:f>
                          <m:fPr>
                            <m:ctrlPr>
                              <a:rPr kumimoji="1" lang="en-US" altLang="ja-JP" sz="2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ja-JP" sz="2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kumimoji="1" lang="en-US" altLang="ja-JP" sz="2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kumimoji="1" lang="en-US" altLang="ja-JP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kumimoji="1" lang="ja-JP" alt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            </m:t>
                        </m:r>
                        <m:r>
                          <a:rPr kumimoji="1" lang="en-US" altLang="ja-JP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</m:t>
                        </m:r>
                        <m:r>
                          <a:rPr kumimoji="1" lang="en-US" altLang="ja-JP" sz="2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kumimoji="1" lang="en-US" altLang="ja-JP" sz="2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kumimoji="1" lang="en-US" altLang="ja-JP" sz="22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kumimoji="1" lang="en-US" altLang="ja-JP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𝑎𝑝𝑝</m:t>
                                </m:r>
                              </m:sub>
                            </m:sSub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kumimoji="1" lang="en-US" altLang="ja-JP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kumimoji="1" lang="en-US" altLang="ja-JP" sz="2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kumimoji="1" lang="en-US" altLang="ja-JP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kumimoji="1" lang="en-US" altLang="ja-JP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rad>
                          </m:den>
                        </m:f>
                        <m:r>
                          <a:rPr kumimoji="1" lang="en-US" altLang="ja-JP" sz="2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kumimoji="1" lang="en-US" altLang="ja-JP" sz="2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ja-JP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num>
                          <m:den>
                            <m:r>
                              <a:rPr kumimoji="1" lang="en-US" altLang="ja-JP" sz="2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kumimoji="1" lang="en-US" altLang="ja-JP" sz="22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  <m:r>
                          <a:rPr kumimoji="1" lang="en-US" altLang="ja-JP" sz="2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ja-JP" sz="2200" b="0" i="1" smtClean="0">
                            <a:latin typeface="Cambria Math" panose="02040503050406030204" pitchFamily="18" charset="0"/>
                          </a:rPr>
                          <m:t>𝑠𝑖𝑛</m:t>
                        </m:r>
                        <m:f>
                          <m:fPr>
                            <m:ctrlPr>
                              <a:rPr kumimoji="1" lang="en-US" altLang="ja-JP" sz="2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ja-JP" sz="2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kumimoji="1" lang="en-US" altLang="ja-JP" sz="2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kumimoji="1" lang="en-US" altLang="ja-JP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kumimoji="1" lang="ja-JP" altLang="en-US" sz="2200" dirty="0"/>
                </a:p>
              </p:txBody>
            </p:sp>
          </mc:Choice>
          <mc:Fallback xmlns="">
            <p:sp>
              <p:nvSpPr>
                <p:cNvPr id="94" name="テキスト ボックス 93">
                  <a:extLst>
                    <a:ext uri="{FF2B5EF4-FFF2-40B4-BE49-F238E27FC236}">
                      <a16:creationId xmlns:a16="http://schemas.microsoft.com/office/drawing/2014/main" id="{E421E73E-9015-4A4A-9C34-51A2D98190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01425" y="2951060"/>
                  <a:ext cx="5858142" cy="802464"/>
                </a:xfrm>
                <a:prstGeom prst="rect">
                  <a:avLst/>
                </a:prstGeom>
                <a:blipFill>
                  <a:blip r:embed="rId3"/>
                  <a:stretch>
                    <a:fillRect b="-1538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テキスト ボックス 90">
                  <a:extLst>
                    <a:ext uri="{FF2B5EF4-FFF2-40B4-BE49-F238E27FC236}">
                      <a16:creationId xmlns:a16="http://schemas.microsoft.com/office/drawing/2014/main" id="{832F4432-88BA-F445-AFCF-8ACDC3BCBB5D}"/>
                    </a:ext>
                  </a:extLst>
                </p:cNvPr>
                <p:cNvSpPr txBox="1"/>
                <p:nvPr/>
              </p:nvSpPr>
              <p:spPr>
                <a:xfrm>
                  <a:off x="18031" y="1457548"/>
                  <a:ext cx="5579137" cy="8024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sz="2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2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kumimoji="1" lang="en-US" altLang="ja-JP" sz="2200" b="0" i="1" smtClean="0">
                                <a:latin typeface="Cambria Math" panose="02040503050406030204" pitchFamily="18" charset="0"/>
                              </a:rPr>
                              <m:t>𝑥𝑥</m:t>
                            </m:r>
                          </m:sub>
                        </m:sSub>
                        <m:r>
                          <a:rPr kumimoji="1" lang="en-US" altLang="ja-JP" sz="2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kumimoji="1" lang="ja-JP" altLang="en-US" sz="2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kumimoji="1" lang="en-US" altLang="ja-JP" sz="2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kumimoji="1" lang="en-US" altLang="ja-JP" sz="22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kumimoji="1" lang="en-US" altLang="ja-JP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𝑎𝑝𝑝</m:t>
                                </m:r>
                              </m:sub>
                            </m:sSub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kumimoji="1" lang="en-US" altLang="ja-JP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kumimoji="1" lang="en-US" altLang="ja-JP" sz="2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kumimoji="1" lang="en-US" altLang="ja-JP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kumimoji="1" lang="en-US" altLang="ja-JP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rad>
                          </m:den>
                        </m:f>
                        <m:r>
                          <a:rPr kumimoji="1" lang="en-US" altLang="ja-JP" sz="2200" b="0" i="1" smtClean="0">
                            <a:latin typeface="Cambria Math" panose="02040503050406030204" pitchFamily="18" charset="0"/>
                          </a:rPr>
                          <m:t>𝑐𝑜𝑠</m:t>
                        </m:r>
                        <m:f>
                          <m:fPr>
                            <m:ctrlPr>
                              <a:rPr kumimoji="1" lang="en-US" altLang="ja-JP" sz="2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ja-JP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num>
                          <m:den>
                            <m:r>
                              <a:rPr kumimoji="1" lang="en-US" altLang="ja-JP" sz="2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d>
                          <m:dPr>
                            <m:ctrlPr>
                              <a:rPr kumimoji="1" lang="en-US" altLang="ja-JP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2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kumimoji="1" lang="en-US" altLang="ja-JP" sz="2200" b="0" i="1" smtClean="0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  <m:f>
                              <m:fPr>
                                <m:ctrlPr>
                                  <a:rPr kumimoji="1" lang="en-US" altLang="ja-JP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ja-JP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num>
                              <m:den>
                                <m:r>
                                  <a:rPr kumimoji="1" lang="en-US" altLang="ja-JP" sz="2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kumimoji="1" lang="en-US" altLang="ja-JP" sz="2200" b="0" i="1" smtClean="0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  <m:f>
                              <m:fPr>
                                <m:ctrlPr>
                                  <a:rPr kumimoji="1" lang="en-US" altLang="ja-JP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ja-JP" sz="22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kumimoji="1" lang="en-US" altLang="ja-JP" sz="2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kumimoji="1" lang="en-US" altLang="ja-JP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kumimoji="1" lang="ja-JP" altLang="en-US" sz="2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ja-JP" sz="2200" b="0" i="1" smtClean="0">
                            <a:latin typeface="Cambria Math" panose="02040503050406030204" pitchFamily="18" charset="0"/>
                          </a:rPr>
                          <m:t>   −</m:t>
                        </m:r>
                        <m:f>
                          <m:fPr>
                            <m:ctrlPr>
                              <a:rPr kumimoji="1" lang="en-US" altLang="ja-JP" sz="2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kumimoji="1" lang="en-US" altLang="ja-JP" sz="22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kumimoji="1" lang="en-US" altLang="ja-JP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𝑎𝑝𝑝</m:t>
                                </m:r>
                              </m:sub>
                            </m:sSub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kumimoji="1" lang="en-US" altLang="ja-JP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kumimoji="1" lang="en-US" altLang="ja-JP" sz="2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kumimoji="1" lang="en-US" altLang="ja-JP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kumimoji="1" lang="en-US" altLang="ja-JP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rad>
                          </m:den>
                        </m:f>
                        <m:r>
                          <a:rPr kumimoji="1" lang="en-US" altLang="ja-JP" sz="2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kumimoji="1" lang="en-US" altLang="ja-JP" sz="2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ja-JP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num>
                          <m:den>
                            <m:r>
                              <a:rPr kumimoji="1" lang="en-US" altLang="ja-JP" sz="2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kumimoji="1" lang="en-US" altLang="ja-JP" sz="22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  <m:r>
                          <a:rPr kumimoji="1" lang="en-US" altLang="ja-JP" sz="2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ja-JP" sz="2200" b="0" i="1" smtClean="0">
                            <a:latin typeface="Cambria Math" panose="02040503050406030204" pitchFamily="18" charset="0"/>
                          </a:rPr>
                          <m:t>𝑐𝑜𝑠</m:t>
                        </m:r>
                        <m:f>
                          <m:fPr>
                            <m:ctrlPr>
                              <a:rPr kumimoji="1" lang="en-US" altLang="ja-JP" sz="2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ja-JP" sz="2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kumimoji="1" lang="en-US" altLang="ja-JP" sz="2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kumimoji="1" lang="en-US" altLang="ja-JP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kumimoji="1" lang="ja-JP" altLang="en-US" sz="2200" dirty="0"/>
                </a:p>
              </p:txBody>
            </p:sp>
          </mc:Choice>
          <mc:Fallback xmlns="">
            <p:sp>
              <p:nvSpPr>
                <p:cNvPr id="91" name="テキスト ボックス 90">
                  <a:extLst>
                    <a:ext uri="{FF2B5EF4-FFF2-40B4-BE49-F238E27FC236}">
                      <a16:creationId xmlns:a16="http://schemas.microsoft.com/office/drawing/2014/main" id="{832F4432-88BA-F445-AFCF-8ACDC3BCBB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31" y="1457548"/>
                  <a:ext cx="5579137" cy="802464"/>
                </a:xfrm>
                <a:prstGeom prst="rect">
                  <a:avLst/>
                </a:prstGeom>
                <a:blipFill>
                  <a:blip r:embed="rId4"/>
                  <a:stretch>
                    <a:fillRect b="-156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テキスト ボックス 91">
                  <a:extLst>
                    <a:ext uri="{FF2B5EF4-FFF2-40B4-BE49-F238E27FC236}">
                      <a16:creationId xmlns:a16="http://schemas.microsoft.com/office/drawing/2014/main" id="{5C2C20C3-CFA9-EC4E-B4D0-77A23C21D60B}"/>
                    </a:ext>
                  </a:extLst>
                </p:cNvPr>
                <p:cNvSpPr txBox="1"/>
                <p:nvPr/>
              </p:nvSpPr>
              <p:spPr>
                <a:xfrm>
                  <a:off x="28359" y="2207597"/>
                  <a:ext cx="5591039" cy="8024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sz="2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2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kumimoji="1" lang="en-US" altLang="ja-JP" sz="2200" b="0" i="1" smtClean="0">
                                <a:latin typeface="Cambria Math" panose="02040503050406030204" pitchFamily="18" charset="0"/>
                              </a:rPr>
                              <m:t>𝑦𝑦</m:t>
                            </m:r>
                          </m:sub>
                        </m:sSub>
                        <m:r>
                          <a:rPr kumimoji="1" lang="en-US" altLang="ja-JP" sz="2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kumimoji="1" lang="ja-JP" altLang="en-US" sz="2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kumimoji="1" lang="en-US" altLang="ja-JP" sz="2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kumimoji="1" lang="en-US" altLang="ja-JP" sz="22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kumimoji="1" lang="en-US" altLang="ja-JP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𝑎𝑝𝑝</m:t>
                                </m:r>
                              </m:sub>
                            </m:sSub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kumimoji="1" lang="en-US" altLang="ja-JP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kumimoji="1" lang="en-US" altLang="ja-JP" sz="2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kumimoji="1" lang="en-US" altLang="ja-JP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kumimoji="1" lang="en-US" altLang="ja-JP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rad>
                          </m:den>
                        </m:f>
                        <m:r>
                          <a:rPr kumimoji="1" lang="en-US" altLang="ja-JP" sz="2200" b="0" i="1" smtClean="0">
                            <a:latin typeface="Cambria Math" panose="02040503050406030204" pitchFamily="18" charset="0"/>
                          </a:rPr>
                          <m:t>𝑐𝑜𝑠</m:t>
                        </m:r>
                        <m:f>
                          <m:fPr>
                            <m:ctrlPr>
                              <a:rPr kumimoji="1" lang="en-US" altLang="ja-JP" sz="2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ja-JP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num>
                          <m:den>
                            <m:r>
                              <a:rPr kumimoji="1" lang="en-US" altLang="ja-JP" sz="2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d>
                          <m:dPr>
                            <m:ctrlPr>
                              <a:rPr kumimoji="1" lang="en-US" altLang="ja-JP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200" b="0" i="1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kumimoji="1" lang="en-US" altLang="ja-JP" sz="2200" b="0" i="1" smtClean="0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  <m:f>
                              <m:fPr>
                                <m:ctrlPr>
                                  <a:rPr kumimoji="1" lang="en-US" altLang="ja-JP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ja-JP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num>
                              <m:den>
                                <m:r>
                                  <a:rPr kumimoji="1" lang="en-US" altLang="ja-JP" sz="2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kumimoji="1" lang="en-US" altLang="ja-JP" sz="2200" b="0" i="1" smtClean="0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  <m:f>
                              <m:fPr>
                                <m:ctrlPr>
                                  <a:rPr kumimoji="1" lang="en-US" altLang="ja-JP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ja-JP" sz="22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kumimoji="1" lang="en-US" altLang="ja-JP" sz="2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kumimoji="1" lang="en-US" altLang="ja-JP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kumimoji="1" lang="ja-JP" altLang="en-US" sz="22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kumimoji="1" lang="en-US" altLang="ja-JP" sz="2200" b="0" i="1" smtClean="0">
                            <a:latin typeface="Cambria Math" panose="02040503050406030204" pitchFamily="18" charset="0"/>
                          </a:rPr>
                          <m:t>  +</m:t>
                        </m:r>
                        <m:f>
                          <m:fPr>
                            <m:ctrlPr>
                              <a:rPr kumimoji="1" lang="en-US" altLang="ja-JP" sz="2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kumimoji="1" lang="en-US" altLang="ja-JP" sz="22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kumimoji="1" lang="en-US" altLang="ja-JP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𝑎𝑝𝑝</m:t>
                                </m:r>
                              </m:sub>
                            </m:sSub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kumimoji="1" lang="en-US" altLang="ja-JP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kumimoji="1" lang="en-US" altLang="ja-JP" sz="2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kumimoji="1" lang="en-US" altLang="ja-JP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kumimoji="1" lang="en-US" altLang="ja-JP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rad>
                          </m:den>
                        </m:f>
                        <m:r>
                          <a:rPr kumimoji="1" lang="en-US" altLang="ja-JP" sz="2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kumimoji="1" lang="en-US" altLang="ja-JP" sz="2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ja-JP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num>
                          <m:den>
                            <m:r>
                              <a:rPr kumimoji="1" lang="en-US" altLang="ja-JP" sz="2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kumimoji="1" lang="en-US" altLang="ja-JP" sz="22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  <m:r>
                          <a:rPr kumimoji="1" lang="en-US" altLang="ja-JP" sz="2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ja-JP" sz="2200" b="0" i="1" smtClean="0">
                            <a:latin typeface="Cambria Math" panose="02040503050406030204" pitchFamily="18" charset="0"/>
                          </a:rPr>
                          <m:t>𝑐𝑜𝑠</m:t>
                        </m:r>
                        <m:f>
                          <m:fPr>
                            <m:ctrlPr>
                              <a:rPr kumimoji="1" lang="en-US" altLang="ja-JP" sz="2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ja-JP" sz="2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kumimoji="1" lang="en-US" altLang="ja-JP" sz="2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kumimoji="1" lang="en-US" altLang="ja-JP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kumimoji="1" lang="ja-JP" altLang="en-US" sz="2200" dirty="0"/>
                </a:p>
              </p:txBody>
            </p:sp>
          </mc:Choice>
          <mc:Fallback xmlns="">
            <p:sp>
              <p:nvSpPr>
                <p:cNvPr id="92" name="テキスト ボックス 91">
                  <a:extLst>
                    <a:ext uri="{FF2B5EF4-FFF2-40B4-BE49-F238E27FC236}">
                      <a16:creationId xmlns:a16="http://schemas.microsoft.com/office/drawing/2014/main" id="{5C2C20C3-CFA9-EC4E-B4D0-77A23C21D6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359" y="2207597"/>
                  <a:ext cx="5591039" cy="802464"/>
                </a:xfrm>
                <a:prstGeom prst="rect">
                  <a:avLst/>
                </a:prstGeom>
                <a:blipFill>
                  <a:blip r:embed="rId5"/>
                  <a:stretch>
                    <a:fillRect b="-156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1" name="正方形/長方形 140">
            <a:extLst>
              <a:ext uri="{FF2B5EF4-FFF2-40B4-BE49-F238E27FC236}">
                <a16:creationId xmlns:a16="http://schemas.microsoft.com/office/drawing/2014/main" id="{03170634-E3E2-354C-9872-359A762ED1B2}"/>
              </a:ext>
            </a:extLst>
          </p:cNvPr>
          <p:cNvSpPr/>
          <p:nvPr/>
        </p:nvSpPr>
        <p:spPr>
          <a:xfrm>
            <a:off x="5652689" y="411234"/>
            <a:ext cx="406896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1000" dirty="0"/>
              <a:t>[1] </a:t>
            </a:r>
            <a:r>
              <a:rPr lang="en-US" altLang="ja-JP" sz="1000" dirty="0" err="1"/>
              <a:t>McMeeking</a:t>
            </a:r>
            <a:r>
              <a:rPr lang="en-US" altLang="ja-JP" sz="1000" dirty="0"/>
              <a:t>, R.M.</a:t>
            </a:r>
            <a:r>
              <a:rPr lang="ja-JP" altLang="en-US" sz="1000"/>
              <a:t> </a:t>
            </a:r>
            <a:r>
              <a:rPr lang="en-US" altLang="ja-JP" sz="1000" dirty="0" err="1"/>
              <a:t>et.al</a:t>
            </a:r>
            <a:r>
              <a:rPr lang="en-US" altLang="ja-JP" sz="1000" dirty="0"/>
              <a:t>, J. Mech. Phys. Solids 25, 1977</a:t>
            </a:r>
          </a:p>
        </p:txBody>
      </p:sp>
      <p:sp>
        <p:nvSpPr>
          <p:cNvPr id="142" name="テキスト ボックス 141">
            <a:extLst>
              <a:ext uri="{FF2B5EF4-FFF2-40B4-BE49-F238E27FC236}">
                <a16:creationId xmlns:a16="http://schemas.microsoft.com/office/drawing/2014/main" id="{F1A840B3-0859-EC43-AC13-14969B6EC02D}"/>
              </a:ext>
            </a:extLst>
          </p:cNvPr>
          <p:cNvSpPr txBox="1"/>
          <p:nvPr/>
        </p:nvSpPr>
        <p:spPr>
          <a:xfrm>
            <a:off x="7245164" y="702974"/>
            <a:ext cx="3722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sz="1200" dirty="0"/>
              <a:t>[1]</a:t>
            </a:r>
            <a:endParaRPr kumimoji="1" lang="ja-JP" alt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テキスト ボックス 43">
                <a:extLst>
                  <a:ext uri="{FF2B5EF4-FFF2-40B4-BE49-F238E27FC236}">
                    <a16:creationId xmlns:a16="http://schemas.microsoft.com/office/drawing/2014/main" id="{1C13C026-EBCC-B94C-86F2-4C09CAA4A9B0}"/>
                  </a:ext>
                </a:extLst>
              </p:cNvPr>
              <p:cNvSpPr txBox="1"/>
              <p:nvPr/>
            </p:nvSpPr>
            <p:spPr>
              <a:xfrm>
                <a:off x="997482" y="2318282"/>
                <a:ext cx="3574518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kumimoji="1" lang="en-US" altLang="ja-JP" dirty="0"/>
                  <a:t>  : </a:t>
                </a:r>
                <a:r>
                  <a:rPr kumimoji="1" lang="en-US" altLang="ja-JP" dirty="0">
                    <a:latin typeface="+mn-ea"/>
                  </a:rPr>
                  <a:t>Number of dislocations</a:t>
                </a:r>
              </a:p>
              <a:p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ja-JP" dirty="0"/>
                  <a:t>   : </a:t>
                </a:r>
                <a:r>
                  <a:rPr lang="en-US" altLang="ja-JP" dirty="0">
                    <a:latin typeface="+mj-ea"/>
                    <a:ea typeface="+mj-ea"/>
                  </a:rPr>
                  <a:t>Burgers vector </a:t>
                </a:r>
              </a:p>
              <a:p>
                <a14:m>
                  <m:oMath xmlns:m="http://schemas.openxmlformats.org/officeDocument/2006/math">
                    <m:r>
                      <a:rPr lang="ja-JP" altLang="en-US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ja-JP" altLang="en-US" dirty="0"/>
                  <a:t> </a:t>
                </a:r>
                <a:r>
                  <a:rPr lang="en-US" altLang="ja-JP" dirty="0"/>
                  <a:t>  : </a:t>
                </a:r>
                <a:r>
                  <a:rPr lang="en-US" altLang="ja-JP" dirty="0">
                    <a:latin typeface="+mn-ea"/>
                  </a:rPr>
                  <a:t>Slip-plane angle </a:t>
                </a:r>
                <a:endParaRPr kumimoji="1" lang="en-US" altLang="ja-JP" dirty="0">
                  <a:latin typeface="+mn-ea"/>
                </a:endParaRPr>
              </a:p>
            </p:txBody>
          </p:sp>
        </mc:Choice>
        <mc:Fallback xmlns="">
          <p:sp>
            <p:nvSpPr>
              <p:cNvPr id="44" name="テキスト ボックス 43">
                <a:extLst>
                  <a:ext uri="{FF2B5EF4-FFF2-40B4-BE49-F238E27FC236}">
                    <a16:creationId xmlns:a16="http://schemas.microsoft.com/office/drawing/2014/main" id="{1C13C026-EBCC-B94C-86F2-4C09CAA4A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482" y="2318282"/>
                <a:ext cx="3574518" cy="923330"/>
              </a:xfrm>
              <a:prstGeom prst="rect">
                <a:avLst/>
              </a:prstGeom>
              <a:blipFill>
                <a:blip r:embed="rId6"/>
                <a:stretch>
                  <a:fillRect t="-4605" b="-1052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F5286FBC-EB4D-204E-B40A-A3A804A73812}"/>
              </a:ext>
            </a:extLst>
          </p:cNvPr>
          <p:cNvSpPr txBox="1"/>
          <p:nvPr/>
        </p:nvSpPr>
        <p:spPr>
          <a:xfrm>
            <a:off x="6356225" y="3301471"/>
            <a:ext cx="3722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sz="1200" dirty="0"/>
              <a:t>[6]</a:t>
            </a:r>
            <a:endParaRPr kumimoji="1" lang="ja-JP" altLang="en-US" sz="1200" dirty="0"/>
          </a:p>
        </p:txBody>
      </p:sp>
      <p:pic>
        <p:nvPicPr>
          <p:cNvPr id="3" name="図 2" descr="アイコン が含まれている画像&#10;&#10;自動的に生成された説明">
            <a:extLst>
              <a:ext uri="{FF2B5EF4-FFF2-40B4-BE49-F238E27FC236}">
                <a16:creationId xmlns:a16="http://schemas.microsoft.com/office/drawing/2014/main" id="{B1C5192F-A74A-E9E2-83AB-8631EEB665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8236" y="1154054"/>
            <a:ext cx="2503021" cy="2972337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CA19CED-3DBC-351F-6F46-D99182FF065C}"/>
              </a:ext>
            </a:extLst>
          </p:cNvPr>
          <p:cNvSpPr txBox="1"/>
          <p:nvPr/>
        </p:nvSpPr>
        <p:spPr>
          <a:xfrm>
            <a:off x="997482" y="1711148"/>
            <a:ext cx="17235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2800" dirty="0"/>
              <a:t>𝜌</a:t>
            </a:r>
            <a:r>
              <a:rPr kumimoji="1" lang="en-US" altLang="ja-JP" sz="2800" dirty="0"/>
              <a:t>=</a:t>
            </a:r>
            <a:r>
              <a:rPr kumimoji="1" lang="ja-JP" altLang="en-US" sz="2800" dirty="0"/>
              <a:t>𝑁𝑏𝑠𝑖𝑛𝛼</a:t>
            </a:r>
          </a:p>
        </p:txBody>
      </p:sp>
    </p:spTree>
    <p:extLst>
      <p:ext uri="{BB962C8B-B14F-4D97-AF65-F5344CB8AC3E}">
        <p14:creationId xmlns:p14="http://schemas.microsoft.com/office/powerpoint/2010/main" val="660519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495FD0-C83B-8C61-839E-41317821B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Temperature</a:t>
            </a:r>
            <a:r>
              <a:rPr lang="ja-JP" altLang="en-US" dirty="0"/>
              <a:t> </a:t>
            </a:r>
            <a:r>
              <a:rPr lang="en-US" altLang="ja-JP" dirty="0"/>
              <a:t>dependence</a:t>
            </a:r>
            <a:r>
              <a:rPr lang="ja-JP" altLang="en-US" dirty="0"/>
              <a:t> </a:t>
            </a:r>
            <a:r>
              <a:rPr lang="en-US" altLang="ja-JP" dirty="0"/>
              <a:t>of</a:t>
            </a:r>
            <a:r>
              <a:rPr lang="ja-JP" altLang="en-US" dirty="0"/>
              <a:t> </a:t>
            </a:r>
            <a:r>
              <a:rPr lang="en-US" altLang="ja-JP" dirty="0"/>
              <a:t>dislocation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032D3F0-2903-0654-9090-370469A596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350" y="829226"/>
            <a:ext cx="6492152" cy="3066370"/>
          </a:xfrm>
        </p:spPr>
        <p:txBody>
          <a:bodyPr/>
          <a:lstStyle/>
          <a:p>
            <a:r>
              <a:rPr lang="en-US" altLang="ja-JP" dirty="0"/>
              <a:t>Dislocation emitted conditions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CC935DA-1A37-43C7-D9BC-99882F70A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F6909-ABCB-BB45-AC56-A8377246EBB2}" type="slidenum">
              <a:rPr lang="ja-JP" altLang="en-US" smtClean="0"/>
              <a:pPr/>
              <a:t>33</a:t>
            </a:fld>
            <a:endParaRPr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308C937-EFBA-A19B-DEC1-9AD38EAD3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Tokyo University of Science - Computational Materials Science Laboratory -</a:t>
            </a:r>
            <a:endParaRPr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E5F079E-A76F-3BA4-6507-56FA190C19DA}"/>
                  </a:ext>
                </a:extLst>
              </p:cNvPr>
              <p:cNvSpPr txBox="1"/>
              <p:nvPr/>
            </p:nvSpPr>
            <p:spPr>
              <a:xfrm>
                <a:off x="652767" y="2157384"/>
                <a:ext cx="1264833" cy="491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ja-JP" altLang="en-US" sz="2400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kumimoji="1" lang="en-US" altLang="ja-JP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E5F079E-A76F-3BA4-6507-56FA190C19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67" y="2157384"/>
                <a:ext cx="1264833" cy="491288"/>
              </a:xfrm>
              <a:prstGeom prst="rect">
                <a:avLst/>
              </a:prstGeom>
              <a:blipFill>
                <a:blip r:embed="rId2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2EABD403-1985-9277-7201-BDEC35939E56}"/>
                  </a:ext>
                </a:extLst>
              </p:cNvPr>
              <p:cNvSpPr txBox="1"/>
              <p:nvPr/>
            </p:nvSpPr>
            <p:spPr>
              <a:xfrm>
                <a:off x="652575" y="1429279"/>
                <a:ext cx="1265025" cy="7300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num>
                        <m:den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2EABD403-1985-9277-7201-BDEC35939E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575" y="1429279"/>
                <a:ext cx="1265025" cy="7300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E9AD1F41-9696-45A6-3BB0-BBB69239A2CC}"/>
                  </a:ext>
                </a:extLst>
              </p:cNvPr>
              <p:cNvSpPr txBox="1"/>
              <p:nvPr/>
            </p:nvSpPr>
            <p:spPr>
              <a:xfrm>
                <a:off x="652575" y="2844663"/>
                <a:ext cx="405938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i="1" smtClean="0">
                        <a:latin typeface="Cambria Math" panose="02040503050406030204" pitchFamily="18" charset="0"/>
                        <a:ea typeface="+mj-ea"/>
                      </a:rPr>
                      <m:t>𝜏</m:t>
                    </m:r>
                  </m:oMath>
                </a14:m>
                <a:r>
                  <a:rPr kumimoji="1" lang="en-US" altLang="ja-JP" dirty="0">
                    <a:latin typeface="+mj-ea"/>
                    <a:ea typeface="+mj-ea"/>
                  </a:rPr>
                  <a:t>  : </a:t>
                </a:r>
                <a:r>
                  <a:rPr lang="en-US" altLang="ja-JP" dirty="0">
                    <a:latin typeface="+mj-ea"/>
                    <a:ea typeface="+mj-ea"/>
                  </a:rPr>
                  <a:t>Shear stress </a:t>
                </a:r>
                <a:br>
                  <a:rPr lang="en-US" altLang="ja-JP" dirty="0">
                    <a:latin typeface="+mj-ea"/>
                    <a:ea typeface="+mj-ea"/>
                  </a:rPr>
                </a:br>
                <a:r>
                  <a:rPr lang="en-US" altLang="ja-JP" dirty="0">
                    <a:latin typeface="+mj-ea"/>
                    <a:ea typeface="+mj-ea"/>
                  </a:rPr>
                  <a:t>     at dislocation source</a:t>
                </a:r>
                <a:endParaRPr kumimoji="1" lang="en-US" altLang="ja-JP" dirty="0"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E9AD1F41-9696-45A6-3BB0-BBB69239A2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575" y="2844663"/>
                <a:ext cx="4059381" cy="646331"/>
              </a:xfrm>
              <a:prstGeom prst="rect">
                <a:avLst/>
              </a:prstGeom>
              <a:blipFill>
                <a:blip r:embed="rId4"/>
                <a:stretch>
                  <a:fillRect t="-3774" b="-1509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図 8" descr="グラフ, 折れ線グラフ&#10;&#10;自動的に生成された説明">
            <a:extLst>
              <a:ext uri="{FF2B5EF4-FFF2-40B4-BE49-F238E27FC236}">
                <a16:creationId xmlns:a16="http://schemas.microsoft.com/office/drawing/2014/main" id="{4BE749EB-C32B-89C7-4504-2651F2A4495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100" t="4917" r="2650" b="2693"/>
          <a:stretch/>
        </p:blipFill>
        <p:spPr>
          <a:xfrm>
            <a:off x="4266369" y="1339678"/>
            <a:ext cx="4788238" cy="2928773"/>
          </a:xfrm>
          <a:prstGeom prst="rect">
            <a:avLst/>
          </a:prstGeom>
        </p:spPr>
      </p:pic>
      <p:sp>
        <p:nvSpPr>
          <p:cNvPr id="10" name="円弧 9">
            <a:extLst>
              <a:ext uri="{FF2B5EF4-FFF2-40B4-BE49-F238E27FC236}">
                <a16:creationId xmlns:a16="http://schemas.microsoft.com/office/drawing/2014/main" id="{587B746B-2B97-DF25-772D-D541D58BD0A4}"/>
              </a:ext>
            </a:extLst>
          </p:cNvPr>
          <p:cNvSpPr/>
          <p:nvPr/>
        </p:nvSpPr>
        <p:spPr>
          <a:xfrm>
            <a:off x="1670184" y="1364342"/>
            <a:ext cx="4059381" cy="776879"/>
          </a:xfrm>
          <a:prstGeom prst="arc">
            <a:avLst>
              <a:gd name="adj1" fmla="val 11067198"/>
              <a:gd name="adj2" fmla="val 20232069"/>
            </a:avLst>
          </a:prstGeom>
          <a:ln w="38100">
            <a:solidFill>
              <a:srgbClr val="FF000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プレースホルダー 2">
            <a:extLst>
              <a:ext uri="{FF2B5EF4-FFF2-40B4-BE49-F238E27FC236}">
                <a16:creationId xmlns:a16="http://schemas.microsoft.com/office/drawing/2014/main" id="{261C1EDD-6A81-3D17-EB37-9AAED71C831C}"/>
              </a:ext>
            </a:extLst>
          </p:cNvPr>
          <p:cNvSpPr txBox="1">
            <a:spLocks/>
          </p:cNvSpPr>
          <p:nvPr/>
        </p:nvSpPr>
        <p:spPr>
          <a:xfrm>
            <a:off x="188379" y="4008215"/>
            <a:ext cx="6492152" cy="3066370"/>
          </a:xfrm>
          <a:prstGeom prst="rect">
            <a:avLst/>
          </a:prstGeom>
        </p:spPr>
        <p:txBody>
          <a:bodyPr vert="horz"/>
          <a:lstStyle>
            <a:lvl1pPr marL="342000" indent="-3429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spcAft>
                <a:spcPts val="400"/>
              </a:spcAft>
              <a:buClr>
                <a:schemeClr val="accent6">
                  <a:lumMod val="75000"/>
                </a:schemeClr>
              </a:buClr>
              <a:buSzPct val="140000"/>
              <a:buFont typeface="ヒラギノ角ゴ ProN W3"/>
              <a:buChar char="|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600" indent="-392400" algn="l" defTabSz="914400" rtl="0" eaLnBrk="1" latinLnBrk="0" hangingPunct="1">
              <a:lnSpc>
                <a:spcPct val="100000"/>
              </a:lnSpc>
              <a:spcBef>
                <a:spcPts val="225"/>
              </a:spcBef>
              <a:buClr>
                <a:schemeClr val="accent6">
                  <a:lumMod val="75000"/>
                </a:schemeClr>
              </a:buClr>
              <a:buSzPct val="75000"/>
              <a:buFont typeface="Wingdings" charset="2"/>
              <a:buChar char="n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410400" algn="l" defTabSz="914400" rtl="0" eaLnBrk="1" latinLnBrk="0" hangingPunct="1">
              <a:lnSpc>
                <a:spcPct val="100000"/>
              </a:lnSpc>
              <a:spcBef>
                <a:spcPts val="25"/>
              </a:spcBef>
              <a:buClr>
                <a:schemeClr val="accent6">
                  <a:lumMod val="75000"/>
                </a:schemeClr>
              </a:buClr>
              <a:buSzPct val="120000"/>
              <a:buFont typeface="HiraKakuProN-W3" charset="-128"/>
              <a:buChar char="−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25"/>
              </a:spcBef>
              <a:buClr>
                <a:schemeClr val="accent6">
                  <a:lumMod val="75000"/>
                </a:schemeClr>
              </a:buClr>
              <a:buFont typeface="Arial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25"/>
              </a:spcBef>
              <a:buClr>
                <a:schemeClr val="accent6">
                  <a:lumMod val="75000"/>
                </a:schemeClr>
              </a:buClr>
              <a:buFont typeface="Arial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>
                <a:latin typeface="+mj-ea"/>
                <a:ea typeface="+mj-ea"/>
              </a:rPr>
              <a:t>Velocity</a:t>
            </a:r>
            <a:r>
              <a:rPr lang="ja-JP" altLang="en-US" dirty="0">
                <a:latin typeface="+mj-ea"/>
                <a:ea typeface="+mj-ea"/>
              </a:rPr>
              <a:t> </a:t>
            </a:r>
            <a:r>
              <a:rPr lang="en-US" altLang="ja-JP" dirty="0">
                <a:latin typeface="+mj-ea"/>
                <a:ea typeface="+mj-ea"/>
              </a:rPr>
              <a:t>of</a:t>
            </a:r>
            <a:r>
              <a:rPr lang="ja-JP" altLang="en-US" dirty="0">
                <a:latin typeface="+mj-ea"/>
                <a:ea typeface="+mj-ea"/>
              </a:rPr>
              <a:t> </a:t>
            </a:r>
            <a:r>
              <a:rPr lang="en-US" altLang="ja-JP" dirty="0">
                <a:latin typeface="+mj-ea"/>
                <a:ea typeface="+mj-ea"/>
              </a:rPr>
              <a:t>dislocations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テキスト ボックス 1">
                <a:extLst>
                  <a:ext uri="{FF2B5EF4-FFF2-40B4-BE49-F238E27FC236}">
                    <a16:creationId xmlns:a16="http://schemas.microsoft.com/office/drawing/2014/main" id="{85CD3472-D344-6946-5EFA-179508992088}"/>
                  </a:ext>
                </a:extLst>
              </p:cNvPr>
              <p:cNvSpPr txBox="1"/>
              <p:nvPr/>
            </p:nvSpPr>
            <p:spPr>
              <a:xfrm>
                <a:off x="5581931" y="4877663"/>
                <a:ext cx="3373690" cy="1234633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ajor"/>
            </p:style>
            <p:txBody>
              <a:bodyPr wrap="square" lIns="0" tIns="0" rIns="0" bIns="0" rtlCol="0">
                <a:spAutoFit/>
              </a:bodyPr>
              <a:lstStyle>
                <a:lvl1pPr>
                  <a:defRPr>
                    <a:latin typeface="+mj-lt"/>
                    <a:ea typeface="+mj-ea"/>
                    <a:cs typeface="+mj-cs"/>
                  </a:defRPr>
                </a:lvl1pPr>
                <a:lvl2pPr>
                  <a:defRPr>
                    <a:latin typeface="+mj-lt"/>
                    <a:ea typeface="+mj-ea"/>
                    <a:cs typeface="+mj-cs"/>
                  </a:defRPr>
                </a:lvl2pPr>
                <a:lvl3pPr>
                  <a:defRPr>
                    <a:latin typeface="+mj-lt"/>
                    <a:ea typeface="+mj-ea"/>
                    <a:cs typeface="+mj-cs"/>
                  </a:defRPr>
                </a:lvl3pPr>
                <a:lvl4pPr>
                  <a:defRPr>
                    <a:latin typeface="+mj-lt"/>
                    <a:ea typeface="+mj-ea"/>
                    <a:cs typeface="+mj-cs"/>
                  </a:defRPr>
                </a:lvl4pPr>
                <a:lvl5pPr>
                  <a:defRPr>
                    <a:latin typeface="+mj-lt"/>
                    <a:ea typeface="+mj-ea"/>
                    <a:cs typeface="+mj-cs"/>
                  </a:defRPr>
                </a:lvl5pPr>
                <a:lvl6pPr>
                  <a:defRPr>
                    <a:latin typeface="+mj-lt"/>
                    <a:ea typeface="+mj-ea"/>
                    <a:cs typeface="+mj-cs"/>
                  </a:defRPr>
                </a:lvl6pPr>
                <a:lvl7pPr>
                  <a:defRPr>
                    <a:latin typeface="+mj-lt"/>
                    <a:ea typeface="+mj-ea"/>
                    <a:cs typeface="+mj-cs"/>
                  </a:defRPr>
                </a:lvl7pPr>
                <a:lvl8pPr>
                  <a:defRPr>
                    <a:latin typeface="+mj-lt"/>
                    <a:ea typeface="+mj-ea"/>
                    <a:cs typeface="+mj-cs"/>
                  </a:defRPr>
                </a:lvl8pPr>
                <a:lvl9pPr>
                  <a:defRPr>
                    <a:latin typeface="+mj-lt"/>
                    <a:ea typeface="+mj-ea"/>
                    <a:cs typeface="+mj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400</m:t>
                          </m:r>
                        </m:num>
                        <m:den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−1.2</m:t>
                      </m:r>
                    </m:oMath>
                  </m:oMathPara>
                </a14:m>
                <a:endParaRPr kumimoji="1" lang="en-US" altLang="ja-JP" sz="20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=3.14×</m:t>
                      </m:r>
                      <m:sSup>
                        <m:sSupPr>
                          <m:ctrlPr>
                            <a:rPr lang="en-US" altLang="ja-JP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altLang="ja-JP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−4</m:t>
                          </m:r>
                        </m:sup>
                      </m:sSup>
                      <m:r>
                        <a:rPr lang="en-US" altLang="ja-JP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f>
                        <m:fPr>
                          <m:type m:val="lin"/>
                          <m:ctrlPr>
                            <a:rPr kumimoji="1" lang="en-US" altLang="ja-JP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en-US" altLang="ja-JP" sz="2000" b="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</m:t>
                          </m:r>
                        </m:num>
                        <m:den>
                          <m:sSup>
                            <m:sSupPr>
                              <m:ctrlPr>
                                <a:rPr kumimoji="1" lang="en-US" altLang="ja-JP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ja-JP" sz="2000" b="0" i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  <m:r>
                                <a:rPr kumimoji="1" lang="en-US" altLang="ja-JP" sz="2000" b="0" i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kumimoji="1" lang="en-US" altLang="ja-JP" sz="2000" b="0" i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MPa</m:t>
                              </m:r>
                              <m:r>
                                <a:rPr kumimoji="1" lang="en-US" altLang="ja-JP" sz="2000" b="0" i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en-US" altLang="ja-JP" sz="2000" b="0" i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kumimoji="1" lang="en-US" altLang="ja-JP" sz="2000" b="0" i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en-US" altLang="ja-JP" sz="2000" b="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=0.316</m:t>
                    </m:r>
                  </m:oMath>
                </a14:m>
                <a:r>
                  <a:rPr kumimoji="1" lang="en-US" altLang="ja-JP" sz="2000" b="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ja-JP" sz="2000" b="0" i="0" smtClean="0">
                        <a:latin typeface="Cambria Math" panose="02040503050406030204" pitchFamily="18" charset="0"/>
                      </a:rPr>
                      <m:t>eV</m:t>
                    </m:r>
                  </m:oMath>
                </a14:m>
                <a:endParaRPr lang="en-US" altLang="ja-JP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ja-JP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altLang="ja-JP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=8.617×</m:t>
                      </m:r>
                      <m:sSup>
                        <m:sSupPr>
                          <m:ctrlPr>
                            <a:rPr lang="en-US" altLang="ja-JP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altLang="ja-JP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−5</m:t>
                          </m:r>
                        </m:sup>
                      </m:sSup>
                      <m:r>
                        <a:rPr lang="en-US" altLang="ja-JP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f>
                        <m:fPr>
                          <m:type m:val="lin"/>
                          <m:ctrlPr>
                            <a:rPr lang="en-US" altLang="ja-JP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ja-JP" sz="20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eV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ja-JP" sz="20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K</m:t>
                          </m:r>
                        </m:den>
                      </m:f>
                    </m:oMath>
                  </m:oMathPara>
                </a14:m>
                <a:endParaRPr kumimoji="1" lang="en-US" altLang="ja-JP" b="0" dirty="0"/>
              </a:p>
            </p:txBody>
          </p:sp>
        </mc:Choice>
        <mc:Fallback xmlns="">
          <p:sp>
            <p:nvSpPr>
              <p:cNvPr id="15" name="テキスト ボックス 1">
                <a:extLst>
                  <a:ext uri="{FF2B5EF4-FFF2-40B4-BE49-F238E27FC236}">
                    <a16:creationId xmlns:a16="http://schemas.microsoft.com/office/drawing/2014/main" id="{85CD3472-D344-6946-5EFA-1795089920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1931" y="4877663"/>
                <a:ext cx="3373690" cy="1234633"/>
              </a:xfrm>
              <a:prstGeom prst="rect">
                <a:avLst/>
              </a:prstGeom>
              <a:blipFill>
                <a:blip r:embed="rId6"/>
                <a:stretch>
                  <a:fillRect l="-2712" t="-40394" r="-1085" b="-6108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左大かっこ 15">
            <a:extLst>
              <a:ext uri="{FF2B5EF4-FFF2-40B4-BE49-F238E27FC236}">
                <a16:creationId xmlns:a16="http://schemas.microsoft.com/office/drawing/2014/main" id="{CD42061B-1D3F-3B80-E601-0A12A599D9FD}"/>
              </a:ext>
            </a:extLst>
          </p:cNvPr>
          <p:cNvSpPr/>
          <p:nvPr/>
        </p:nvSpPr>
        <p:spPr>
          <a:xfrm>
            <a:off x="5387980" y="4940488"/>
            <a:ext cx="99762" cy="1111394"/>
          </a:xfrm>
          <a:prstGeom prst="leftBracket">
            <a:avLst>
              <a:gd name="adj" fmla="val 116396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/>
          </a:p>
        </p:txBody>
      </p: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D7EE8C80-5BBA-98E8-3676-361DA40D33E8}"/>
              </a:ext>
            </a:extLst>
          </p:cNvPr>
          <p:cNvGrpSpPr/>
          <p:nvPr/>
        </p:nvGrpSpPr>
        <p:grpSpPr>
          <a:xfrm>
            <a:off x="370158" y="4624698"/>
            <a:ext cx="4773208" cy="1467121"/>
            <a:chOff x="276995" y="4258373"/>
            <a:chExt cx="4773208" cy="146712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テキスト ボックス 12">
                  <a:extLst>
                    <a:ext uri="{FF2B5EF4-FFF2-40B4-BE49-F238E27FC236}">
                      <a16:creationId xmlns:a16="http://schemas.microsoft.com/office/drawing/2014/main" id="{D197ABC3-74DC-19B0-869B-342B1C738AEC}"/>
                    </a:ext>
                  </a:extLst>
                </p:cNvPr>
                <p:cNvSpPr txBox="1"/>
                <p:nvPr/>
              </p:nvSpPr>
              <p:spPr>
                <a:xfrm>
                  <a:off x="276995" y="4258373"/>
                  <a:ext cx="4773208" cy="12915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= </m:t>
                        </m:r>
                        <m:d>
                          <m:d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ja-JP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</m:d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ja-JP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altLang="ja-JP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𝑓</m:t>
                                    </m:r>
                                  </m:sub>
                                </m:sSub>
                              </m:num>
                              <m:den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ja-JP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  <m:sSup>
                          <m:sSup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ja-JP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𝐴𝑒𝑥𝑝</m:t>
                        </m:r>
                        <m:d>
                          <m:d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ja-JP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sz="2400" i="1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altLang="ja-JP" sz="24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𝑘𝑇</m:t>
                                </m:r>
                              </m:den>
                            </m:f>
                          </m:e>
                        </m:d>
                      </m:oMath>
                    </m:oMathPara>
                  </a14:m>
                  <a:endParaRPr kumimoji="1" lang="en-US" altLang="ja-JP" sz="2400" dirty="0"/>
                </a:p>
                <a:p>
                  <a:endParaRPr kumimoji="1" lang="ja-JP" altLang="en-US" sz="2400" dirty="0"/>
                </a:p>
              </p:txBody>
            </p:sp>
          </mc:Choice>
          <mc:Fallback xmlns="">
            <p:sp>
              <p:nvSpPr>
                <p:cNvPr id="13" name="テキスト ボックス 12">
                  <a:extLst>
                    <a:ext uri="{FF2B5EF4-FFF2-40B4-BE49-F238E27FC236}">
                      <a16:creationId xmlns:a16="http://schemas.microsoft.com/office/drawing/2014/main" id="{D197ABC3-74DC-19B0-869B-342B1C738A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6995" y="4258373"/>
                  <a:ext cx="4773208" cy="129150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テキスト ボックス 16">
                  <a:extLst>
                    <a:ext uri="{FF2B5EF4-FFF2-40B4-BE49-F238E27FC236}">
                      <a16:creationId xmlns:a16="http://schemas.microsoft.com/office/drawing/2014/main" id="{A7379B56-9FF7-39A2-2964-0F2E8CB9CB40}"/>
                    </a:ext>
                  </a:extLst>
                </p:cNvPr>
                <p:cNvSpPr txBox="1"/>
                <p:nvPr/>
              </p:nvSpPr>
              <p:spPr>
                <a:xfrm>
                  <a:off x="311066" y="5234206"/>
                  <a:ext cx="2531911" cy="49128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|"/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</m:d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 </m:t>
                        </m:r>
                        <m:sSub>
                          <m:sSubPr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r>
                          <a:rPr lang="en-US" altLang="ja-JP" sz="2400" dirty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kumimoji="1" lang="ja-JP" altLang="en-US" sz="2400" dirty="0"/>
                </a:p>
              </p:txBody>
            </p:sp>
          </mc:Choice>
          <mc:Fallback xmlns="">
            <p:sp>
              <p:nvSpPr>
                <p:cNvPr id="17" name="テキスト ボックス 16">
                  <a:extLst>
                    <a:ext uri="{FF2B5EF4-FFF2-40B4-BE49-F238E27FC236}">
                      <a16:creationId xmlns:a16="http://schemas.microsoft.com/office/drawing/2014/main" id="{A7379B56-9FF7-39A2-2964-0F2E8CB9CB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1066" y="5234206"/>
                  <a:ext cx="2531911" cy="491288"/>
                </a:xfrm>
                <a:prstGeom prst="rect">
                  <a:avLst/>
                </a:prstGeom>
                <a:blipFill>
                  <a:blip r:embed="rId8"/>
                  <a:stretch>
                    <a:fillRect b="-12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2001195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5" name="テキスト ボックス 94">
                <a:extLst>
                  <a:ext uri="{FF2B5EF4-FFF2-40B4-BE49-F238E27FC236}">
                    <a16:creationId xmlns:a16="http://schemas.microsoft.com/office/drawing/2014/main" id="{5BC12932-3A51-324E-761A-249E564576FF}"/>
                  </a:ext>
                </a:extLst>
              </p:cNvPr>
              <p:cNvSpPr txBox="1"/>
              <p:nvPr/>
            </p:nvSpPr>
            <p:spPr>
              <a:xfrm>
                <a:off x="188378" y="4753341"/>
                <a:ext cx="4506125" cy="182986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ja-JP" sz="2400" b="1" u="sng" dirty="0">
                    <a:solidFill>
                      <a:schemeClr val="accent6">
                        <a:lumMod val="75000"/>
                      </a:schemeClr>
                    </a:solidFill>
                    <a:latin typeface="+mj-ea"/>
                    <a:ea typeface="+mj-ea"/>
                  </a:rPr>
                  <a:t>Calculation</a:t>
                </a:r>
                <a:r>
                  <a:rPr lang="ja-JP" altLang="en-US" sz="2400" b="1" u="sng" dirty="0">
                    <a:solidFill>
                      <a:schemeClr val="accent6">
                        <a:lumMod val="75000"/>
                      </a:schemeClr>
                    </a:solidFill>
                    <a:latin typeface="+mj-ea"/>
                    <a:ea typeface="+mj-ea"/>
                  </a:rPr>
                  <a:t> </a:t>
                </a:r>
                <a:r>
                  <a:rPr lang="en-US" altLang="ja-JP" sz="2400" b="1" u="sng" dirty="0">
                    <a:solidFill>
                      <a:schemeClr val="accent6">
                        <a:lumMod val="75000"/>
                      </a:schemeClr>
                    </a:solidFill>
                    <a:latin typeface="+mj-ea"/>
                    <a:ea typeface="+mj-ea"/>
                  </a:rPr>
                  <a:t>of</a:t>
                </a:r>
                <a:r>
                  <a:rPr lang="ja-JP" altLang="en-US" sz="2400" b="1" u="sng" dirty="0">
                    <a:solidFill>
                      <a:schemeClr val="accent6">
                        <a:lumMod val="75000"/>
                      </a:schemeClr>
                    </a:solidFill>
                    <a:latin typeface="+mj-ea"/>
                    <a:ea typeface="+mj-ea"/>
                  </a:rPr>
                  <a:t> </a:t>
                </a:r>
                <a:r>
                  <a:rPr lang="en-US" altLang="ja-JP" sz="2400" b="1" u="sng" dirty="0">
                    <a:solidFill>
                      <a:schemeClr val="accent6">
                        <a:lumMod val="75000"/>
                      </a:schemeClr>
                    </a:solidFill>
                    <a:latin typeface="+mj-ea"/>
                    <a:ea typeface="+mj-ea"/>
                  </a:rPr>
                  <a:t>stress</a:t>
                </a:r>
                <a:r>
                  <a:rPr lang="ja-JP" altLang="en-US" sz="2400" b="1" u="sng" dirty="0">
                    <a:solidFill>
                      <a:schemeClr val="accent6">
                        <a:lumMod val="75000"/>
                      </a:schemeClr>
                    </a:solidFill>
                    <a:latin typeface="+mj-ea"/>
                    <a:ea typeface="+mj-ea"/>
                  </a:rPr>
                  <a:t> </a:t>
                </a:r>
                <a:r>
                  <a:rPr lang="en-US" altLang="ja-JP" sz="2400" b="1" u="sng" dirty="0">
                    <a:solidFill>
                      <a:schemeClr val="accent6">
                        <a:lumMod val="75000"/>
                      </a:schemeClr>
                    </a:solidFill>
                    <a:latin typeface="+mj-ea"/>
                    <a:ea typeface="+mj-ea"/>
                  </a:rPr>
                  <a:t>intensity factor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sz="2400" i="1" smtClean="0"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sSubPr>
                        <m:e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  <a:ea typeface="+mj-ea"/>
                            </a:rPr>
                            <m:t>𝐾</m:t>
                          </m:r>
                        </m:e>
                        <m:sub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  <a:ea typeface="+mj-ea"/>
                            </a:rPr>
                            <m:t>𝑡𝑖𝑝</m:t>
                          </m:r>
                        </m:sub>
                      </m:sSub>
                      <m:r>
                        <a:rPr lang="en-US" altLang="ja-JP" sz="2400" b="0" i="1" smtClean="0">
                          <a:latin typeface="Cambria Math" panose="02040503050406030204" pitchFamily="18" charset="0"/>
                          <a:ea typeface="+mj-ea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ja-JP" sz="2400" b="0" i="1" smtClean="0"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ja-JP" sz="2400" b="0" i="1" smtClean="0">
                                  <a:latin typeface="Cambria Math" panose="02040503050406030204" pitchFamily="18" charset="0"/>
                                  <a:ea typeface="+mj-ea"/>
                                </a:rPr>
                              </m:ctrlPr>
                            </m:fPr>
                            <m:num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  <a:ea typeface="+mj-ea"/>
                                </a:rPr>
                                <m:t>2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  <a:ea typeface="+mj-ea"/>
                                </a:rPr>
                                <m:t>𝜇</m:t>
                              </m:r>
                              <m:sSub>
                                <m:sSubPr>
                                  <m:ctrlPr>
                                    <a:rPr lang="en-US" altLang="ja-JP" sz="24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+mj-ea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ja-JP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𝑥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  <a:ea typeface="+mj-ea"/>
                                </a:rPr>
                                <m:t>1−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  <a:ea typeface="+mj-ea"/>
                                </a:rPr>
                                <m:t>𝜈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altLang="ja-JP" dirty="0"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95" name="テキスト ボックス 94">
                <a:extLst>
                  <a:ext uri="{FF2B5EF4-FFF2-40B4-BE49-F238E27FC236}">
                    <a16:creationId xmlns:a16="http://schemas.microsoft.com/office/drawing/2014/main" id="{5BC12932-3A51-324E-761A-249E564576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378" y="4753341"/>
                <a:ext cx="4506125" cy="1829860"/>
              </a:xfrm>
              <a:prstGeom prst="rect">
                <a:avLst/>
              </a:prstGeom>
              <a:blipFill>
                <a:blip r:embed="rId2"/>
                <a:stretch>
                  <a:fillRect l="-4195" t="-5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3" name="直線コネクタ 72">
            <a:extLst>
              <a:ext uri="{FF2B5EF4-FFF2-40B4-BE49-F238E27FC236}">
                <a16:creationId xmlns:a16="http://schemas.microsoft.com/office/drawing/2014/main" id="{02D2A366-71D4-50AE-1615-094F8D75DD0F}"/>
              </a:ext>
            </a:extLst>
          </p:cNvPr>
          <p:cNvCxnSpPr>
            <a:cxnSpLocks/>
          </p:cNvCxnSpPr>
          <p:nvPr/>
        </p:nvCxnSpPr>
        <p:spPr>
          <a:xfrm>
            <a:off x="473920" y="3108969"/>
            <a:ext cx="3272533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タイトル 1">
            <a:extLst>
              <a:ext uri="{FF2B5EF4-FFF2-40B4-BE49-F238E27FC236}">
                <a16:creationId xmlns:a16="http://schemas.microsoft.com/office/drawing/2014/main" id="{B360DE4C-895D-5DEA-CAF4-D4EE63CF8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379" y="8997"/>
            <a:ext cx="8955621" cy="663341"/>
          </a:xfrm>
        </p:spPr>
        <p:txBody>
          <a:bodyPr/>
          <a:lstStyle/>
          <a:p>
            <a:r>
              <a:rPr lang="en-US" altLang="ja-JP" dirty="0"/>
              <a:t>Microcrack</a:t>
            </a:r>
            <a:r>
              <a:rPr lang="ja-JP" altLang="en-US" dirty="0"/>
              <a:t> </a:t>
            </a:r>
            <a:r>
              <a:rPr lang="en-US" altLang="ja-JP" dirty="0"/>
              <a:t>model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B38CF7C-E75A-A36D-1683-0E59E6BCE5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378" y="781073"/>
            <a:ext cx="7810797" cy="3066370"/>
          </a:xfrm>
        </p:spPr>
        <p:txBody>
          <a:bodyPr/>
          <a:lstStyle/>
          <a:p>
            <a:r>
              <a:rPr lang="en-US" altLang="ja-JP" dirty="0"/>
              <a:t>Creation</a:t>
            </a:r>
            <a:r>
              <a:rPr lang="ja-JP" altLang="en-US" dirty="0"/>
              <a:t> </a:t>
            </a:r>
            <a:r>
              <a:rPr lang="en-US" altLang="ja-JP" dirty="0"/>
              <a:t>of</a:t>
            </a:r>
            <a:r>
              <a:rPr lang="ja-JP" altLang="en-US" dirty="0"/>
              <a:t> </a:t>
            </a:r>
            <a:r>
              <a:rPr lang="en-US" altLang="ja-JP" dirty="0"/>
              <a:t>crack</a:t>
            </a:r>
            <a:r>
              <a:rPr lang="ja-JP" altLang="en-US" dirty="0"/>
              <a:t> </a:t>
            </a:r>
            <a:r>
              <a:rPr lang="en-US" altLang="ja-JP" dirty="0"/>
              <a:t>surface and calculation of stress intensity factor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718ADF8-68D6-60B1-5F61-F09FCE5B7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F6909-ABCB-BB45-AC56-A8377246EBB2}" type="slidenum">
              <a:rPr lang="ja-JP" altLang="en-US" smtClean="0"/>
              <a:pPr/>
              <a:t>34</a:t>
            </a:fld>
            <a:endParaRPr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7932631-1E67-CF77-55C3-B43196A58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dirty="0"/>
              <a:t>Tokyo University of Science - Computational Materials Science Laboratory -</a:t>
            </a:r>
            <a:endParaRPr lang="ja-JP" altLang="en-US" dirty="0"/>
          </a:p>
        </p:txBody>
      </p:sp>
      <p:sp>
        <p:nvSpPr>
          <p:cNvPr id="37" name="円弧 36">
            <a:extLst>
              <a:ext uri="{FF2B5EF4-FFF2-40B4-BE49-F238E27FC236}">
                <a16:creationId xmlns:a16="http://schemas.microsoft.com/office/drawing/2014/main" id="{B83B9C88-E610-2859-87D4-B90060343206}"/>
              </a:ext>
            </a:extLst>
          </p:cNvPr>
          <p:cNvSpPr/>
          <p:nvPr/>
        </p:nvSpPr>
        <p:spPr>
          <a:xfrm rot="18900000">
            <a:off x="1330937" y="2280976"/>
            <a:ext cx="2588889" cy="2783643"/>
          </a:xfrm>
          <a:prstGeom prst="arc">
            <a:avLst>
              <a:gd name="adj1" fmla="val 15912842"/>
              <a:gd name="adj2" fmla="val 0"/>
            </a:avLst>
          </a:prstGeom>
          <a:ln w="38100"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円/楕円 34">
            <a:extLst>
              <a:ext uri="{FF2B5EF4-FFF2-40B4-BE49-F238E27FC236}">
                <a16:creationId xmlns:a16="http://schemas.microsoft.com/office/drawing/2014/main" id="{7395A03A-034F-A789-7F74-CAF6EAAA0B5C}"/>
              </a:ext>
            </a:extLst>
          </p:cNvPr>
          <p:cNvSpPr/>
          <p:nvPr/>
        </p:nvSpPr>
        <p:spPr>
          <a:xfrm>
            <a:off x="3437783" y="2842507"/>
            <a:ext cx="519248" cy="51924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円/楕円 33">
            <a:extLst>
              <a:ext uri="{FF2B5EF4-FFF2-40B4-BE49-F238E27FC236}">
                <a16:creationId xmlns:a16="http://schemas.microsoft.com/office/drawing/2014/main" id="{74E68069-8A2A-BBB2-E273-E94EE0597FBB}"/>
              </a:ext>
            </a:extLst>
          </p:cNvPr>
          <p:cNvSpPr/>
          <p:nvPr/>
        </p:nvSpPr>
        <p:spPr>
          <a:xfrm>
            <a:off x="1240164" y="2842507"/>
            <a:ext cx="519248" cy="519248"/>
          </a:xfrm>
          <a:prstGeom prst="ellipse">
            <a:avLst/>
          </a:prstGeom>
          <a:solidFill>
            <a:srgbClr val="5080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円/楕円 7">
            <a:extLst>
              <a:ext uri="{FF2B5EF4-FFF2-40B4-BE49-F238E27FC236}">
                <a16:creationId xmlns:a16="http://schemas.microsoft.com/office/drawing/2014/main" id="{DF710472-D7F3-164A-10D2-E025B4EAD950}"/>
              </a:ext>
            </a:extLst>
          </p:cNvPr>
          <p:cNvSpPr/>
          <p:nvPr/>
        </p:nvSpPr>
        <p:spPr>
          <a:xfrm>
            <a:off x="477842" y="2864056"/>
            <a:ext cx="3264690" cy="4872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738153F6-9A87-6C3F-47FE-1759145E6319}"/>
              </a:ext>
            </a:extLst>
          </p:cNvPr>
          <p:cNvGrpSpPr/>
          <p:nvPr/>
        </p:nvGrpSpPr>
        <p:grpSpPr>
          <a:xfrm rot="5400000">
            <a:off x="293747" y="2927935"/>
            <a:ext cx="550235" cy="359514"/>
            <a:chOff x="3873949" y="3726345"/>
            <a:chExt cx="1755326" cy="1146901"/>
          </a:xfrm>
          <a:solidFill>
            <a:srgbClr val="FF0000"/>
          </a:solidFill>
        </p:grpSpPr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41F3D268-AF36-24BD-FC77-74995C8BE0DD}"/>
                </a:ext>
              </a:extLst>
            </p:cNvPr>
            <p:cNvSpPr/>
            <p:nvPr/>
          </p:nvSpPr>
          <p:spPr>
            <a:xfrm>
              <a:off x="3873949" y="4409753"/>
              <a:ext cx="1755326" cy="463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DBCBDA62-34EB-07B8-3BD7-843589D9A062}"/>
                </a:ext>
              </a:extLst>
            </p:cNvPr>
            <p:cNvSpPr/>
            <p:nvPr/>
          </p:nvSpPr>
          <p:spPr>
            <a:xfrm rot="5400000">
              <a:off x="4178162" y="4076372"/>
              <a:ext cx="1146901" cy="44684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1A73B879-548D-F61B-E2A7-EA29B9C00171}"/>
              </a:ext>
            </a:extLst>
          </p:cNvPr>
          <p:cNvGrpSpPr/>
          <p:nvPr/>
        </p:nvGrpSpPr>
        <p:grpSpPr>
          <a:xfrm rot="5400000">
            <a:off x="782364" y="2927935"/>
            <a:ext cx="550235" cy="359514"/>
            <a:chOff x="3873949" y="3726345"/>
            <a:chExt cx="1755326" cy="1146901"/>
          </a:xfrm>
          <a:solidFill>
            <a:srgbClr val="0000FF"/>
          </a:solidFill>
        </p:grpSpPr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3DB75326-A0DF-C33D-6CF7-1ECF3219AAA6}"/>
                </a:ext>
              </a:extLst>
            </p:cNvPr>
            <p:cNvSpPr/>
            <p:nvPr/>
          </p:nvSpPr>
          <p:spPr>
            <a:xfrm>
              <a:off x="3873949" y="4409753"/>
              <a:ext cx="1755326" cy="463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6DE49EC2-DE66-7B6B-6B24-6F30E2012CF7}"/>
                </a:ext>
              </a:extLst>
            </p:cNvPr>
            <p:cNvSpPr/>
            <p:nvPr/>
          </p:nvSpPr>
          <p:spPr>
            <a:xfrm rot="5400000">
              <a:off x="4178162" y="4076372"/>
              <a:ext cx="1146901" cy="44684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42A6659D-6FB1-CBA9-3C65-B0A9FF7E3016}"/>
              </a:ext>
            </a:extLst>
          </p:cNvPr>
          <p:cNvGrpSpPr/>
          <p:nvPr/>
        </p:nvGrpSpPr>
        <p:grpSpPr>
          <a:xfrm rot="5400000">
            <a:off x="1281825" y="2927935"/>
            <a:ext cx="550235" cy="359514"/>
            <a:chOff x="3873949" y="3726345"/>
            <a:chExt cx="1755326" cy="1146901"/>
          </a:xfrm>
          <a:solidFill>
            <a:srgbClr val="0000FF"/>
          </a:solidFill>
        </p:grpSpPr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D85BEB54-581D-EC45-F278-DDE93DE2EF97}"/>
                </a:ext>
              </a:extLst>
            </p:cNvPr>
            <p:cNvSpPr/>
            <p:nvPr/>
          </p:nvSpPr>
          <p:spPr>
            <a:xfrm>
              <a:off x="3873949" y="4409753"/>
              <a:ext cx="1755326" cy="463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26E6F96E-1D02-76D6-027F-8A5998ADA1B8}"/>
                </a:ext>
              </a:extLst>
            </p:cNvPr>
            <p:cNvSpPr/>
            <p:nvPr/>
          </p:nvSpPr>
          <p:spPr>
            <a:xfrm rot="5400000">
              <a:off x="4178162" y="4076372"/>
              <a:ext cx="1146901" cy="44684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853EAAD3-D31B-5D82-742B-5D59D769C5DA}"/>
              </a:ext>
            </a:extLst>
          </p:cNvPr>
          <p:cNvGrpSpPr/>
          <p:nvPr/>
        </p:nvGrpSpPr>
        <p:grpSpPr>
          <a:xfrm rot="16200000">
            <a:off x="3360303" y="2927933"/>
            <a:ext cx="550235" cy="359514"/>
            <a:chOff x="3873949" y="3726345"/>
            <a:chExt cx="1755326" cy="1146901"/>
          </a:xfrm>
          <a:solidFill>
            <a:srgbClr val="FF0000"/>
          </a:solidFill>
        </p:grpSpPr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4D3A0243-17E6-C4AB-3747-F6DB2B7999EB}"/>
                </a:ext>
              </a:extLst>
            </p:cNvPr>
            <p:cNvSpPr/>
            <p:nvPr/>
          </p:nvSpPr>
          <p:spPr>
            <a:xfrm>
              <a:off x="3873949" y="4409753"/>
              <a:ext cx="1755326" cy="463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DC915905-0BF9-D256-EA65-EE0324992A64}"/>
                </a:ext>
              </a:extLst>
            </p:cNvPr>
            <p:cNvSpPr/>
            <p:nvPr/>
          </p:nvSpPr>
          <p:spPr>
            <a:xfrm rot="5400000">
              <a:off x="4178162" y="4076372"/>
              <a:ext cx="1146901" cy="44684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77E1C60E-678F-8BA2-B53A-E27F4495EF14}"/>
              </a:ext>
            </a:extLst>
          </p:cNvPr>
          <p:cNvGrpSpPr/>
          <p:nvPr/>
        </p:nvGrpSpPr>
        <p:grpSpPr>
          <a:xfrm rot="16200000">
            <a:off x="2871686" y="2927933"/>
            <a:ext cx="550235" cy="359514"/>
            <a:chOff x="3873949" y="3726345"/>
            <a:chExt cx="1755326" cy="1146901"/>
          </a:xfrm>
          <a:solidFill>
            <a:srgbClr val="0000FF"/>
          </a:solidFill>
        </p:grpSpPr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DACCA92E-A5DA-B54F-E3D8-AA0C830F4169}"/>
                </a:ext>
              </a:extLst>
            </p:cNvPr>
            <p:cNvSpPr/>
            <p:nvPr/>
          </p:nvSpPr>
          <p:spPr>
            <a:xfrm>
              <a:off x="3873949" y="4409753"/>
              <a:ext cx="1755326" cy="463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C293D6B0-52A6-6D3C-0F1A-6D32885995E0}"/>
                </a:ext>
              </a:extLst>
            </p:cNvPr>
            <p:cNvSpPr/>
            <p:nvPr/>
          </p:nvSpPr>
          <p:spPr>
            <a:xfrm rot="5400000">
              <a:off x="4178162" y="4076372"/>
              <a:ext cx="1146901" cy="44684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8A64F04D-4AA1-8E34-3A6F-67D282E26B7D}"/>
              </a:ext>
            </a:extLst>
          </p:cNvPr>
          <p:cNvGrpSpPr/>
          <p:nvPr/>
        </p:nvGrpSpPr>
        <p:grpSpPr>
          <a:xfrm rot="16200000">
            <a:off x="2372227" y="2927933"/>
            <a:ext cx="550235" cy="359514"/>
            <a:chOff x="3873949" y="3726345"/>
            <a:chExt cx="1755326" cy="1146901"/>
          </a:xfrm>
          <a:solidFill>
            <a:srgbClr val="0000FF"/>
          </a:solidFill>
        </p:grpSpPr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id="{62A602C6-0975-284F-0D2B-32D5DCCE3CFB}"/>
                </a:ext>
              </a:extLst>
            </p:cNvPr>
            <p:cNvSpPr/>
            <p:nvPr/>
          </p:nvSpPr>
          <p:spPr>
            <a:xfrm>
              <a:off x="3873949" y="4409753"/>
              <a:ext cx="1755326" cy="463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" name="正方形/長方形 26">
              <a:extLst>
                <a:ext uri="{FF2B5EF4-FFF2-40B4-BE49-F238E27FC236}">
                  <a16:creationId xmlns:a16="http://schemas.microsoft.com/office/drawing/2014/main" id="{B513CDD4-24E8-6672-30EA-7E92B763D8D5}"/>
                </a:ext>
              </a:extLst>
            </p:cNvPr>
            <p:cNvSpPr/>
            <p:nvPr/>
          </p:nvSpPr>
          <p:spPr>
            <a:xfrm rot="5400000">
              <a:off x="4178162" y="4076372"/>
              <a:ext cx="1146901" cy="44684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6" name="円弧 35">
            <a:extLst>
              <a:ext uri="{FF2B5EF4-FFF2-40B4-BE49-F238E27FC236}">
                <a16:creationId xmlns:a16="http://schemas.microsoft.com/office/drawing/2014/main" id="{7F563B76-32F5-9756-686E-4FDD1B9A9C4C}"/>
              </a:ext>
            </a:extLst>
          </p:cNvPr>
          <p:cNvSpPr/>
          <p:nvPr/>
        </p:nvSpPr>
        <p:spPr>
          <a:xfrm rot="18900000">
            <a:off x="1464000" y="2551130"/>
            <a:ext cx="1312906" cy="1424401"/>
          </a:xfrm>
          <a:prstGeom prst="arc">
            <a:avLst>
              <a:gd name="adj1" fmla="val 15912842"/>
              <a:gd name="adj2" fmla="val 0"/>
            </a:avLst>
          </a:prstGeom>
          <a:ln w="38100"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円弧 37">
            <a:extLst>
              <a:ext uri="{FF2B5EF4-FFF2-40B4-BE49-F238E27FC236}">
                <a16:creationId xmlns:a16="http://schemas.microsoft.com/office/drawing/2014/main" id="{D90EB64D-DD4F-0794-3A76-1DE3720A8B9D}"/>
              </a:ext>
            </a:extLst>
          </p:cNvPr>
          <p:cNvSpPr/>
          <p:nvPr/>
        </p:nvSpPr>
        <p:spPr>
          <a:xfrm rot="2700000" flipV="1">
            <a:off x="1308347" y="1470582"/>
            <a:ext cx="2295071" cy="2467722"/>
          </a:xfrm>
          <a:prstGeom prst="arc">
            <a:avLst>
              <a:gd name="adj1" fmla="val 15912842"/>
              <a:gd name="adj2" fmla="val 0"/>
            </a:avLst>
          </a:prstGeom>
          <a:ln w="38100"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円弧 38">
            <a:extLst>
              <a:ext uri="{FF2B5EF4-FFF2-40B4-BE49-F238E27FC236}">
                <a16:creationId xmlns:a16="http://schemas.microsoft.com/office/drawing/2014/main" id="{E579160B-6F36-7561-89AB-06A34520DDD7}"/>
              </a:ext>
            </a:extLst>
          </p:cNvPr>
          <p:cNvSpPr/>
          <p:nvPr/>
        </p:nvSpPr>
        <p:spPr>
          <a:xfrm rot="8100000">
            <a:off x="817828" y="2816430"/>
            <a:ext cx="690649" cy="767880"/>
          </a:xfrm>
          <a:prstGeom prst="arc">
            <a:avLst>
              <a:gd name="adj1" fmla="val 15912842"/>
              <a:gd name="adj2" fmla="val 21398775"/>
            </a:avLst>
          </a:prstGeom>
          <a:ln w="38100"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円弧 39">
            <a:extLst>
              <a:ext uri="{FF2B5EF4-FFF2-40B4-BE49-F238E27FC236}">
                <a16:creationId xmlns:a16="http://schemas.microsoft.com/office/drawing/2014/main" id="{CD9AFB9E-753D-E237-7DC7-EA78617AB146}"/>
              </a:ext>
            </a:extLst>
          </p:cNvPr>
          <p:cNvSpPr/>
          <p:nvPr/>
        </p:nvSpPr>
        <p:spPr>
          <a:xfrm rot="2700000" flipH="1">
            <a:off x="305871" y="2534665"/>
            <a:ext cx="1312906" cy="1424401"/>
          </a:xfrm>
          <a:prstGeom prst="arc">
            <a:avLst>
              <a:gd name="adj1" fmla="val 15912842"/>
              <a:gd name="adj2" fmla="val 0"/>
            </a:avLst>
          </a:prstGeom>
          <a:ln w="38100"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テキスト ボックス 48">
                <a:extLst>
                  <a:ext uri="{FF2B5EF4-FFF2-40B4-BE49-F238E27FC236}">
                    <a16:creationId xmlns:a16="http://schemas.microsoft.com/office/drawing/2014/main" id="{66D653DD-12AE-DE5D-76EC-23561830CE25}"/>
                  </a:ext>
                </a:extLst>
              </p:cNvPr>
              <p:cNvSpPr txBox="1"/>
              <p:nvPr/>
            </p:nvSpPr>
            <p:spPr>
              <a:xfrm>
                <a:off x="1749353" y="3939114"/>
                <a:ext cx="738355" cy="5510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kumimoji="1" lang="ja-JP" altLang="en-US" sz="2400"/>
              </a:p>
            </p:txBody>
          </p:sp>
        </mc:Choice>
        <mc:Fallback xmlns="">
          <p:sp>
            <p:nvSpPr>
              <p:cNvPr id="49" name="テキスト ボックス 48">
                <a:extLst>
                  <a:ext uri="{FF2B5EF4-FFF2-40B4-BE49-F238E27FC236}">
                    <a16:creationId xmlns:a16="http://schemas.microsoft.com/office/drawing/2014/main" id="{66D653DD-12AE-DE5D-76EC-23561830C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9353" y="3939114"/>
                <a:ext cx="738355" cy="5510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1" name="上矢印 120">
            <a:extLst>
              <a:ext uri="{FF2B5EF4-FFF2-40B4-BE49-F238E27FC236}">
                <a16:creationId xmlns:a16="http://schemas.microsoft.com/office/drawing/2014/main" id="{0B74C6B5-4B0D-7C8A-D165-BBA1DE2B83FB}"/>
              </a:ext>
            </a:extLst>
          </p:cNvPr>
          <p:cNvSpPr/>
          <p:nvPr/>
        </p:nvSpPr>
        <p:spPr>
          <a:xfrm>
            <a:off x="1317655" y="1815115"/>
            <a:ext cx="402243" cy="524745"/>
          </a:xfrm>
          <a:prstGeom prst="upArrow">
            <a:avLst>
              <a:gd name="adj1" fmla="val 50000"/>
              <a:gd name="adj2" fmla="val 7049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2" name="上矢印 121">
            <a:extLst>
              <a:ext uri="{FF2B5EF4-FFF2-40B4-BE49-F238E27FC236}">
                <a16:creationId xmlns:a16="http://schemas.microsoft.com/office/drawing/2014/main" id="{5FE9A252-9F71-68B7-0837-DABC1C73D480}"/>
              </a:ext>
            </a:extLst>
          </p:cNvPr>
          <p:cNvSpPr/>
          <p:nvPr/>
        </p:nvSpPr>
        <p:spPr>
          <a:xfrm rot="10800000">
            <a:off x="1319597" y="4100261"/>
            <a:ext cx="402243" cy="524745"/>
          </a:xfrm>
          <a:prstGeom prst="upArrow">
            <a:avLst>
              <a:gd name="adj1" fmla="val 50000"/>
              <a:gd name="adj2" fmla="val 7049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3" name="上矢印 122">
            <a:extLst>
              <a:ext uri="{FF2B5EF4-FFF2-40B4-BE49-F238E27FC236}">
                <a16:creationId xmlns:a16="http://schemas.microsoft.com/office/drawing/2014/main" id="{4FEC4741-BF5D-9484-EB26-F9BA16FFCC02}"/>
              </a:ext>
            </a:extLst>
          </p:cNvPr>
          <p:cNvSpPr/>
          <p:nvPr/>
        </p:nvSpPr>
        <p:spPr>
          <a:xfrm rot="10800000">
            <a:off x="2364738" y="1727723"/>
            <a:ext cx="402243" cy="524745"/>
          </a:xfrm>
          <a:prstGeom prst="upArrow">
            <a:avLst>
              <a:gd name="adj1" fmla="val 50000"/>
              <a:gd name="adj2" fmla="val 70499"/>
            </a:avLst>
          </a:prstGeom>
          <a:solidFill>
            <a:srgbClr val="5080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4" name="上矢印 123">
            <a:extLst>
              <a:ext uri="{FF2B5EF4-FFF2-40B4-BE49-F238E27FC236}">
                <a16:creationId xmlns:a16="http://schemas.microsoft.com/office/drawing/2014/main" id="{7A8DF5D8-641F-65F6-D7F4-6A156915CB54}"/>
              </a:ext>
            </a:extLst>
          </p:cNvPr>
          <p:cNvSpPr/>
          <p:nvPr/>
        </p:nvSpPr>
        <p:spPr>
          <a:xfrm>
            <a:off x="2360181" y="4170741"/>
            <a:ext cx="402243" cy="524745"/>
          </a:xfrm>
          <a:prstGeom prst="upArrow">
            <a:avLst>
              <a:gd name="adj1" fmla="val 50000"/>
              <a:gd name="adj2" fmla="val 70499"/>
            </a:avLst>
          </a:prstGeom>
          <a:solidFill>
            <a:srgbClr val="5080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69" name="グループ化 68">
            <a:extLst>
              <a:ext uri="{FF2B5EF4-FFF2-40B4-BE49-F238E27FC236}">
                <a16:creationId xmlns:a16="http://schemas.microsoft.com/office/drawing/2014/main" id="{E3BF4E50-FEC5-8D9C-8396-3850D54C9B7E}"/>
              </a:ext>
            </a:extLst>
          </p:cNvPr>
          <p:cNvGrpSpPr/>
          <p:nvPr/>
        </p:nvGrpSpPr>
        <p:grpSpPr>
          <a:xfrm>
            <a:off x="-68111" y="3690940"/>
            <a:ext cx="1065761" cy="1062611"/>
            <a:chOff x="2888583" y="5173926"/>
            <a:chExt cx="1065761" cy="1062611"/>
          </a:xfrm>
        </p:grpSpPr>
        <p:sp>
          <p:nvSpPr>
            <p:cNvPr id="50" name="円/楕円 49">
              <a:extLst>
                <a:ext uri="{FF2B5EF4-FFF2-40B4-BE49-F238E27FC236}">
                  <a16:creationId xmlns:a16="http://schemas.microsoft.com/office/drawing/2014/main" id="{7E7DD10D-C045-54CE-0F60-195A436724D5}"/>
                </a:ext>
              </a:extLst>
            </p:cNvPr>
            <p:cNvSpPr/>
            <p:nvPr/>
          </p:nvSpPr>
          <p:spPr>
            <a:xfrm>
              <a:off x="3170785" y="5837512"/>
              <a:ext cx="165539" cy="165539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52" name="直線矢印コネクタ 51">
              <a:extLst>
                <a:ext uri="{FF2B5EF4-FFF2-40B4-BE49-F238E27FC236}">
                  <a16:creationId xmlns:a16="http://schemas.microsoft.com/office/drawing/2014/main" id="{6E1994D7-0448-ECBE-A565-44C3A58885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46687" y="5309617"/>
              <a:ext cx="0" cy="6120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線矢印コネクタ 53">
              <a:extLst>
                <a:ext uri="{FF2B5EF4-FFF2-40B4-BE49-F238E27FC236}">
                  <a16:creationId xmlns:a16="http://schemas.microsoft.com/office/drawing/2014/main" id="{6566ED01-166B-B143-D5F3-3A635719D706}"/>
                </a:ext>
              </a:extLst>
            </p:cNvPr>
            <p:cNvCxnSpPr>
              <a:cxnSpLocks/>
            </p:cNvCxnSpPr>
            <p:nvPr/>
          </p:nvCxnSpPr>
          <p:spPr>
            <a:xfrm>
              <a:off x="3243978" y="5920283"/>
              <a:ext cx="610249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円/楕円 56">
              <a:extLst>
                <a:ext uri="{FF2B5EF4-FFF2-40B4-BE49-F238E27FC236}">
                  <a16:creationId xmlns:a16="http://schemas.microsoft.com/office/drawing/2014/main" id="{3C4BAE1A-3D85-F37D-4860-51AEF4F84890}"/>
                </a:ext>
              </a:extLst>
            </p:cNvPr>
            <p:cNvSpPr/>
            <p:nvPr/>
          </p:nvSpPr>
          <p:spPr>
            <a:xfrm flipH="1">
              <a:off x="3207379" y="5874106"/>
              <a:ext cx="92353" cy="9235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テキスト ボックス 57">
                  <a:extLst>
                    <a:ext uri="{FF2B5EF4-FFF2-40B4-BE49-F238E27FC236}">
                      <a16:creationId xmlns:a16="http://schemas.microsoft.com/office/drawing/2014/main" id="{E3AEAA2F-D07E-FDE1-8087-3FBC92744BE7}"/>
                    </a:ext>
                  </a:extLst>
                </p:cNvPr>
                <p:cNvSpPr txBox="1"/>
                <p:nvPr/>
              </p:nvSpPr>
              <p:spPr>
                <a:xfrm>
                  <a:off x="2913575" y="5846539"/>
                  <a:ext cx="36497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kumimoji="1" lang="ja-JP" altLang="en-US"/>
                </a:p>
              </p:txBody>
            </p:sp>
          </mc:Choice>
          <mc:Fallback xmlns="">
            <p:sp>
              <p:nvSpPr>
                <p:cNvPr id="58" name="テキスト ボックス 57">
                  <a:extLst>
                    <a:ext uri="{FF2B5EF4-FFF2-40B4-BE49-F238E27FC236}">
                      <a16:creationId xmlns:a16="http://schemas.microsoft.com/office/drawing/2014/main" id="{E3AEAA2F-D07E-FDE1-8087-3FBC92744B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3575" y="5846539"/>
                  <a:ext cx="364972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テキスト ボックス 58">
                  <a:extLst>
                    <a:ext uri="{FF2B5EF4-FFF2-40B4-BE49-F238E27FC236}">
                      <a16:creationId xmlns:a16="http://schemas.microsoft.com/office/drawing/2014/main" id="{CBF9584F-2767-40E3-28CF-61DBED80C087}"/>
                    </a:ext>
                  </a:extLst>
                </p:cNvPr>
                <p:cNvSpPr txBox="1"/>
                <p:nvPr/>
              </p:nvSpPr>
              <p:spPr>
                <a:xfrm>
                  <a:off x="2888583" y="5173926"/>
                  <a:ext cx="3826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kumimoji="1" lang="ja-JP" altLang="en-US"/>
                </a:p>
              </p:txBody>
            </p:sp>
          </mc:Choice>
          <mc:Fallback xmlns="">
            <p:sp>
              <p:nvSpPr>
                <p:cNvPr id="59" name="テキスト ボックス 58">
                  <a:extLst>
                    <a:ext uri="{FF2B5EF4-FFF2-40B4-BE49-F238E27FC236}">
                      <a16:creationId xmlns:a16="http://schemas.microsoft.com/office/drawing/2014/main" id="{CBF9584F-2767-40E3-28CF-61DBED80C0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8583" y="5173926"/>
                  <a:ext cx="382604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645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テキスト ボックス 59">
                  <a:extLst>
                    <a:ext uri="{FF2B5EF4-FFF2-40B4-BE49-F238E27FC236}">
                      <a16:creationId xmlns:a16="http://schemas.microsoft.com/office/drawing/2014/main" id="{B05E1ED5-60A4-0812-5998-B26B2F1344B0}"/>
                    </a:ext>
                  </a:extLst>
                </p:cNvPr>
                <p:cNvSpPr txBox="1"/>
                <p:nvPr/>
              </p:nvSpPr>
              <p:spPr>
                <a:xfrm>
                  <a:off x="3575138" y="5867205"/>
                  <a:ext cx="37920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kumimoji="1" lang="ja-JP" altLang="en-US"/>
                </a:p>
              </p:txBody>
            </p:sp>
          </mc:Choice>
          <mc:Fallback xmlns="">
            <p:sp>
              <p:nvSpPr>
                <p:cNvPr id="60" name="テキスト ボックス 59">
                  <a:extLst>
                    <a:ext uri="{FF2B5EF4-FFF2-40B4-BE49-F238E27FC236}">
                      <a16:creationId xmlns:a16="http://schemas.microsoft.com/office/drawing/2014/main" id="{B05E1ED5-60A4-0812-5998-B26B2F1344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75138" y="5867205"/>
                  <a:ext cx="379206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テキスト ボックス 63">
                <a:extLst>
                  <a:ext uri="{FF2B5EF4-FFF2-40B4-BE49-F238E27FC236}">
                    <a16:creationId xmlns:a16="http://schemas.microsoft.com/office/drawing/2014/main" id="{B2794E51-E6F3-C513-B511-C9C8ECB7CF6F}"/>
                  </a:ext>
                </a:extLst>
              </p:cNvPr>
              <p:cNvSpPr txBox="1"/>
              <p:nvPr/>
            </p:nvSpPr>
            <p:spPr>
              <a:xfrm>
                <a:off x="3434988" y="2231718"/>
                <a:ext cx="4756724" cy="89620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𝜎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𝑦</m:t>
                          </m:r>
                        </m:sub>
                      </m:sSub>
                      <m:r>
                        <a:rPr kumimoji="1" lang="en-US" altLang="ja-JP" sz="2400" b="0" i="1" smtClean="0">
                          <a:latin typeface="Cambria Math" charset="0"/>
                        </a:rPr>
                        <m:t>= </m:t>
                      </m:r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𝜎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charset="0"/>
                            </a:rPr>
                            <m:t>𝑎𝑝𝑝</m:t>
                          </m:r>
                        </m:sub>
                      </m:sSub>
                      <m:r>
                        <a:rPr kumimoji="1" lang="en-US" altLang="ja-JP" sz="2400" b="0" i="1" smtClean="0">
                          <a:latin typeface="Cambria Math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kumimoji="1" lang="is-I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ja-JP" sz="24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kumimoji="1" lang="en-US" altLang="ja-JP" sz="24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𝑦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  <a:ea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  <a:ea typeface="Cambria Math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  <a:ea typeface="Cambria Math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bSup>
                        </m:e>
                      </m:nary>
                    </m:oMath>
                  </m:oMathPara>
                </a14:m>
                <a:endParaRPr kumimoji="1" lang="en-US" altLang="ja-JP" sz="2400" b="0" i="1" dirty="0">
                  <a:latin typeface="Cambria Math" charset="0"/>
                </a:endParaRPr>
              </a:p>
            </p:txBody>
          </p:sp>
        </mc:Choice>
        <mc:Fallback xmlns="">
          <p:sp>
            <p:nvSpPr>
              <p:cNvPr id="64" name="テキスト ボックス 63">
                <a:extLst>
                  <a:ext uri="{FF2B5EF4-FFF2-40B4-BE49-F238E27FC236}">
                    <a16:creationId xmlns:a16="http://schemas.microsoft.com/office/drawing/2014/main" id="{B2794E51-E6F3-C513-B511-C9C8ECB7CF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4988" y="2231718"/>
                <a:ext cx="4756724" cy="89620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テキスト ボックス 65">
                <a:extLst>
                  <a:ext uri="{FF2B5EF4-FFF2-40B4-BE49-F238E27FC236}">
                    <a16:creationId xmlns:a16="http://schemas.microsoft.com/office/drawing/2014/main" id="{5CF6536C-E51F-4543-EA5F-4891CF5B6E5A}"/>
                  </a:ext>
                </a:extLst>
              </p:cNvPr>
              <p:cNvSpPr txBox="1"/>
              <p:nvPr/>
            </p:nvSpPr>
            <p:spPr>
              <a:xfrm>
                <a:off x="2731094" y="1643755"/>
                <a:ext cx="718466" cy="5666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  <m:sup>
                          <m:sSub>
                            <m:sSubPr>
                              <m:ctrlP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p>
                      </m:sSubSup>
                    </m:oMath>
                  </m:oMathPara>
                </a14:m>
                <a:endParaRPr kumimoji="1" lang="ja-JP" altLang="en-US" sz="2400"/>
              </a:p>
            </p:txBody>
          </p:sp>
        </mc:Choice>
        <mc:Fallback xmlns="">
          <p:sp>
            <p:nvSpPr>
              <p:cNvPr id="66" name="テキスト ボックス 65">
                <a:extLst>
                  <a:ext uri="{FF2B5EF4-FFF2-40B4-BE49-F238E27FC236}">
                    <a16:creationId xmlns:a16="http://schemas.microsoft.com/office/drawing/2014/main" id="{5CF6536C-E51F-4543-EA5F-4891CF5B6E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1094" y="1643755"/>
                <a:ext cx="718466" cy="56663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テキスト ボックス 66">
                <a:extLst>
                  <a:ext uri="{FF2B5EF4-FFF2-40B4-BE49-F238E27FC236}">
                    <a16:creationId xmlns:a16="http://schemas.microsoft.com/office/drawing/2014/main" id="{4E303336-9723-8AB6-0E25-4B01A5F22F9C}"/>
                  </a:ext>
                </a:extLst>
              </p:cNvPr>
              <p:cNvSpPr txBox="1"/>
              <p:nvPr/>
            </p:nvSpPr>
            <p:spPr>
              <a:xfrm>
                <a:off x="589872" y="1687590"/>
                <a:ext cx="866840" cy="4901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𝑎𝑝𝑝</m:t>
                          </m:r>
                        </m:sub>
                      </m:sSub>
                    </m:oMath>
                  </m:oMathPara>
                </a14:m>
                <a:endParaRPr kumimoji="1" lang="ja-JP" altLang="en-US" sz="2400"/>
              </a:p>
            </p:txBody>
          </p:sp>
        </mc:Choice>
        <mc:Fallback xmlns="">
          <p:sp>
            <p:nvSpPr>
              <p:cNvPr id="67" name="テキスト ボックス 66">
                <a:extLst>
                  <a:ext uri="{FF2B5EF4-FFF2-40B4-BE49-F238E27FC236}">
                    <a16:creationId xmlns:a16="http://schemas.microsoft.com/office/drawing/2014/main" id="{4E303336-9723-8AB6-0E25-4B01A5F22F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872" y="1687590"/>
                <a:ext cx="866840" cy="490199"/>
              </a:xfrm>
              <a:prstGeom prst="rect">
                <a:avLst/>
              </a:prstGeom>
              <a:blipFill>
                <a:blip r:embed="rId11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8" name="直線矢印コネクタ 77">
            <a:extLst>
              <a:ext uri="{FF2B5EF4-FFF2-40B4-BE49-F238E27FC236}">
                <a16:creationId xmlns:a16="http://schemas.microsoft.com/office/drawing/2014/main" id="{E9D1A19E-4681-F16A-D6C8-68009BB21161}"/>
              </a:ext>
            </a:extLst>
          </p:cNvPr>
          <p:cNvCxnSpPr>
            <a:cxnSpLocks/>
          </p:cNvCxnSpPr>
          <p:nvPr/>
        </p:nvCxnSpPr>
        <p:spPr>
          <a:xfrm flipH="1">
            <a:off x="2910868" y="2034738"/>
            <a:ext cx="1518339" cy="952791"/>
          </a:xfrm>
          <a:prstGeom prst="straightConnector1">
            <a:avLst/>
          </a:prstGeom>
          <a:ln w="38100">
            <a:solidFill>
              <a:schemeClr val="accent3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8082F73A-BB8D-64DF-D96C-EC779D8CADDA}"/>
              </a:ext>
            </a:extLst>
          </p:cNvPr>
          <p:cNvSpPr txBox="1"/>
          <p:nvPr/>
        </p:nvSpPr>
        <p:spPr>
          <a:xfrm>
            <a:off x="4420130" y="1834017"/>
            <a:ext cx="4412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b="1" u="sng" dirty="0">
                <a:solidFill>
                  <a:schemeClr val="accent3">
                    <a:lumMod val="75000"/>
                  </a:schemeClr>
                </a:solidFill>
                <a:latin typeface="+mj-ea"/>
                <a:ea typeface="+mj-ea"/>
              </a:rPr>
              <a:t>Creation of crack surface</a:t>
            </a:r>
            <a:endParaRPr kumimoji="1" lang="en-US" altLang="ja-JP" sz="2400" b="0" dirty="0">
              <a:solidFill>
                <a:schemeClr val="accent3">
                  <a:lumMod val="75000"/>
                </a:schemeClr>
              </a:solidFill>
              <a:latin typeface="+mj-ea"/>
              <a:ea typeface="+mj-ea"/>
            </a:endParaRPr>
          </a:p>
        </p:txBody>
      </p:sp>
      <p:cxnSp>
        <p:nvCxnSpPr>
          <p:cNvPr id="94" name="直線矢印コネクタ 93">
            <a:extLst>
              <a:ext uri="{FF2B5EF4-FFF2-40B4-BE49-F238E27FC236}">
                <a16:creationId xmlns:a16="http://schemas.microsoft.com/office/drawing/2014/main" id="{BD860DB9-1976-86E7-4411-39D1EFDBF03F}"/>
              </a:ext>
            </a:extLst>
          </p:cNvPr>
          <p:cNvCxnSpPr>
            <a:cxnSpLocks/>
          </p:cNvCxnSpPr>
          <p:nvPr/>
        </p:nvCxnSpPr>
        <p:spPr>
          <a:xfrm flipV="1">
            <a:off x="3044469" y="3369709"/>
            <a:ext cx="578199" cy="1325777"/>
          </a:xfrm>
          <a:prstGeom prst="straightConnector1">
            <a:avLst/>
          </a:prstGeom>
          <a:ln w="508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正方形/長方形 97">
                <a:extLst>
                  <a:ext uri="{FF2B5EF4-FFF2-40B4-BE49-F238E27FC236}">
                    <a16:creationId xmlns:a16="http://schemas.microsoft.com/office/drawing/2014/main" id="{E5EC87B5-13F9-ADF0-C0C3-6D06C39A3B14}"/>
                  </a:ext>
                </a:extLst>
              </p:cNvPr>
              <p:cNvSpPr/>
              <p:nvPr/>
            </p:nvSpPr>
            <p:spPr>
              <a:xfrm>
                <a:off x="2221471" y="5555443"/>
                <a:ext cx="2749471" cy="135421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1600" b="1" i="1"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ja-JP" sz="1600" b="1" i="1">
                            <a:latin typeface="Cambria Math" panose="02040503050406030204" pitchFamily="18" charset="0"/>
                            <a:ea typeface="+mj-ea"/>
                          </a:rPr>
                          <m:t>𝑭</m:t>
                        </m:r>
                      </m:e>
                      <m:sub>
                        <m:r>
                          <a:rPr lang="en-US" altLang="ja-JP" sz="1600" b="1" i="1">
                            <a:latin typeface="Cambria Math" panose="02040503050406030204" pitchFamily="18" charset="0"/>
                            <a:ea typeface="+mj-ea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en-US" altLang="ja-JP" sz="1600" b="1" dirty="0">
                    <a:latin typeface="+mj-ea"/>
                    <a:ea typeface="+mj-ea"/>
                  </a:rPr>
                  <a:t>:Peach-Koehler force </a:t>
                </a:r>
                <a:br>
                  <a:rPr lang="en-US" altLang="ja-JP" sz="1600" b="1" dirty="0">
                    <a:latin typeface="+mj-ea"/>
                    <a:ea typeface="+mj-ea"/>
                  </a:rPr>
                </a:br>
                <a:r>
                  <a:rPr lang="en-US" altLang="ja-JP" sz="1600" b="1" dirty="0">
                    <a:latin typeface="+mj-ea"/>
                    <a:ea typeface="+mj-ea"/>
                  </a:rPr>
                  <a:t>     at crack-tip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1600" i="1" smtClean="0">
                        <a:latin typeface="Cambria Math" panose="02040503050406030204" pitchFamily="18" charset="0"/>
                        <a:ea typeface="+mj-ea"/>
                      </a:rPr>
                      <m:t>𝜇</m:t>
                    </m:r>
                  </m:oMath>
                </a14:m>
                <a:r>
                  <a:rPr lang="ja-JP" altLang="en-US" sz="1600" dirty="0">
                    <a:latin typeface="+mj-ea"/>
                    <a:ea typeface="+mj-ea"/>
                  </a:rPr>
                  <a:t>  </a:t>
                </a:r>
                <a:r>
                  <a:rPr lang="en-US" altLang="ja-JP" sz="1600" dirty="0">
                    <a:latin typeface="+mj-ea"/>
                    <a:ea typeface="+mj-ea"/>
                  </a:rPr>
                  <a:t>: Shear modulus </a:t>
                </a:r>
                <a:endParaRPr kumimoji="1" lang="en-US" altLang="ja-JP" sz="1600" dirty="0">
                  <a:latin typeface="+mj-ea"/>
                  <a:ea typeface="+mj-ea"/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1600" i="1" smtClean="0">
                        <a:latin typeface="Cambria Math" panose="02040503050406030204" pitchFamily="18" charset="0"/>
                        <a:ea typeface="+mj-ea"/>
                      </a:rPr>
                      <m:t>𝜈</m:t>
                    </m:r>
                  </m:oMath>
                </a14:m>
                <a:r>
                  <a:rPr lang="ja-JP" altLang="en-US" sz="1600" dirty="0">
                    <a:latin typeface="+mj-ea"/>
                    <a:ea typeface="+mj-ea"/>
                  </a:rPr>
                  <a:t>  </a:t>
                </a:r>
                <a:r>
                  <a:rPr lang="en-US" altLang="ja-JP" sz="1600" dirty="0">
                    <a:latin typeface="+mj-ea"/>
                    <a:ea typeface="+mj-ea"/>
                  </a:rPr>
                  <a:t>:  Poisson’s ratio </a:t>
                </a:r>
                <a:endParaRPr kumimoji="1" lang="ja-JP" altLang="en-US" sz="1600" dirty="0">
                  <a:latin typeface="+mj-ea"/>
                  <a:ea typeface="+mj-ea"/>
                </a:endParaRPr>
              </a:p>
              <a:p>
                <a:endParaRPr lang="ja-JP" altLang="en-US" b="1" dirty="0"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98" name="正方形/長方形 97">
                <a:extLst>
                  <a:ext uri="{FF2B5EF4-FFF2-40B4-BE49-F238E27FC236}">
                    <a16:creationId xmlns:a16="http://schemas.microsoft.com/office/drawing/2014/main" id="{E5EC87B5-13F9-ADF0-C0C3-6D06C39A3B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1471" y="5555443"/>
                <a:ext cx="2749471" cy="1354217"/>
              </a:xfrm>
              <a:prstGeom prst="rect">
                <a:avLst/>
              </a:prstGeom>
              <a:blipFill>
                <a:blip r:embed="rId12"/>
                <a:stretch>
                  <a:fillRect t="-901" r="-44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テキスト ボックス 99">
                <a:extLst>
                  <a:ext uri="{FF2B5EF4-FFF2-40B4-BE49-F238E27FC236}">
                    <a16:creationId xmlns:a16="http://schemas.microsoft.com/office/drawing/2014/main" id="{2C322018-2B8E-DC21-CE03-F8B39DE7D7E2}"/>
                  </a:ext>
                </a:extLst>
              </p:cNvPr>
              <p:cNvSpPr txBox="1"/>
              <p:nvPr/>
            </p:nvSpPr>
            <p:spPr>
              <a:xfrm>
                <a:off x="4999725" y="5099698"/>
                <a:ext cx="1656223" cy="4901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𝑡𝑖𝑝</m:t>
                          </m:r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𝐼𝑐</m:t>
                          </m:r>
                        </m:sub>
                      </m:sSub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100" name="テキスト ボックス 99">
                <a:extLst>
                  <a:ext uri="{FF2B5EF4-FFF2-40B4-BE49-F238E27FC236}">
                    <a16:creationId xmlns:a16="http://schemas.microsoft.com/office/drawing/2014/main" id="{2C322018-2B8E-DC21-CE03-F8B39DE7D7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9725" y="5099698"/>
                <a:ext cx="1656223" cy="490199"/>
              </a:xfrm>
              <a:prstGeom prst="rect">
                <a:avLst/>
              </a:prstGeom>
              <a:blipFill>
                <a:blip r:embed="rId13"/>
                <a:stretch>
                  <a:fillRect b="-1125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テキスト ボックス 100">
                <a:extLst>
                  <a:ext uri="{FF2B5EF4-FFF2-40B4-BE49-F238E27FC236}">
                    <a16:creationId xmlns:a16="http://schemas.microsoft.com/office/drawing/2014/main" id="{D2CC9E1B-D661-4E04-98FC-6FCC19B86A88}"/>
                  </a:ext>
                </a:extLst>
              </p:cNvPr>
              <p:cNvSpPr txBox="1"/>
              <p:nvPr/>
            </p:nvSpPr>
            <p:spPr>
              <a:xfrm>
                <a:off x="7140927" y="4995168"/>
                <a:ext cx="1716496" cy="10016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𝐼𝑐</m:t>
                          </m:r>
                        </m:sub>
                      </m:sSub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kumimoji="1" lang="en-US" altLang="ja-JP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ja-JP" sz="20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kumimoji="1" lang="en-US" altLang="ja-JP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𝜇𝛾</m:t>
                              </m:r>
                            </m:num>
                            <m:den>
                              <m:r>
                                <a:rPr kumimoji="1" lang="en-US" altLang="ja-JP" sz="20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kumimoji="1" lang="en-US" altLang="ja-JP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𝜈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101" name="テキスト ボックス 100">
                <a:extLst>
                  <a:ext uri="{FF2B5EF4-FFF2-40B4-BE49-F238E27FC236}">
                    <a16:creationId xmlns:a16="http://schemas.microsoft.com/office/drawing/2014/main" id="{D2CC9E1B-D661-4E04-98FC-6FCC19B86A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0927" y="4995168"/>
                <a:ext cx="1716496" cy="100168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テキスト ボックス 101">
                <a:extLst>
                  <a:ext uri="{FF2B5EF4-FFF2-40B4-BE49-F238E27FC236}">
                    <a16:creationId xmlns:a16="http://schemas.microsoft.com/office/drawing/2014/main" id="{1E72CAAB-4F52-4629-345E-52140DCA2C68}"/>
                  </a:ext>
                </a:extLst>
              </p:cNvPr>
              <p:cNvSpPr txBox="1"/>
              <p:nvPr/>
            </p:nvSpPr>
            <p:spPr>
              <a:xfrm>
                <a:off x="6937640" y="5939262"/>
                <a:ext cx="253633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𝐼𝑐</m:t>
                        </m:r>
                      </m:sub>
                    </m:sSub>
                  </m:oMath>
                </a14:m>
                <a:r>
                  <a:rPr lang="ja-JP" altLang="en-US" sz="1600" dirty="0">
                    <a:latin typeface="+mn-ea"/>
                  </a:rPr>
                  <a:t> </a:t>
                </a:r>
                <a:r>
                  <a:rPr lang="en-US" altLang="ja-JP" sz="1600" dirty="0">
                    <a:latin typeface="+mn-ea"/>
                  </a:rPr>
                  <a:t>: Critical value </a:t>
                </a:r>
                <a:endParaRPr kumimoji="1" lang="en-US" altLang="ja-JP" sz="1600" dirty="0">
                  <a:latin typeface="+mn-ea"/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160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ja-JP" altLang="en-US" sz="1600" dirty="0">
                    <a:latin typeface="+mn-ea"/>
                  </a:rPr>
                  <a:t>  </a:t>
                </a:r>
                <a:r>
                  <a:rPr lang="en-US" altLang="ja-JP" sz="1600" dirty="0">
                    <a:latin typeface="+mn-ea"/>
                  </a:rPr>
                  <a:t>  : Surface energy </a:t>
                </a:r>
                <a:endParaRPr kumimoji="1" lang="ja-JP" altLang="en-US" sz="1600" dirty="0">
                  <a:latin typeface="+mn-ea"/>
                </a:endParaRPr>
              </a:p>
            </p:txBody>
          </p:sp>
        </mc:Choice>
        <mc:Fallback xmlns="">
          <p:sp>
            <p:nvSpPr>
              <p:cNvPr id="102" name="テキスト ボックス 101">
                <a:extLst>
                  <a:ext uri="{FF2B5EF4-FFF2-40B4-BE49-F238E27FC236}">
                    <a16:creationId xmlns:a16="http://schemas.microsoft.com/office/drawing/2014/main" id="{1E72CAAB-4F52-4629-345E-52140DCA2C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7640" y="5939262"/>
                <a:ext cx="2536333" cy="584775"/>
              </a:xfrm>
              <a:prstGeom prst="rect">
                <a:avLst/>
              </a:prstGeom>
              <a:blipFill>
                <a:blip r:embed="rId15"/>
                <a:stretch>
                  <a:fillRect t="-2083" b="-1354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テキスト ボックス 104">
                <a:extLst>
                  <a:ext uri="{FF2B5EF4-FFF2-40B4-BE49-F238E27FC236}">
                    <a16:creationId xmlns:a16="http://schemas.microsoft.com/office/drawing/2014/main" id="{C575CF7E-8689-DABE-3DCD-27DD3968D29B}"/>
                  </a:ext>
                </a:extLst>
              </p:cNvPr>
              <p:cNvSpPr txBox="1"/>
              <p:nvPr/>
            </p:nvSpPr>
            <p:spPr>
              <a:xfrm>
                <a:off x="7247624" y="2360853"/>
                <a:ext cx="1988237" cy="8027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ja-JP" sz="1400" b="0" i="1" smtClean="0">
                        <a:latin typeface="Cambria Math" panose="02040503050406030204" pitchFamily="18" charset="0"/>
                        <a:ea typeface="+mj-ea"/>
                      </a:rPr>
                      <m:t>2</m:t>
                    </m:r>
                    <m:r>
                      <a:rPr lang="en-US" altLang="ja-JP" sz="1400" b="0" i="1" smtClean="0">
                        <a:latin typeface="Cambria Math" panose="02040503050406030204" pitchFamily="18" charset="0"/>
                        <a:ea typeface="+mj-ea"/>
                      </a:rPr>
                      <m:t>𝑎</m:t>
                    </m:r>
                  </m:oMath>
                </a14:m>
                <a:r>
                  <a:rPr lang="ja-JP" altLang="en-US" sz="1400" dirty="0">
                    <a:latin typeface="+mj-ea"/>
                    <a:ea typeface="+mj-ea"/>
                  </a:rPr>
                  <a:t>  </a:t>
                </a:r>
                <a:r>
                  <a:rPr lang="en-US" altLang="ja-JP" sz="1400" dirty="0">
                    <a:latin typeface="+mj-ea"/>
                    <a:ea typeface="+mj-ea"/>
                  </a:rPr>
                  <a:t>:  Crack length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ja-JP" sz="1400" i="1" smtClean="0">
                            <a:latin typeface="Cambria Math" panose="02040503050406030204" pitchFamily="18" charset="0"/>
                            <a:ea typeface="+mj-ea"/>
                          </a:rPr>
                        </m:ctrlPr>
                      </m:sSubSupPr>
                      <m:e>
                        <m:r>
                          <a:rPr lang="en-US" altLang="ja-JP" sz="1400" i="1" smtClean="0">
                            <a:latin typeface="Cambria Math" panose="02040503050406030204" pitchFamily="18" charset="0"/>
                            <a:ea typeface="+mj-ea"/>
                          </a:rPr>
                          <m:t>𝜎</m:t>
                        </m:r>
                      </m:e>
                      <m:sub>
                        <m:r>
                          <a:rPr lang="en-US" altLang="ja-JP" sz="1400" b="0" i="1" smtClean="0">
                            <a:latin typeface="Cambria Math" panose="02040503050406030204" pitchFamily="18" charset="0"/>
                            <a:ea typeface="+mj-ea"/>
                          </a:rPr>
                          <m:t>𝑦</m:t>
                        </m:r>
                      </m:sub>
                      <m:sup>
                        <m:sSub>
                          <m:sSubPr>
                            <m:ctrlPr>
                              <a:rPr lang="en-US" altLang="ja-JP" sz="1400" b="0" i="1" smtClean="0">
                                <a:latin typeface="Cambria Math" panose="02040503050406030204" pitchFamily="18" charset="0"/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lang="en-US" altLang="ja-JP" sz="1400" b="0" i="1" smtClean="0">
                                <a:latin typeface="Cambria Math" panose="02040503050406030204" pitchFamily="18" charset="0"/>
                                <a:ea typeface="+mj-ea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ja-JP" sz="1400" b="0" i="1" smtClean="0">
                                <a:latin typeface="Cambria Math" panose="02040503050406030204" pitchFamily="18" charset="0"/>
                                <a:ea typeface="+mj-ea"/>
                              </a:rPr>
                              <m:t>𝑖</m:t>
                            </m:r>
                          </m:sub>
                        </m:sSub>
                      </m:sup>
                    </m:sSubSup>
                  </m:oMath>
                </a14:m>
                <a:r>
                  <a:rPr lang="en-US" altLang="ja-JP" sz="1400" dirty="0">
                    <a:latin typeface="+mj-ea"/>
                    <a:ea typeface="+mj-ea"/>
                  </a:rPr>
                  <a:t>:  Stress of crack </a:t>
                </a:r>
                <a:br>
                  <a:rPr lang="en-US" altLang="ja-JP" sz="1400" dirty="0">
                    <a:latin typeface="+mj-ea"/>
                    <a:ea typeface="+mj-ea"/>
                  </a:rPr>
                </a:br>
                <a:r>
                  <a:rPr lang="en-US" altLang="ja-JP" sz="1400" dirty="0">
                    <a:latin typeface="+mj-ea"/>
                    <a:ea typeface="+mj-ea"/>
                  </a:rPr>
                  <a:t>        dislocations</a:t>
                </a:r>
              </a:p>
            </p:txBody>
          </p:sp>
        </mc:Choice>
        <mc:Fallback xmlns="">
          <p:sp>
            <p:nvSpPr>
              <p:cNvPr id="105" name="テキスト ボックス 104">
                <a:extLst>
                  <a:ext uri="{FF2B5EF4-FFF2-40B4-BE49-F238E27FC236}">
                    <a16:creationId xmlns:a16="http://schemas.microsoft.com/office/drawing/2014/main" id="{C575CF7E-8689-DABE-3DCD-27DD3968D2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7624" y="2360853"/>
                <a:ext cx="1988237" cy="802784"/>
              </a:xfrm>
              <a:prstGeom prst="rect">
                <a:avLst/>
              </a:prstGeom>
              <a:blipFill>
                <a:blip r:embed="rId16"/>
                <a:stretch>
                  <a:fillRect t="-1538" b="-615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テキスト ボックス 114">
                <a:extLst>
                  <a:ext uri="{FF2B5EF4-FFF2-40B4-BE49-F238E27FC236}">
                    <a16:creationId xmlns:a16="http://schemas.microsoft.com/office/drawing/2014/main" id="{4435E7B1-BA40-24BF-C905-9E3276D71727}"/>
                  </a:ext>
                </a:extLst>
              </p:cNvPr>
              <p:cNvSpPr txBox="1"/>
              <p:nvPr/>
            </p:nvSpPr>
            <p:spPr>
              <a:xfrm>
                <a:off x="4415469" y="3232900"/>
                <a:ext cx="4555158" cy="4242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2000" dirty="0">
                    <a:latin typeface="+mn-ea"/>
                  </a:rPr>
                  <a:t>Condition on crack surface</a:t>
                </a:r>
                <a:r>
                  <a:rPr kumimoji="1" lang="ja-JP" altLang="en-US" sz="2000" dirty="0"/>
                  <a:t>：</a:t>
                </a:r>
                <a:r>
                  <a:rPr kumimoji="1" lang="en-US" altLang="ja-JP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00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𝜎</m:t>
                        </m:r>
                      </m:e>
                      <m:sub>
                        <m:r>
                          <a:rPr kumimoji="1" lang="en-US" altLang="ja-JP" sz="20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𝑦</m:t>
                        </m:r>
                      </m:sub>
                    </m:sSub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ja-JP" sz="2000" dirty="0"/>
              </a:p>
            </p:txBody>
          </p:sp>
        </mc:Choice>
        <mc:Fallback xmlns="">
          <p:sp>
            <p:nvSpPr>
              <p:cNvPr id="115" name="テキスト ボックス 114">
                <a:extLst>
                  <a:ext uri="{FF2B5EF4-FFF2-40B4-BE49-F238E27FC236}">
                    <a16:creationId xmlns:a16="http://schemas.microsoft.com/office/drawing/2014/main" id="{4435E7B1-BA40-24BF-C905-9E3276D717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5469" y="3232900"/>
                <a:ext cx="4555158" cy="424283"/>
              </a:xfrm>
              <a:prstGeom prst="rect">
                <a:avLst/>
              </a:prstGeom>
              <a:blipFill>
                <a:blip r:embed="rId17"/>
                <a:stretch>
                  <a:fillRect l="-1337" t="-2857" b="-2285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6" name="グループ化 125">
            <a:extLst>
              <a:ext uri="{FF2B5EF4-FFF2-40B4-BE49-F238E27FC236}">
                <a16:creationId xmlns:a16="http://schemas.microsoft.com/office/drawing/2014/main" id="{A285E309-EAC3-35E4-12E6-A56DBA52A037}"/>
              </a:ext>
            </a:extLst>
          </p:cNvPr>
          <p:cNvGrpSpPr/>
          <p:nvPr/>
        </p:nvGrpSpPr>
        <p:grpSpPr>
          <a:xfrm>
            <a:off x="4498613" y="3823199"/>
            <a:ext cx="364580" cy="238210"/>
            <a:chOff x="3873949" y="3726345"/>
            <a:chExt cx="1755326" cy="1146901"/>
          </a:xfrm>
          <a:solidFill>
            <a:srgbClr val="0000FF"/>
          </a:solidFill>
        </p:grpSpPr>
        <p:sp>
          <p:nvSpPr>
            <p:cNvPr id="127" name="正方形/長方形 126">
              <a:extLst>
                <a:ext uri="{FF2B5EF4-FFF2-40B4-BE49-F238E27FC236}">
                  <a16:creationId xmlns:a16="http://schemas.microsoft.com/office/drawing/2014/main" id="{4A4DF14C-E0C1-2694-FA2D-CE6B5392AF87}"/>
                </a:ext>
              </a:extLst>
            </p:cNvPr>
            <p:cNvSpPr/>
            <p:nvPr/>
          </p:nvSpPr>
          <p:spPr>
            <a:xfrm>
              <a:off x="3873949" y="4409753"/>
              <a:ext cx="1755326" cy="463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8" name="正方形/長方形 127">
              <a:extLst>
                <a:ext uri="{FF2B5EF4-FFF2-40B4-BE49-F238E27FC236}">
                  <a16:creationId xmlns:a16="http://schemas.microsoft.com/office/drawing/2014/main" id="{11F6E757-8743-2BC2-8EB2-5F97B26591FB}"/>
                </a:ext>
              </a:extLst>
            </p:cNvPr>
            <p:cNvSpPr/>
            <p:nvPr/>
          </p:nvSpPr>
          <p:spPr>
            <a:xfrm rot="5400000">
              <a:off x="4178162" y="4076372"/>
              <a:ext cx="1146901" cy="44684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29" name="グループ化 128">
            <a:extLst>
              <a:ext uri="{FF2B5EF4-FFF2-40B4-BE49-F238E27FC236}">
                <a16:creationId xmlns:a16="http://schemas.microsoft.com/office/drawing/2014/main" id="{7BEC2C84-D87E-3905-C671-53CD800883C3}"/>
              </a:ext>
            </a:extLst>
          </p:cNvPr>
          <p:cNvGrpSpPr/>
          <p:nvPr/>
        </p:nvGrpSpPr>
        <p:grpSpPr>
          <a:xfrm>
            <a:off x="4498386" y="4197011"/>
            <a:ext cx="364580" cy="238210"/>
            <a:chOff x="3873949" y="3726345"/>
            <a:chExt cx="1755326" cy="1146901"/>
          </a:xfrm>
          <a:solidFill>
            <a:srgbClr val="FF0000"/>
          </a:solidFill>
        </p:grpSpPr>
        <p:sp>
          <p:nvSpPr>
            <p:cNvPr id="130" name="正方形/長方形 129">
              <a:extLst>
                <a:ext uri="{FF2B5EF4-FFF2-40B4-BE49-F238E27FC236}">
                  <a16:creationId xmlns:a16="http://schemas.microsoft.com/office/drawing/2014/main" id="{337CBC79-687C-17D5-8130-E215CE416189}"/>
                </a:ext>
              </a:extLst>
            </p:cNvPr>
            <p:cNvSpPr/>
            <p:nvPr/>
          </p:nvSpPr>
          <p:spPr>
            <a:xfrm>
              <a:off x="3873949" y="4409753"/>
              <a:ext cx="1755326" cy="463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1" name="正方形/長方形 130">
              <a:extLst>
                <a:ext uri="{FF2B5EF4-FFF2-40B4-BE49-F238E27FC236}">
                  <a16:creationId xmlns:a16="http://schemas.microsoft.com/office/drawing/2014/main" id="{4FF7E5A1-19B9-90E2-BA76-7100C1131800}"/>
                </a:ext>
              </a:extLst>
            </p:cNvPr>
            <p:cNvSpPr/>
            <p:nvPr/>
          </p:nvSpPr>
          <p:spPr>
            <a:xfrm rot="5400000">
              <a:off x="4178162" y="4076372"/>
              <a:ext cx="1146901" cy="44684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33" name="テキスト ボックス 132">
            <a:extLst>
              <a:ext uri="{FF2B5EF4-FFF2-40B4-BE49-F238E27FC236}">
                <a16:creationId xmlns:a16="http://schemas.microsoft.com/office/drawing/2014/main" id="{EC200000-779F-E623-354C-9A7BEE8E4863}"/>
              </a:ext>
            </a:extLst>
          </p:cNvPr>
          <p:cNvSpPr txBox="1"/>
          <p:nvPr/>
        </p:nvSpPr>
        <p:spPr>
          <a:xfrm>
            <a:off x="4892371" y="3752074"/>
            <a:ext cx="3565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latin typeface="+mj-ea"/>
                <a:ea typeface="+mj-ea"/>
              </a:rPr>
              <a:t>：</a:t>
            </a:r>
            <a:r>
              <a:rPr kumimoji="1" lang="en-US" altLang="ja-JP" dirty="0">
                <a:latin typeface="+mj-ea"/>
                <a:ea typeface="+mj-ea"/>
              </a:rPr>
              <a:t>Move to a balanced position</a:t>
            </a:r>
            <a:endParaRPr kumimoji="1" lang="ja-JP" altLang="en-US" dirty="0">
              <a:latin typeface="+mj-ea"/>
              <a:ea typeface="+mj-ea"/>
            </a:endParaRPr>
          </a:p>
        </p:txBody>
      </p:sp>
      <p:sp>
        <p:nvSpPr>
          <p:cNvPr id="134" name="テキスト ボックス 133">
            <a:extLst>
              <a:ext uri="{FF2B5EF4-FFF2-40B4-BE49-F238E27FC236}">
                <a16:creationId xmlns:a16="http://schemas.microsoft.com/office/drawing/2014/main" id="{FD8A396F-4525-7F04-3FED-55AB28167AF3}"/>
              </a:ext>
            </a:extLst>
          </p:cNvPr>
          <p:cNvSpPr txBox="1"/>
          <p:nvPr/>
        </p:nvSpPr>
        <p:spPr>
          <a:xfrm>
            <a:off x="4905547" y="4167161"/>
            <a:ext cx="3533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latin typeface="+mj-ea"/>
                <a:ea typeface="+mj-ea"/>
              </a:rPr>
              <a:t>：</a:t>
            </a:r>
            <a:r>
              <a:rPr lang="en-US" altLang="ja-JP" dirty="0">
                <a:latin typeface="+mj-ea"/>
                <a:ea typeface="+mj-ea"/>
              </a:rPr>
              <a:t>Fixed dislocation (crack-tip)</a:t>
            </a:r>
            <a:endParaRPr kumimoji="1" lang="ja-JP" altLang="en-US" dirty="0">
              <a:latin typeface="+mj-ea"/>
              <a:ea typeface="+mj-ea"/>
            </a:endParaRPr>
          </a:p>
        </p:txBody>
      </p:sp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B93820D0-25F5-6702-C1A7-745797E78A25}"/>
              </a:ext>
            </a:extLst>
          </p:cNvPr>
          <p:cNvCxnSpPr>
            <a:cxnSpLocks/>
          </p:cNvCxnSpPr>
          <p:nvPr/>
        </p:nvCxnSpPr>
        <p:spPr>
          <a:xfrm>
            <a:off x="461752" y="3953246"/>
            <a:ext cx="3280780" cy="4482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5102E89-26C7-33CA-3C17-566E07AF79CA}"/>
              </a:ext>
            </a:extLst>
          </p:cNvPr>
          <p:cNvSpPr txBox="1"/>
          <p:nvPr/>
        </p:nvSpPr>
        <p:spPr>
          <a:xfrm>
            <a:off x="4731280" y="4625011"/>
            <a:ext cx="4412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u="sng" dirty="0">
                <a:solidFill>
                  <a:srgbClr val="376092"/>
                </a:solidFill>
                <a:latin typeface="+mj-ea"/>
                <a:ea typeface="+mj-ea"/>
              </a:rPr>
              <a:t>Determination of facture</a:t>
            </a:r>
            <a:endParaRPr kumimoji="1" lang="en-US" altLang="ja-JP" sz="2400" b="0" dirty="0">
              <a:solidFill>
                <a:srgbClr val="376092"/>
              </a:solidFill>
              <a:latin typeface="+mj-ea"/>
              <a:ea typeface="+mj-ea"/>
            </a:endParaRPr>
          </a:p>
        </p:txBody>
      </p: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F1F095BD-A7A0-D2A0-4ED0-1EB5B1487688}"/>
              </a:ext>
            </a:extLst>
          </p:cNvPr>
          <p:cNvCxnSpPr>
            <a:cxnSpLocks/>
          </p:cNvCxnSpPr>
          <p:nvPr/>
        </p:nvCxnSpPr>
        <p:spPr>
          <a:xfrm>
            <a:off x="5106860" y="5599670"/>
            <a:ext cx="141298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矢印: 下 31">
            <a:extLst>
              <a:ext uri="{FF2B5EF4-FFF2-40B4-BE49-F238E27FC236}">
                <a16:creationId xmlns:a16="http://schemas.microsoft.com/office/drawing/2014/main" id="{154A8A2C-F317-DB26-F173-7D9773E6F291}"/>
              </a:ext>
            </a:extLst>
          </p:cNvPr>
          <p:cNvSpPr/>
          <p:nvPr/>
        </p:nvSpPr>
        <p:spPr>
          <a:xfrm>
            <a:off x="5560322" y="5608511"/>
            <a:ext cx="495612" cy="255730"/>
          </a:xfrm>
          <a:prstGeom prst="downArrow">
            <a:avLst/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1B9854C2-95B0-B799-8B62-F2A0440C43A9}"/>
              </a:ext>
            </a:extLst>
          </p:cNvPr>
          <p:cNvSpPr txBox="1"/>
          <p:nvPr/>
        </p:nvSpPr>
        <p:spPr>
          <a:xfrm>
            <a:off x="4905547" y="5891532"/>
            <a:ext cx="1926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+mj-ea"/>
                <a:ea typeface="+mj-ea"/>
              </a:rPr>
              <a:t>Fracture</a:t>
            </a:r>
            <a:r>
              <a:rPr lang="ja-JP" altLang="en-US" dirty="0">
                <a:latin typeface="+mj-ea"/>
                <a:ea typeface="+mj-ea"/>
              </a:rPr>
              <a:t> </a:t>
            </a:r>
            <a:r>
              <a:rPr lang="en-US" altLang="ja-JP" dirty="0">
                <a:latin typeface="+mj-ea"/>
                <a:ea typeface="+mj-ea"/>
              </a:rPr>
              <a:t>begins</a:t>
            </a:r>
            <a:endParaRPr kumimoji="1" lang="ja-JP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7311803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タイトル 1">
                <a:extLst>
                  <a:ext uri="{FF2B5EF4-FFF2-40B4-BE49-F238E27FC236}">
                    <a16:creationId xmlns:a16="http://schemas.microsoft.com/office/drawing/2014/main" id="{08A8535B-B2AD-F898-9E5C-12C8BCB2D75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kumimoji="1" lang="en-US" altLang="ja-JP" dirty="0"/>
                  <a:t>Crack position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𝑛𝑒𝑎𝑟</m:t>
                        </m:r>
                      </m:sub>
                    </m:sSub>
                  </m:oMath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2" name="タイトル 1">
                <a:extLst>
                  <a:ext uri="{FF2B5EF4-FFF2-40B4-BE49-F238E27FC236}">
                    <a16:creationId xmlns:a16="http://schemas.microsoft.com/office/drawing/2014/main" id="{08A8535B-B2AD-F898-9E5C-12C8BCB2D7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700" b="-3584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F451F49-7CF6-1744-8F58-08F4BE468F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6562" y="820582"/>
            <a:ext cx="9745885" cy="1001815"/>
          </a:xfrm>
        </p:spPr>
        <p:txBody>
          <a:bodyPr/>
          <a:lstStyle/>
          <a:p>
            <a:r>
              <a:rPr kumimoji="1" lang="en-US" altLang="ja-JP" dirty="0"/>
              <a:t>Effects from the macrocrack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684467A-DAAB-9C3F-E350-4BE01C84F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F6909-ABCB-BB45-AC56-A8377246EBB2}" type="slidenum">
              <a:rPr lang="ja-JP" altLang="en-US" smtClean="0"/>
              <a:pPr/>
              <a:t>35</a:t>
            </a:fld>
            <a:endParaRPr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6F03AC8-CDC6-C9C9-8BA5-53E538BA5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Tokyo University of Science - Computational Materials Science Laboratory -</a:t>
            </a:r>
            <a:endParaRPr lang="ja-JP" altLang="en-US" dirty="0"/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3694146B-A618-C530-A576-49ADFC0951A9}"/>
              </a:ext>
            </a:extLst>
          </p:cNvPr>
          <p:cNvGrpSpPr/>
          <p:nvPr/>
        </p:nvGrpSpPr>
        <p:grpSpPr>
          <a:xfrm>
            <a:off x="0" y="1772376"/>
            <a:ext cx="8846103" cy="3070279"/>
            <a:chOff x="-72724" y="1766538"/>
            <a:chExt cx="8846103" cy="30702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テキスト プレースホルダー 2">
                  <a:extLst>
                    <a:ext uri="{FF2B5EF4-FFF2-40B4-BE49-F238E27FC236}">
                      <a16:creationId xmlns:a16="http://schemas.microsoft.com/office/drawing/2014/main" id="{E61A4ECD-0C1E-567B-1738-F3480964A105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72724" y="1766538"/>
                  <a:ext cx="4421111" cy="3066370"/>
                </a:xfrm>
                <a:prstGeom prst="rect">
                  <a:avLst/>
                </a:prstGeom>
              </p:spPr>
              <p:txBody>
                <a:bodyPr vert="horz"/>
                <a:lstStyle>
                  <a:lvl1pPr marL="342000" indent="-342900" algn="l" defTabSz="914400" rtl="0" eaLnBrk="1" latinLnBrk="0" hangingPunct="1">
                    <a:lnSpc>
                      <a:spcPct val="100000"/>
                    </a:lnSpc>
                    <a:spcBef>
                      <a:spcPts val="1800"/>
                    </a:spcBef>
                    <a:spcAft>
                      <a:spcPts val="400"/>
                    </a:spcAft>
                    <a:buClr>
                      <a:schemeClr val="accent6">
                        <a:lumMod val="75000"/>
                      </a:schemeClr>
                    </a:buClr>
                    <a:buSzPct val="140000"/>
                    <a:buFont typeface="ヒラギノ角ゴ ProN W3"/>
                    <a:buChar char="|"/>
                    <a:defRPr kumimoji="1" sz="28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1600" indent="-392400" algn="l" defTabSz="914400" rtl="0" eaLnBrk="1" latinLnBrk="0" hangingPunct="1">
                    <a:lnSpc>
                      <a:spcPct val="100000"/>
                    </a:lnSpc>
                    <a:spcBef>
                      <a:spcPts val="225"/>
                    </a:spcBef>
                    <a:buClr>
                      <a:schemeClr val="accent6">
                        <a:lumMod val="75000"/>
                      </a:schemeClr>
                    </a:buClr>
                    <a:buSzPct val="75000"/>
                    <a:buFont typeface="Wingdings" charset="2"/>
                    <a:buChar char="n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410400" algn="l" defTabSz="914400" rtl="0" eaLnBrk="1" latinLnBrk="0" hangingPunct="1">
                    <a:lnSpc>
                      <a:spcPct val="100000"/>
                    </a:lnSpc>
                    <a:spcBef>
                      <a:spcPts val="25"/>
                    </a:spcBef>
                    <a:buClr>
                      <a:schemeClr val="accent6">
                        <a:lumMod val="75000"/>
                      </a:schemeClr>
                    </a:buClr>
                    <a:buSzPct val="120000"/>
                    <a:buFont typeface="HiraKakuProN-W3" charset="-128"/>
                    <a:buChar char="−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100000"/>
                    </a:lnSpc>
                    <a:spcBef>
                      <a:spcPts val="25"/>
                    </a:spcBef>
                    <a:buClr>
                      <a:schemeClr val="accent6">
                        <a:lumMod val="75000"/>
                      </a:schemeClr>
                    </a:buClr>
                    <a:buFont typeface="Arial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100000"/>
                    </a:lnSpc>
                    <a:spcBef>
                      <a:spcPts val="25"/>
                    </a:spcBef>
                    <a:buClr>
                      <a:schemeClr val="accent6">
                        <a:lumMod val="75000"/>
                      </a:schemeClr>
                    </a:buClr>
                    <a:buFont typeface="Arial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2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ja-JP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𝑦𝑦</m:t>
                          </m:r>
                        </m:sub>
                      </m:sSub>
                    </m:oMath>
                  </a14:m>
                  <a:endParaRPr lang="ja-JP" altLang="en-US"/>
                </a:p>
              </p:txBody>
            </p:sp>
          </mc:Choice>
          <mc:Fallback xmlns="">
            <p:sp>
              <p:nvSpPr>
                <p:cNvPr id="7" name="テキスト プレースホルダー 2">
                  <a:extLst>
                    <a:ext uri="{FF2B5EF4-FFF2-40B4-BE49-F238E27FC236}">
                      <a16:creationId xmlns:a16="http://schemas.microsoft.com/office/drawing/2014/main" id="{E61A4ECD-0C1E-567B-1738-F3480964A1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72724" y="1766538"/>
                  <a:ext cx="4421111" cy="3066370"/>
                </a:xfrm>
                <a:prstGeom prst="rect">
                  <a:avLst/>
                </a:prstGeom>
                <a:blipFill>
                  <a:blip r:embed="rId3"/>
                  <a:stretch>
                    <a:fillRect t="-452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テキスト プレースホルダー 2">
                  <a:extLst>
                    <a:ext uri="{FF2B5EF4-FFF2-40B4-BE49-F238E27FC236}">
                      <a16:creationId xmlns:a16="http://schemas.microsoft.com/office/drawing/2014/main" id="{045808FF-88D7-CEFE-B2E3-348FFAF578ED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452318" y="1770447"/>
                  <a:ext cx="4321061" cy="3066370"/>
                </a:xfrm>
                <a:prstGeom prst="rect">
                  <a:avLst/>
                </a:prstGeom>
              </p:spPr>
              <p:txBody>
                <a:bodyPr vert="horz"/>
                <a:lstStyle>
                  <a:lvl1pPr marL="342000" indent="-342900" algn="l" defTabSz="914400" rtl="0" eaLnBrk="1" latinLnBrk="0" hangingPunct="1">
                    <a:lnSpc>
                      <a:spcPct val="100000"/>
                    </a:lnSpc>
                    <a:spcBef>
                      <a:spcPts val="1800"/>
                    </a:spcBef>
                    <a:spcAft>
                      <a:spcPts val="400"/>
                    </a:spcAft>
                    <a:buClr>
                      <a:schemeClr val="accent6">
                        <a:lumMod val="75000"/>
                      </a:schemeClr>
                    </a:buClr>
                    <a:buSzPct val="140000"/>
                    <a:buFont typeface="ヒラギノ角ゴ ProN W3"/>
                    <a:buChar char="|"/>
                    <a:defRPr kumimoji="1" sz="28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1600" indent="-392400" algn="l" defTabSz="914400" rtl="0" eaLnBrk="1" latinLnBrk="0" hangingPunct="1">
                    <a:lnSpc>
                      <a:spcPct val="100000"/>
                    </a:lnSpc>
                    <a:spcBef>
                      <a:spcPts val="225"/>
                    </a:spcBef>
                    <a:buClr>
                      <a:schemeClr val="accent6">
                        <a:lumMod val="75000"/>
                      </a:schemeClr>
                    </a:buClr>
                    <a:buSzPct val="75000"/>
                    <a:buFont typeface="Wingdings" charset="2"/>
                    <a:buChar char="n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410400" algn="l" defTabSz="914400" rtl="0" eaLnBrk="1" latinLnBrk="0" hangingPunct="1">
                    <a:lnSpc>
                      <a:spcPct val="100000"/>
                    </a:lnSpc>
                    <a:spcBef>
                      <a:spcPts val="25"/>
                    </a:spcBef>
                    <a:buClr>
                      <a:schemeClr val="accent6">
                        <a:lumMod val="75000"/>
                      </a:schemeClr>
                    </a:buClr>
                    <a:buSzPct val="120000"/>
                    <a:buFont typeface="HiraKakuProN-W3" charset="-128"/>
                    <a:buChar char="−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100000"/>
                    </a:lnSpc>
                    <a:spcBef>
                      <a:spcPts val="25"/>
                    </a:spcBef>
                    <a:buClr>
                      <a:schemeClr val="accent6">
                        <a:lumMod val="75000"/>
                      </a:schemeClr>
                    </a:buClr>
                    <a:buFont typeface="Arial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100000"/>
                    </a:lnSpc>
                    <a:spcBef>
                      <a:spcPts val="25"/>
                    </a:spcBef>
                    <a:buClr>
                      <a:schemeClr val="accent6">
                        <a:lumMod val="75000"/>
                      </a:schemeClr>
                    </a:buClr>
                    <a:buFont typeface="Arial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2"/>
                  <a14:m>
                    <m:oMath xmlns:m="http://schemas.openxmlformats.org/officeDocument/2006/math">
                      <m:r>
                        <a:rPr lang="ja-JP" altLang="en-US" i="1" smtClean="0">
                          <a:latin typeface="Cambria Math" panose="02040503050406030204" pitchFamily="18" charset="0"/>
                        </a:rPr>
                        <m:t>𝜏</m:t>
                      </m:r>
                    </m:oMath>
                  </a14:m>
                  <a:endParaRPr lang="ja-JP" altLang="en-US"/>
                </a:p>
              </p:txBody>
            </p:sp>
          </mc:Choice>
          <mc:Fallback xmlns="">
            <p:sp>
              <p:nvSpPr>
                <p:cNvPr id="8" name="テキスト プレースホルダー 2">
                  <a:extLst>
                    <a:ext uri="{FF2B5EF4-FFF2-40B4-BE49-F238E27FC236}">
                      <a16:creationId xmlns:a16="http://schemas.microsoft.com/office/drawing/2014/main" id="{045808FF-88D7-CEFE-B2E3-348FFAF578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52318" y="1770447"/>
                  <a:ext cx="4321061" cy="3066370"/>
                </a:xfrm>
                <a:prstGeom prst="rect">
                  <a:avLst/>
                </a:prstGeom>
                <a:blipFill>
                  <a:blip r:embed="rId4"/>
                  <a:stretch>
                    <a:fillRect t="-537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7" name="図 16">
            <a:extLst>
              <a:ext uri="{FF2B5EF4-FFF2-40B4-BE49-F238E27FC236}">
                <a16:creationId xmlns:a16="http://schemas.microsoft.com/office/drawing/2014/main" id="{47B70C17-1B2E-49F7-D2C0-C60B04E146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257994" y="1320832"/>
            <a:ext cx="4239948" cy="6057068"/>
          </a:xfrm>
          <a:prstGeom prst="rect">
            <a:avLst/>
          </a:prstGeom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4C2974C5-78E9-E8F0-D8EE-FFCF558A50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4773939" y="1329388"/>
            <a:ext cx="4239948" cy="60570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4D34F65F-CED2-0473-0866-98D1253BD8A1}"/>
                  </a:ext>
                </a:extLst>
              </p:cNvPr>
              <p:cNvSpPr txBox="1"/>
              <p:nvPr/>
            </p:nvSpPr>
            <p:spPr>
              <a:xfrm>
                <a:off x="5406502" y="3728997"/>
                <a:ext cx="1933670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ja-JP" u="sng" dirty="0">
                    <a:solidFill>
                      <a:srgbClr val="C00000"/>
                    </a:solidFill>
                    <a:latin typeface="+mj-ea"/>
                    <a:ea typeface="+mj-ea"/>
                  </a:rPr>
                  <a:t>Blunted  </a:t>
                </a:r>
                <a:br>
                  <a:rPr kumimoji="1" lang="en-US" altLang="ja-JP" u="sng" dirty="0">
                    <a:solidFill>
                      <a:srgbClr val="C00000"/>
                    </a:solidFill>
                    <a:latin typeface="+mj-ea"/>
                    <a:ea typeface="+mj-ea"/>
                  </a:rPr>
                </a:br>
                <a:r>
                  <a:rPr kumimoji="1" lang="en-US" altLang="ja-JP" u="sng" dirty="0">
                    <a:solidFill>
                      <a:srgbClr val="C00000"/>
                    </a:solidFill>
                    <a:latin typeface="+mj-ea"/>
                    <a:ea typeface="+mj-ea"/>
                  </a:rPr>
                  <a:t>macrocrack-tip </a:t>
                </a:r>
                <a:br>
                  <a:rPr kumimoji="1" lang="en-US" altLang="ja-JP" u="sng" dirty="0">
                    <a:solidFill>
                      <a:srgbClr val="C00000"/>
                    </a:solidFill>
                    <a:latin typeface="+mj-ea"/>
                    <a:ea typeface="+mj-ea"/>
                  </a:rPr>
                </a:br>
                <a:r>
                  <a:rPr kumimoji="1" lang="en-US" altLang="ja-JP" b="1" u="sng" dirty="0">
                    <a:solidFill>
                      <a:srgbClr val="C00000"/>
                    </a:solidFill>
                    <a:latin typeface="+mj-ea"/>
                    <a:ea typeface="+mj-ea"/>
                  </a:rPr>
                  <a:t>increase </a:t>
                </a:r>
                <a14:m>
                  <m:oMath xmlns:m="http://schemas.openxmlformats.org/officeDocument/2006/math">
                    <m:r>
                      <a:rPr kumimoji="1" lang="en-US" altLang="ja-JP" b="1" i="1" u="sng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+mj-ea"/>
                      </a:rPr>
                      <m:t>𝝉</m:t>
                    </m:r>
                  </m:oMath>
                </a14:m>
                <a:endParaRPr kumimoji="1" lang="ja-JP" altLang="en-US" b="1" u="sng">
                  <a:solidFill>
                    <a:srgbClr val="C00000"/>
                  </a:solidFill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4D34F65F-CED2-0473-0866-98D1253BD8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6502" y="3728997"/>
                <a:ext cx="1933670" cy="923330"/>
              </a:xfrm>
              <a:prstGeom prst="rect">
                <a:avLst/>
              </a:prstGeom>
              <a:blipFill>
                <a:blip r:embed="rId7"/>
                <a:stretch>
                  <a:fillRect l="-1961" t="-2703" r="-2614" b="-945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6C4D084A-9C68-6B15-6A1F-9CD0EA853AE7}"/>
              </a:ext>
            </a:extLst>
          </p:cNvPr>
          <p:cNvGrpSpPr/>
          <p:nvPr/>
        </p:nvGrpSpPr>
        <p:grpSpPr>
          <a:xfrm>
            <a:off x="9922447" y="3567813"/>
            <a:ext cx="370410" cy="500203"/>
            <a:chOff x="10010090" y="3948102"/>
            <a:chExt cx="370410" cy="500203"/>
          </a:xfrm>
        </p:grpSpPr>
        <p:cxnSp>
          <p:nvCxnSpPr>
            <p:cNvPr id="12" name="直線矢印コネクタ 11">
              <a:extLst>
                <a:ext uri="{FF2B5EF4-FFF2-40B4-BE49-F238E27FC236}">
                  <a16:creationId xmlns:a16="http://schemas.microsoft.com/office/drawing/2014/main" id="{70FCD7A6-6FC6-5573-E629-F6AFD13197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95118" y="4079472"/>
              <a:ext cx="0" cy="229923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円/楕円 12">
              <a:extLst>
                <a:ext uri="{FF2B5EF4-FFF2-40B4-BE49-F238E27FC236}">
                  <a16:creationId xmlns:a16="http://schemas.microsoft.com/office/drawing/2014/main" id="{8AAA8B7F-DCF1-563C-4B12-83A052D1D07B}"/>
                </a:ext>
              </a:extLst>
            </p:cNvPr>
            <p:cNvSpPr/>
            <p:nvPr/>
          </p:nvSpPr>
          <p:spPr>
            <a:xfrm>
              <a:off x="10010090" y="3948102"/>
              <a:ext cx="370410" cy="500203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5" name="円/楕円 14">
            <a:extLst>
              <a:ext uri="{FF2B5EF4-FFF2-40B4-BE49-F238E27FC236}">
                <a16:creationId xmlns:a16="http://schemas.microsoft.com/office/drawing/2014/main" id="{177950A0-13E9-5117-62E6-077E42E8CC4C}"/>
              </a:ext>
            </a:extLst>
          </p:cNvPr>
          <p:cNvSpPr/>
          <p:nvPr/>
        </p:nvSpPr>
        <p:spPr>
          <a:xfrm>
            <a:off x="5958682" y="5021197"/>
            <a:ext cx="237009" cy="237009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23095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タイトル 1">
                <a:extLst>
                  <a:ext uri="{FF2B5EF4-FFF2-40B4-BE49-F238E27FC236}">
                    <a16:creationId xmlns:a16="http://schemas.microsoft.com/office/drawing/2014/main" id="{26DD685D-C870-94C2-2797-9F68AD62FDA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kumimoji="1" lang="en-US" altLang="ja-JP" dirty="0"/>
                  <a:t>Crack position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𝑛𝑒𝑎𝑟</m:t>
                        </m:r>
                      </m:sub>
                    </m:sSub>
                  </m:oMath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2" name="タイトル 1">
                <a:extLst>
                  <a:ext uri="{FF2B5EF4-FFF2-40B4-BE49-F238E27FC236}">
                    <a16:creationId xmlns:a16="http://schemas.microsoft.com/office/drawing/2014/main" id="{26DD685D-C870-94C2-2797-9F68AD62FD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700" b="-3584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C82A7A1-E2A3-B87D-7EFE-6F406FE2C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F6909-ABCB-BB45-AC56-A8377246EBB2}" type="slidenum">
              <a:rPr lang="ja-JP" altLang="en-US" smtClean="0"/>
              <a:pPr/>
              <a:t>36</a:t>
            </a:fld>
            <a:endParaRPr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AB35FF0-A3F1-D7C4-9DF1-7C65F5869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Tokyo University of Science - Computational Materials Science Laboratory -</a:t>
            </a:r>
            <a:endParaRPr lang="ja-JP" altLang="en-US" dirty="0"/>
          </a:p>
        </p:txBody>
      </p:sp>
      <p:pic>
        <p:nvPicPr>
          <p:cNvPr id="16" name="図 15" descr="ダイアグラム&#10;&#10;自動的に生成された説明">
            <a:extLst>
              <a:ext uri="{FF2B5EF4-FFF2-40B4-BE49-F238E27FC236}">
                <a16:creationId xmlns:a16="http://schemas.microsoft.com/office/drawing/2014/main" id="{6377817D-816D-B5B0-B4AB-39F5B510BBF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45389" y="785065"/>
            <a:ext cx="6306877" cy="4683175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E314FB52-3C05-3044-DA7A-ACED3FBFEF1D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646431" y="5305344"/>
            <a:ext cx="3869657" cy="428263"/>
          </a:xfrm>
          <a:prstGeom prst="rect">
            <a:avLst/>
          </a:prstGeom>
        </p:spPr>
      </p:pic>
      <p:pic>
        <p:nvPicPr>
          <p:cNvPr id="18" name="図 17" descr="背景パターン&#10;&#10;中程度の精度で自動的に生成された説明">
            <a:extLst>
              <a:ext uri="{FF2B5EF4-FFF2-40B4-BE49-F238E27FC236}">
                <a16:creationId xmlns:a16="http://schemas.microsoft.com/office/drawing/2014/main" id="{753E849D-853C-D312-E161-DF78887EB3E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69960" y="1323516"/>
            <a:ext cx="609790" cy="3163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0549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タイトル 1">
                <a:extLst>
                  <a:ext uri="{FF2B5EF4-FFF2-40B4-BE49-F238E27FC236}">
                    <a16:creationId xmlns:a16="http://schemas.microsoft.com/office/drawing/2014/main" id="{A8532964-DD30-9A83-9E7E-E422F1B96E3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kumimoji="1" lang="en-US" altLang="ja-JP" dirty="0"/>
                  <a:t>Crack position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𝑛𝑒𝑎𝑟</m:t>
                        </m:r>
                      </m:sub>
                    </m:sSub>
                  </m:oMath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2" name="タイトル 1">
                <a:extLst>
                  <a:ext uri="{FF2B5EF4-FFF2-40B4-BE49-F238E27FC236}">
                    <a16:creationId xmlns:a16="http://schemas.microsoft.com/office/drawing/2014/main" id="{A8532964-DD30-9A83-9E7E-E422F1B96E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700" b="-3584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6B7853F-E80B-9679-D03F-11AEAA507F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-1" y="847360"/>
            <a:ext cx="9383737" cy="3066370"/>
          </a:xfrm>
        </p:spPr>
        <p:txBody>
          <a:bodyPr/>
          <a:lstStyle/>
          <a:p>
            <a:r>
              <a:rPr kumimoji="1" lang="en-US" altLang="ja-JP" dirty="0"/>
              <a:t>Shear stress in microcrack</a:t>
            </a:r>
          </a:p>
          <a:p>
            <a:pPr marL="534988" lvl="1" indent="-354013"/>
            <a:r>
              <a:rPr kumimoji="1" lang="en-US" altLang="ja-JP" sz="2400" dirty="0"/>
              <a:t>Dislocation source on th</a:t>
            </a:r>
            <a:r>
              <a:rPr lang="en-US" altLang="ja-JP" sz="2400" dirty="0"/>
              <a:t>e near side from the macrocrack </a:t>
            </a:r>
            <a:endParaRPr kumimoji="1" lang="ja-JP" altLang="en-US" sz="2400"/>
          </a:p>
        </p:txBody>
      </p:sp>
      <p:grpSp>
        <p:nvGrpSpPr>
          <p:cNvPr id="68" name="グループ化 67">
            <a:extLst>
              <a:ext uri="{FF2B5EF4-FFF2-40B4-BE49-F238E27FC236}">
                <a16:creationId xmlns:a16="http://schemas.microsoft.com/office/drawing/2014/main" id="{55F208F0-27DA-27EC-5183-03BE81E97701}"/>
              </a:ext>
            </a:extLst>
          </p:cNvPr>
          <p:cNvGrpSpPr/>
          <p:nvPr/>
        </p:nvGrpSpPr>
        <p:grpSpPr>
          <a:xfrm>
            <a:off x="-79791" y="1803518"/>
            <a:ext cx="8272891" cy="3070279"/>
            <a:chOff x="-72724" y="1766538"/>
            <a:chExt cx="8272891" cy="30702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テキスト プレースホルダー 2">
                  <a:extLst>
                    <a:ext uri="{FF2B5EF4-FFF2-40B4-BE49-F238E27FC236}">
                      <a16:creationId xmlns:a16="http://schemas.microsoft.com/office/drawing/2014/main" id="{0C95B55B-A7FB-6DD6-05A9-9B88E5F1453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72724" y="1766538"/>
                  <a:ext cx="4421111" cy="3066370"/>
                </a:xfrm>
                <a:prstGeom prst="rect">
                  <a:avLst/>
                </a:prstGeom>
              </p:spPr>
              <p:txBody>
                <a:bodyPr vert="horz"/>
                <a:lstStyle>
                  <a:lvl1pPr marL="342000" indent="-342900" algn="l" defTabSz="914400" rtl="0" eaLnBrk="1" latinLnBrk="0" hangingPunct="1">
                    <a:lnSpc>
                      <a:spcPct val="100000"/>
                    </a:lnSpc>
                    <a:spcBef>
                      <a:spcPts val="1800"/>
                    </a:spcBef>
                    <a:spcAft>
                      <a:spcPts val="400"/>
                    </a:spcAft>
                    <a:buClr>
                      <a:schemeClr val="accent6">
                        <a:lumMod val="75000"/>
                      </a:schemeClr>
                    </a:buClr>
                    <a:buSzPct val="140000"/>
                    <a:buFont typeface="ヒラギノ角ゴ ProN W3"/>
                    <a:buChar char="|"/>
                    <a:defRPr kumimoji="1" sz="28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1600" indent="-392400" algn="l" defTabSz="914400" rtl="0" eaLnBrk="1" latinLnBrk="0" hangingPunct="1">
                    <a:lnSpc>
                      <a:spcPct val="100000"/>
                    </a:lnSpc>
                    <a:spcBef>
                      <a:spcPts val="225"/>
                    </a:spcBef>
                    <a:buClr>
                      <a:schemeClr val="accent6">
                        <a:lumMod val="75000"/>
                      </a:schemeClr>
                    </a:buClr>
                    <a:buSzPct val="75000"/>
                    <a:buFont typeface="Wingdings" charset="2"/>
                    <a:buChar char="n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410400" algn="l" defTabSz="914400" rtl="0" eaLnBrk="1" latinLnBrk="0" hangingPunct="1">
                    <a:lnSpc>
                      <a:spcPct val="100000"/>
                    </a:lnSpc>
                    <a:spcBef>
                      <a:spcPts val="25"/>
                    </a:spcBef>
                    <a:buClr>
                      <a:schemeClr val="accent6">
                        <a:lumMod val="75000"/>
                      </a:schemeClr>
                    </a:buClr>
                    <a:buSzPct val="120000"/>
                    <a:buFont typeface="HiraKakuProN-W3" charset="-128"/>
                    <a:buChar char="−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100000"/>
                    </a:lnSpc>
                    <a:spcBef>
                      <a:spcPts val="25"/>
                    </a:spcBef>
                    <a:buClr>
                      <a:schemeClr val="accent6">
                        <a:lumMod val="75000"/>
                      </a:schemeClr>
                    </a:buClr>
                    <a:buFont typeface="Arial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100000"/>
                    </a:lnSpc>
                    <a:spcBef>
                      <a:spcPts val="25"/>
                    </a:spcBef>
                    <a:buClr>
                      <a:schemeClr val="accent6">
                        <a:lumMod val="75000"/>
                      </a:schemeClr>
                    </a:buClr>
                    <a:buFont typeface="Arial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2"/>
                  <a14:m>
                    <m:oMath xmlns:m="http://schemas.openxmlformats.org/officeDocument/2006/math">
                      <m:r>
                        <a:rPr lang="en-US" altLang="ja-JP" b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ja-JP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ja-JP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𝒏𝒆𝒂𝒓</m:t>
                          </m:r>
                        </m:sub>
                      </m:sSub>
                      <m:r>
                        <a:rPr lang="en-US" altLang="ja-JP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ja-JP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ja-JP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endParaRPr lang="ja-JP" altLang="en-US"/>
                </a:p>
              </p:txBody>
            </p:sp>
          </mc:Choice>
          <mc:Fallback xmlns="">
            <p:sp>
              <p:nvSpPr>
                <p:cNvPr id="6" name="テキスト プレースホルダー 2">
                  <a:extLst>
                    <a:ext uri="{FF2B5EF4-FFF2-40B4-BE49-F238E27FC236}">
                      <a16:creationId xmlns:a16="http://schemas.microsoft.com/office/drawing/2014/main" id="{0C95B55B-A7FB-6DD6-05A9-9B88E5F145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72724" y="1766538"/>
                  <a:ext cx="4421111" cy="3066370"/>
                </a:xfrm>
                <a:prstGeom prst="rect">
                  <a:avLst/>
                </a:prstGeom>
                <a:blipFill>
                  <a:blip r:embed="rId4"/>
                  <a:stretch>
                    <a:fillRect t="-537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テキスト プレースホルダー 2">
                  <a:extLst>
                    <a:ext uri="{FF2B5EF4-FFF2-40B4-BE49-F238E27FC236}">
                      <a16:creationId xmlns:a16="http://schemas.microsoft.com/office/drawing/2014/main" id="{789BEEEC-DEB5-8C08-B0AF-ACAEED3CDAE6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452319" y="1770447"/>
                  <a:ext cx="3747848" cy="3066370"/>
                </a:xfrm>
                <a:prstGeom prst="rect">
                  <a:avLst/>
                </a:prstGeom>
              </p:spPr>
              <p:txBody>
                <a:bodyPr vert="horz"/>
                <a:lstStyle>
                  <a:lvl1pPr marL="342000" indent="-342900" algn="l" defTabSz="914400" rtl="0" eaLnBrk="1" latinLnBrk="0" hangingPunct="1">
                    <a:lnSpc>
                      <a:spcPct val="100000"/>
                    </a:lnSpc>
                    <a:spcBef>
                      <a:spcPts val="1800"/>
                    </a:spcBef>
                    <a:spcAft>
                      <a:spcPts val="400"/>
                    </a:spcAft>
                    <a:buClr>
                      <a:schemeClr val="accent6">
                        <a:lumMod val="75000"/>
                      </a:schemeClr>
                    </a:buClr>
                    <a:buSzPct val="140000"/>
                    <a:buFont typeface="ヒラギノ角ゴ ProN W3"/>
                    <a:buChar char="|"/>
                    <a:defRPr kumimoji="1" sz="28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1600" indent="-392400" algn="l" defTabSz="914400" rtl="0" eaLnBrk="1" latinLnBrk="0" hangingPunct="1">
                    <a:lnSpc>
                      <a:spcPct val="100000"/>
                    </a:lnSpc>
                    <a:spcBef>
                      <a:spcPts val="225"/>
                    </a:spcBef>
                    <a:buClr>
                      <a:schemeClr val="accent6">
                        <a:lumMod val="75000"/>
                      </a:schemeClr>
                    </a:buClr>
                    <a:buSzPct val="75000"/>
                    <a:buFont typeface="Wingdings" charset="2"/>
                    <a:buChar char="n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410400" algn="l" defTabSz="914400" rtl="0" eaLnBrk="1" latinLnBrk="0" hangingPunct="1">
                    <a:lnSpc>
                      <a:spcPct val="100000"/>
                    </a:lnSpc>
                    <a:spcBef>
                      <a:spcPts val="25"/>
                    </a:spcBef>
                    <a:buClr>
                      <a:schemeClr val="accent6">
                        <a:lumMod val="75000"/>
                      </a:schemeClr>
                    </a:buClr>
                    <a:buSzPct val="120000"/>
                    <a:buFont typeface="HiraKakuProN-W3" charset="-128"/>
                    <a:buChar char="−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100000"/>
                    </a:lnSpc>
                    <a:spcBef>
                      <a:spcPts val="25"/>
                    </a:spcBef>
                    <a:buClr>
                      <a:schemeClr val="accent6">
                        <a:lumMod val="75000"/>
                      </a:schemeClr>
                    </a:buClr>
                    <a:buFont typeface="Arial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100000"/>
                    </a:lnSpc>
                    <a:spcBef>
                      <a:spcPts val="25"/>
                    </a:spcBef>
                    <a:buClr>
                      <a:schemeClr val="accent6">
                        <a:lumMod val="75000"/>
                      </a:schemeClr>
                    </a:buClr>
                    <a:buFont typeface="Arial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2"/>
                  <a14:m>
                    <m:oMath xmlns:m="http://schemas.openxmlformats.org/officeDocument/2006/math">
                      <m:r>
                        <a:rPr lang="en-US" altLang="ja-JP" b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ja-JP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ja-JP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𝒏𝒆𝒂𝒓</m:t>
                          </m:r>
                        </m:sub>
                      </m:sSub>
                      <m:r>
                        <a:rPr lang="en-US" altLang="ja-JP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ja-JP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ja-JP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endParaRPr lang="ja-JP" altLang="en-US"/>
                </a:p>
              </p:txBody>
            </p:sp>
          </mc:Choice>
          <mc:Fallback xmlns="">
            <p:sp>
              <p:nvSpPr>
                <p:cNvPr id="7" name="テキスト プレースホルダー 2">
                  <a:extLst>
                    <a:ext uri="{FF2B5EF4-FFF2-40B4-BE49-F238E27FC236}">
                      <a16:creationId xmlns:a16="http://schemas.microsoft.com/office/drawing/2014/main" id="{789BEEEC-DEB5-8C08-B0AF-ACAEED3CDA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52319" y="1770447"/>
                  <a:ext cx="3747848" cy="3066370"/>
                </a:xfrm>
                <a:prstGeom prst="rect">
                  <a:avLst/>
                </a:prstGeom>
                <a:blipFill>
                  <a:blip r:embed="rId5"/>
                  <a:stretch>
                    <a:fillRect t="-537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33F49E6-3854-258C-B20E-E3F64CE5C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F6909-ABCB-BB45-AC56-A8377246EBB2}" type="slidenum">
              <a:rPr lang="ja-JP" altLang="en-US" smtClean="0"/>
              <a:pPr/>
              <a:t>37</a:t>
            </a:fld>
            <a:endParaRPr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0504BE-B196-369C-C32A-B3F5B2F7D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dirty="0"/>
              <a:t>Tokyo University of Science - Computational Materials Science Laboratory -</a:t>
            </a:r>
            <a:endParaRPr lang="ja-JP" altLang="en-US" dirty="0"/>
          </a:p>
        </p:txBody>
      </p:sp>
      <p:grpSp>
        <p:nvGrpSpPr>
          <p:cNvPr id="67" name="グループ化 66">
            <a:extLst>
              <a:ext uri="{FF2B5EF4-FFF2-40B4-BE49-F238E27FC236}">
                <a16:creationId xmlns:a16="http://schemas.microsoft.com/office/drawing/2014/main" id="{8A6053F2-0844-BF76-7E5F-4FBBC45031E8}"/>
              </a:ext>
            </a:extLst>
          </p:cNvPr>
          <p:cNvGrpSpPr/>
          <p:nvPr/>
        </p:nvGrpSpPr>
        <p:grpSpPr>
          <a:xfrm>
            <a:off x="-743959" y="2258487"/>
            <a:ext cx="10791864" cy="4306806"/>
            <a:chOff x="-755622" y="2153542"/>
            <a:chExt cx="10791864" cy="4306806"/>
          </a:xfrm>
        </p:grpSpPr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2DA9AE26-7C09-3D81-ED39-52F77F3508C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5400000">
              <a:off x="167088" y="1231660"/>
              <a:ext cx="4305978" cy="6151398"/>
            </a:xfrm>
            <a:prstGeom prst="rect">
              <a:avLst/>
            </a:prstGeom>
          </p:spPr>
        </p:pic>
        <p:pic>
          <p:nvPicPr>
            <p:cNvPr id="13" name="図 12">
              <a:extLst>
                <a:ext uri="{FF2B5EF4-FFF2-40B4-BE49-F238E27FC236}">
                  <a16:creationId xmlns:a16="http://schemas.microsoft.com/office/drawing/2014/main" id="{AD408059-06EE-8B62-8E56-CEE1049691F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5400000">
              <a:off x="1907507" y="2724675"/>
              <a:ext cx="2486828" cy="3552611"/>
            </a:xfrm>
            <a:prstGeom prst="rect">
              <a:avLst/>
            </a:prstGeom>
          </p:spPr>
        </p:pic>
        <p:sp>
          <p:nvSpPr>
            <p:cNvPr id="30" name="円/楕円 29">
              <a:extLst>
                <a:ext uri="{FF2B5EF4-FFF2-40B4-BE49-F238E27FC236}">
                  <a16:creationId xmlns:a16="http://schemas.microsoft.com/office/drawing/2014/main" id="{95483B25-F4A0-514C-E403-C11F7577E695}"/>
                </a:ext>
              </a:extLst>
            </p:cNvPr>
            <p:cNvSpPr/>
            <p:nvPr/>
          </p:nvSpPr>
          <p:spPr>
            <a:xfrm>
              <a:off x="8679010" y="3519775"/>
              <a:ext cx="95516" cy="95516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" name="円/楕円 33">
              <a:extLst>
                <a:ext uri="{FF2B5EF4-FFF2-40B4-BE49-F238E27FC236}">
                  <a16:creationId xmlns:a16="http://schemas.microsoft.com/office/drawing/2014/main" id="{47521D18-1BBF-2465-998B-1C1AA382E328}"/>
                </a:ext>
              </a:extLst>
            </p:cNvPr>
            <p:cNvSpPr/>
            <p:nvPr/>
          </p:nvSpPr>
          <p:spPr>
            <a:xfrm>
              <a:off x="8423503" y="3527778"/>
              <a:ext cx="95516" cy="955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" name="円/楕円 34">
              <a:extLst>
                <a:ext uri="{FF2B5EF4-FFF2-40B4-BE49-F238E27FC236}">
                  <a16:creationId xmlns:a16="http://schemas.microsoft.com/office/drawing/2014/main" id="{29739CA9-93F5-8832-E1B3-D99AC2988C8E}"/>
                </a:ext>
              </a:extLst>
            </p:cNvPr>
            <p:cNvSpPr/>
            <p:nvPr/>
          </p:nvSpPr>
          <p:spPr>
            <a:xfrm>
              <a:off x="7709292" y="3559634"/>
              <a:ext cx="95516" cy="955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" name="円/楕円 35">
              <a:extLst>
                <a:ext uri="{FF2B5EF4-FFF2-40B4-BE49-F238E27FC236}">
                  <a16:creationId xmlns:a16="http://schemas.microsoft.com/office/drawing/2014/main" id="{A998210E-E4AA-BB8D-083F-2E2C6B336DB1}"/>
                </a:ext>
              </a:extLst>
            </p:cNvPr>
            <p:cNvSpPr/>
            <p:nvPr/>
          </p:nvSpPr>
          <p:spPr>
            <a:xfrm>
              <a:off x="7149854" y="3567585"/>
              <a:ext cx="95516" cy="955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" name="円/楕円 36">
              <a:extLst>
                <a:ext uri="{FF2B5EF4-FFF2-40B4-BE49-F238E27FC236}">
                  <a16:creationId xmlns:a16="http://schemas.microsoft.com/office/drawing/2014/main" id="{D992EBB2-180B-D8CC-B593-BA6F14BF654A}"/>
                </a:ext>
              </a:extLst>
            </p:cNvPr>
            <p:cNvSpPr/>
            <p:nvPr/>
          </p:nvSpPr>
          <p:spPr>
            <a:xfrm>
              <a:off x="8104651" y="3535781"/>
              <a:ext cx="95516" cy="955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5" name="円/楕円 54">
              <a:extLst>
                <a:ext uri="{FF2B5EF4-FFF2-40B4-BE49-F238E27FC236}">
                  <a16:creationId xmlns:a16="http://schemas.microsoft.com/office/drawing/2014/main" id="{4807CC59-C837-63DC-592E-F9C6B34F64A2}"/>
                </a:ext>
              </a:extLst>
            </p:cNvPr>
            <p:cNvSpPr/>
            <p:nvPr/>
          </p:nvSpPr>
          <p:spPr>
            <a:xfrm>
              <a:off x="2647403" y="3605265"/>
              <a:ext cx="95516" cy="955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7" name="円/楕円 56">
              <a:extLst>
                <a:ext uri="{FF2B5EF4-FFF2-40B4-BE49-F238E27FC236}">
                  <a16:creationId xmlns:a16="http://schemas.microsoft.com/office/drawing/2014/main" id="{9E00558F-6F78-E529-4706-9233C3403E78}"/>
                </a:ext>
              </a:extLst>
            </p:cNvPr>
            <p:cNvSpPr/>
            <p:nvPr/>
          </p:nvSpPr>
          <p:spPr>
            <a:xfrm>
              <a:off x="2939382" y="3605265"/>
              <a:ext cx="95516" cy="955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8" name="円/楕円 57">
              <a:extLst>
                <a:ext uri="{FF2B5EF4-FFF2-40B4-BE49-F238E27FC236}">
                  <a16:creationId xmlns:a16="http://schemas.microsoft.com/office/drawing/2014/main" id="{5FB39397-EF0E-9AA6-5F00-3389CD7CA3E3}"/>
                </a:ext>
              </a:extLst>
            </p:cNvPr>
            <p:cNvSpPr/>
            <p:nvPr/>
          </p:nvSpPr>
          <p:spPr>
            <a:xfrm>
              <a:off x="3172693" y="3581412"/>
              <a:ext cx="95516" cy="955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9" name="円/楕円 58">
              <a:extLst>
                <a:ext uri="{FF2B5EF4-FFF2-40B4-BE49-F238E27FC236}">
                  <a16:creationId xmlns:a16="http://schemas.microsoft.com/office/drawing/2014/main" id="{4D4BF009-A443-35F3-73EC-6552205ACC06}"/>
                </a:ext>
              </a:extLst>
            </p:cNvPr>
            <p:cNvSpPr/>
            <p:nvPr/>
          </p:nvSpPr>
          <p:spPr>
            <a:xfrm>
              <a:off x="3353353" y="3557559"/>
              <a:ext cx="95516" cy="955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0" name="円/楕円 59">
              <a:extLst>
                <a:ext uri="{FF2B5EF4-FFF2-40B4-BE49-F238E27FC236}">
                  <a16:creationId xmlns:a16="http://schemas.microsoft.com/office/drawing/2014/main" id="{EBF16823-6A26-A682-021B-DB779F6A97FB}"/>
                </a:ext>
              </a:extLst>
            </p:cNvPr>
            <p:cNvSpPr/>
            <p:nvPr/>
          </p:nvSpPr>
          <p:spPr>
            <a:xfrm>
              <a:off x="3492398" y="3541553"/>
              <a:ext cx="95516" cy="955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1" name="円/楕円 60">
              <a:extLst>
                <a:ext uri="{FF2B5EF4-FFF2-40B4-BE49-F238E27FC236}">
                  <a16:creationId xmlns:a16="http://schemas.microsoft.com/office/drawing/2014/main" id="{BDD5F3B8-347F-A088-CD22-48703DB9F205}"/>
                </a:ext>
              </a:extLst>
            </p:cNvPr>
            <p:cNvSpPr/>
            <p:nvPr/>
          </p:nvSpPr>
          <p:spPr>
            <a:xfrm>
              <a:off x="3617398" y="3525651"/>
              <a:ext cx="95516" cy="955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2" name="円/楕円 51">
              <a:extLst>
                <a:ext uri="{FF2B5EF4-FFF2-40B4-BE49-F238E27FC236}">
                  <a16:creationId xmlns:a16="http://schemas.microsoft.com/office/drawing/2014/main" id="{6A82BE50-1F0F-C0DD-E3CF-6DE2A2DC9754}"/>
                </a:ext>
              </a:extLst>
            </p:cNvPr>
            <p:cNvSpPr/>
            <p:nvPr/>
          </p:nvSpPr>
          <p:spPr>
            <a:xfrm>
              <a:off x="3699478" y="3517700"/>
              <a:ext cx="95516" cy="95516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63" name="図 62">
              <a:extLst>
                <a:ext uri="{FF2B5EF4-FFF2-40B4-BE49-F238E27FC236}">
                  <a16:creationId xmlns:a16="http://schemas.microsoft.com/office/drawing/2014/main" id="{FA705A64-B3B8-EE92-42D9-FD5740CD5BA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5400000">
              <a:off x="4807553" y="1230832"/>
              <a:ext cx="4305979" cy="6151399"/>
            </a:xfrm>
            <a:prstGeom prst="rect">
              <a:avLst/>
            </a:prstGeom>
          </p:spPr>
        </p:pic>
        <p:pic>
          <p:nvPicPr>
            <p:cNvPr id="65" name="図 64">
              <a:extLst>
                <a:ext uri="{FF2B5EF4-FFF2-40B4-BE49-F238E27FC236}">
                  <a16:creationId xmlns:a16="http://schemas.microsoft.com/office/drawing/2014/main" id="{E370B2B8-BB15-2669-F54A-FD46D8D743E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5400000">
              <a:off x="6529476" y="2726746"/>
              <a:ext cx="2486828" cy="3552611"/>
            </a:xfrm>
            <a:prstGeom prst="rect">
              <a:avLst/>
            </a:prstGeom>
          </p:spPr>
        </p:pic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9309BF7D-1A63-A842-C347-30870AA45F1F}"/>
              </a:ext>
            </a:extLst>
          </p:cNvPr>
          <p:cNvGrpSpPr/>
          <p:nvPr/>
        </p:nvGrpSpPr>
        <p:grpSpPr>
          <a:xfrm>
            <a:off x="5636087" y="114597"/>
            <a:ext cx="3452119" cy="1243173"/>
            <a:chOff x="5636086" y="29039"/>
            <a:chExt cx="3452119" cy="1243173"/>
          </a:xfrm>
        </p:grpSpPr>
        <p:sp>
          <p:nvSpPr>
            <p:cNvPr id="16" name="角丸四角形 15">
              <a:extLst>
                <a:ext uri="{FF2B5EF4-FFF2-40B4-BE49-F238E27FC236}">
                  <a16:creationId xmlns:a16="http://schemas.microsoft.com/office/drawing/2014/main" id="{313A9ED9-6E37-F18C-4155-32FBC1F9357F}"/>
                </a:ext>
              </a:extLst>
            </p:cNvPr>
            <p:cNvSpPr/>
            <p:nvPr/>
          </p:nvSpPr>
          <p:spPr>
            <a:xfrm>
              <a:off x="5636086" y="29039"/>
              <a:ext cx="3452119" cy="1243173"/>
            </a:xfrm>
            <a:prstGeom prst="roundRect">
              <a:avLst>
                <a:gd name="adj" fmla="val 8762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BA3136BC-CED5-EFB5-A306-FBF4CBDE16F3}"/>
                </a:ext>
              </a:extLst>
            </p:cNvPr>
            <p:cNvGrpSpPr/>
            <p:nvPr/>
          </p:nvGrpSpPr>
          <p:grpSpPr>
            <a:xfrm>
              <a:off x="5802347" y="130527"/>
              <a:ext cx="3024077" cy="369332"/>
              <a:chOff x="811380" y="6225360"/>
              <a:chExt cx="3024077" cy="369332"/>
            </a:xfrm>
          </p:grpSpPr>
          <p:sp>
            <p:nvSpPr>
              <p:cNvPr id="10" name="円/楕円 9">
                <a:extLst>
                  <a:ext uri="{FF2B5EF4-FFF2-40B4-BE49-F238E27FC236}">
                    <a16:creationId xmlns:a16="http://schemas.microsoft.com/office/drawing/2014/main" id="{91D0CF62-06DC-3F4C-8247-3B95E4FFC2E6}"/>
                  </a:ext>
                </a:extLst>
              </p:cNvPr>
              <p:cNvSpPr/>
              <p:nvPr/>
            </p:nvSpPr>
            <p:spPr>
              <a:xfrm>
                <a:off x="811380" y="6225360"/>
                <a:ext cx="328455" cy="328455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FACAD186-8C19-D440-3237-A32B61D503C4}"/>
                  </a:ext>
                </a:extLst>
              </p:cNvPr>
              <p:cNvSpPr txBox="1"/>
              <p:nvPr/>
            </p:nvSpPr>
            <p:spPr>
              <a:xfrm>
                <a:off x="1073162" y="6225360"/>
                <a:ext cx="27622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/>
                  <a:t>：</a:t>
                </a:r>
                <a:r>
                  <a:rPr lang="en-US" altLang="ja-JP" dirty="0"/>
                  <a:t>F</a:t>
                </a:r>
                <a:r>
                  <a:rPr kumimoji="1" lang="en-US" altLang="ja-JP" dirty="0"/>
                  <a:t>ar</a:t>
                </a:r>
                <a:r>
                  <a:rPr lang="en-US" altLang="ja-JP" dirty="0"/>
                  <a:t> dislocation emitted</a:t>
                </a:r>
                <a:endParaRPr kumimoji="1" lang="ja-JP" altLang="en-US"/>
              </a:p>
            </p:txBody>
          </p:sp>
        </p:grpSp>
        <p:grpSp>
          <p:nvGrpSpPr>
            <p:cNvPr id="12" name="グループ化 11">
              <a:extLst>
                <a:ext uri="{FF2B5EF4-FFF2-40B4-BE49-F238E27FC236}">
                  <a16:creationId xmlns:a16="http://schemas.microsoft.com/office/drawing/2014/main" id="{FC6E3EE7-82DA-4DEE-187C-ACB31CC5E6D2}"/>
                </a:ext>
              </a:extLst>
            </p:cNvPr>
            <p:cNvGrpSpPr/>
            <p:nvPr/>
          </p:nvGrpSpPr>
          <p:grpSpPr>
            <a:xfrm>
              <a:off x="5797780" y="520598"/>
              <a:ext cx="3190789" cy="369332"/>
              <a:chOff x="811380" y="6225360"/>
              <a:chExt cx="3190789" cy="369332"/>
            </a:xfrm>
          </p:grpSpPr>
          <p:sp>
            <p:nvSpPr>
              <p:cNvPr id="14" name="円/楕円 13">
                <a:extLst>
                  <a:ext uri="{FF2B5EF4-FFF2-40B4-BE49-F238E27FC236}">
                    <a16:creationId xmlns:a16="http://schemas.microsoft.com/office/drawing/2014/main" id="{E89BA7CA-29B9-50CA-5561-CE755EAEFF6E}"/>
                  </a:ext>
                </a:extLst>
              </p:cNvPr>
              <p:cNvSpPr/>
              <p:nvPr/>
            </p:nvSpPr>
            <p:spPr>
              <a:xfrm>
                <a:off x="811380" y="6225360"/>
                <a:ext cx="328455" cy="328455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1B667D14-92FE-0D90-AAD5-C1B99CCF3200}"/>
                  </a:ext>
                </a:extLst>
              </p:cNvPr>
              <p:cNvSpPr txBox="1"/>
              <p:nvPr/>
            </p:nvSpPr>
            <p:spPr>
              <a:xfrm>
                <a:off x="1073162" y="6225360"/>
                <a:ext cx="292900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/>
                  <a:t>：</a:t>
                </a:r>
                <a:r>
                  <a:rPr lang="en-US" altLang="ja-JP" dirty="0"/>
                  <a:t>Ne</a:t>
                </a:r>
                <a:r>
                  <a:rPr kumimoji="1" lang="en-US" altLang="ja-JP" dirty="0"/>
                  <a:t>ar</a:t>
                </a:r>
                <a:r>
                  <a:rPr lang="en-US" altLang="ja-JP" dirty="0"/>
                  <a:t> dislocation emitted</a:t>
                </a:r>
                <a:endParaRPr kumimoji="1" lang="ja-JP" altLang="en-US"/>
              </a:p>
            </p:txBody>
          </p:sp>
        </p:grpSp>
        <p:grpSp>
          <p:nvGrpSpPr>
            <p:cNvPr id="28" name="グループ化 27">
              <a:extLst>
                <a:ext uri="{FF2B5EF4-FFF2-40B4-BE49-F238E27FC236}">
                  <a16:creationId xmlns:a16="http://schemas.microsoft.com/office/drawing/2014/main" id="{D61F75AA-9892-CA01-4095-9CA391B22D0D}"/>
                </a:ext>
              </a:extLst>
            </p:cNvPr>
            <p:cNvGrpSpPr/>
            <p:nvPr/>
          </p:nvGrpSpPr>
          <p:grpSpPr>
            <a:xfrm>
              <a:off x="5842527" y="875980"/>
              <a:ext cx="1602749" cy="391582"/>
              <a:chOff x="6793992" y="1334524"/>
              <a:chExt cx="1602749" cy="39158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テキスト ボックス 22">
                    <a:extLst>
                      <a:ext uri="{FF2B5EF4-FFF2-40B4-BE49-F238E27FC236}">
                        <a16:creationId xmlns:a16="http://schemas.microsoft.com/office/drawing/2014/main" id="{C01F20C7-9A73-6DD7-C02C-AC7D0CFE6217}"/>
                      </a:ext>
                    </a:extLst>
                  </p:cNvPr>
                  <p:cNvSpPr txBox="1"/>
                  <p:nvPr/>
                </p:nvSpPr>
                <p:spPr>
                  <a:xfrm>
                    <a:off x="7233987" y="1334524"/>
                    <a:ext cx="1162754" cy="39158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ja-JP" altLang="en-US"/>
                      <a:t>：</a:t>
                    </a:r>
                    <a14:m>
                      <m:oMath xmlns:m="http://schemas.openxmlformats.org/officeDocument/2006/math"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oMath>
                    </a14:m>
                    <a:endParaRPr kumimoji="1" lang="ja-JP" altLang="en-US"/>
                  </a:p>
                </p:txBody>
              </p:sp>
            </mc:Choice>
            <mc:Fallback xmlns="">
              <p:sp>
                <p:nvSpPr>
                  <p:cNvPr id="23" name="テキスト ボックス 22">
                    <a:extLst>
                      <a:ext uri="{FF2B5EF4-FFF2-40B4-BE49-F238E27FC236}">
                        <a16:creationId xmlns:a16="http://schemas.microsoft.com/office/drawing/2014/main" id="{C01F20C7-9A73-6DD7-C02C-AC7D0CFE621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33987" y="1334524"/>
                    <a:ext cx="1162754" cy="39158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4348" b="-25806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5" name="直線コネクタ 24">
                <a:extLst>
                  <a:ext uri="{FF2B5EF4-FFF2-40B4-BE49-F238E27FC236}">
                    <a16:creationId xmlns:a16="http://schemas.microsoft.com/office/drawing/2014/main" id="{4E45B34B-7283-B17C-BFF7-95F27A269F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93992" y="1546057"/>
                <a:ext cx="544691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9745162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タイトル 1">
                <a:extLst>
                  <a:ext uri="{FF2B5EF4-FFF2-40B4-BE49-F238E27FC236}">
                    <a16:creationId xmlns:a16="http://schemas.microsoft.com/office/drawing/2014/main" id="{A8532964-DD30-9A83-9E7E-E422F1B96E3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kumimoji="1" lang="en-US" altLang="ja-JP" dirty="0"/>
                  <a:t>Crack position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𝑛𝑒𝑎𝑟</m:t>
                        </m:r>
                      </m:sub>
                    </m:sSub>
                  </m:oMath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2" name="タイトル 1">
                <a:extLst>
                  <a:ext uri="{FF2B5EF4-FFF2-40B4-BE49-F238E27FC236}">
                    <a16:creationId xmlns:a16="http://schemas.microsoft.com/office/drawing/2014/main" id="{A8532964-DD30-9A83-9E7E-E422F1B96E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700" b="-3584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8" name="グループ化 67">
            <a:extLst>
              <a:ext uri="{FF2B5EF4-FFF2-40B4-BE49-F238E27FC236}">
                <a16:creationId xmlns:a16="http://schemas.microsoft.com/office/drawing/2014/main" id="{55F208F0-27DA-27EC-5183-03BE81E97701}"/>
              </a:ext>
            </a:extLst>
          </p:cNvPr>
          <p:cNvGrpSpPr/>
          <p:nvPr/>
        </p:nvGrpSpPr>
        <p:grpSpPr>
          <a:xfrm>
            <a:off x="-79791" y="1803518"/>
            <a:ext cx="8272891" cy="3070279"/>
            <a:chOff x="-72724" y="1766538"/>
            <a:chExt cx="8272891" cy="30702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テキスト プレースホルダー 2">
                  <a:extLst>
                    <a:ext uri="{FF2B5EF4-FFF2-40B4-BE49-F238E27FC236}">
                      <a16:creationId xmlns:a16="http://schemas.microsoft.com/office/drawing/2014/main" id="{0C95B55B-A7FB-6DD6-05A9-9B88E5F1453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72724" y="1766538"/>
                  <a:ext cx="4421111" cy="3066370"/>
                </a:xfrm>
                <a:prstGeom prst="rect">
                  <a:avLst/>
                </a:prstGeom>
              </p:spPr>
              <p:txBody>
                <a:bodyPr vert="horz"/>
                <a:lstStyle>
                  <a:lvl1pPr marL="342000" indent="-342900" algn="l" defTabSz="914400" rtl="0" eaLnBrk="1" latinLnBrk="0" hangingPunct="1">
                    <a:lnSpc>
                      <a:spcPct val="100000"/>
                    </a:lnSpc>
                    <a:spcBef>
                      <a:spcPts val="1800"/>
                    </a:spcBef>
                    <a:spcAft>
                      <a:spcPts val="400"/>
                    </a:spcAft>
                    <a:buClr>
                      <a:schemeClr val="accent6">
                        <a:lumMod val="75000"/>
                      </a:schemeClr>
                    </a:buClr>
                    <a:buSzPct val="140000"/>
                    <a:buFont typeface="ヒラギノ角ゴ ProN W3"/>
                    <a:buChar char="|"/>
                    <a:defRPr kumimoji="1" sz="28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1600" indent="-392400" algn="l" defTabSz="914400" rtl="0" eaLnBrk="1" latinLnBrk="0" hangingPunct="1">
                    <a:lnSpc>
                      <a:spcPct val="100000"/>
                    </a:lnSpc>
                    <a:spcBef>
                      <a:spcPts val="225"/>
                    </a:spcBef>
                    <a:buClr>
                      <a:schemeClr val="accent6">
                        <a:lumMod val="75000"/>
                      </a:schemeClr>
                    </a:buClr>
                    <a:buSzPct val="75000"/>
                    <a:buFont typeface="Wingdings" charset="2"/>
                    <a:buChar char="n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410400" algn="l" defTabSz="914400" rtl="0" eaLnBrk="1" latinLnBrk="0" hangingPunct="1">
                    <a:lnSpc>
                      <a:spcPct val="100000"/>
                    </a:lnSpc>
                    <a:spcBef>
                      <a:spcPts val="25"/>
                    </a:spcBef>
                    <a:buClr>
                      <a:schemeClr val="accent6">
                        <a:lumMod val="75000"/>
                      </a:schemeClr>
                    </a:buClr>
                    <a:buSzPct val="120000"/>
                    <a:buFont typeface="HiraKakuProN-W3" charset="-128"/>
                    <a:buChar char="−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100000"/>
                    </a:lnSpc>
                    <a:spcBef>
                      <a:spcPts val="25"/>
                    </a:spcBef>
                    <a:buClr>
                      <a:schemeClr val="accent6">
                        <a:lumMod val="75000"/>
                      </a:schemeClr>
                    </a:buClr>
                    <a:buFont typeface="Arial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100000"/>
                    </a:lnSpc>
                    <a:spcBef>
                      <a:spcPts val="25"/>
                    </a:spcBef>
                    <a:buClr>
                      <a:schemeClr val="accent6">
                        <a:lumMod val="75000"/>
                      </a:schemeClr>
                    </a:buClr>
                    <a:buFont typeface="Arial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2"/>
                  <a14:m>
                    <m:oMath xmlns:m="http://schemas.openxmlformats.org/officeDocument/2006/math">
                      <m:r>
                        <a:rPr lang="en-US" altLang="ja-JP" b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ja-JP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ja-JP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𝒏𝒆𝒂𝒓</m:t>
                          </m:r>
                        </m:sub>
                      </m:sSub>
                      <m:r>
                        <a:rPr lang="en-US" altLang="ja-JP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ja-JP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ja-JP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endParaRPr lang="ja-JP" altLang="en-US"/>
                </a:p>
              </p:txBody>
            </p:sp>
          </mc:Choice>
          <mc:Fallback xmlns="">
            <p:sp>
              <p:nvSpPr>
                <p:cNvPr id="6" name="テキスト プレースホルダー 2">
                  <a:extLst>
                    <a:ext uri="{FF2B5EF4-FFF2-40B4-BE49-F238E27FC236}">
                      <a16:creationId xmlns:a16="http://schemas.microsoft.com/office/drawing/2014/main" id="{0C95B55B-A7FB-6DD6-05A9-9B88E5F145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72724" y="1766538"/>
                  <a:ext cx="4421111" cy="3066370"/>
                </a:xfrm>
                <a:prstGeom prst="rect">
                  <a:avLst/>
                </a:prstGeom>
                <a:blipFill>
                  <a:blip r:embed="rId3"/>
                  <a:stretch>
                    <a:fillRect t="-537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テキスト プレースホルダー 2">
                  <a:extLst>
                    <a:ext uri="{FF2B5EF4-FFF2-40B4-BE49-F238E27FC236}">
                      <a16:creationId xmlns:a16="http://schemas.microsoft.com/office/drawing/2014/main" id="{789BEEEC-DEB5-8C08-B0AF-ACAEED3CDAE6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452319" y="1770447"/>
                  <a:ext cx="3747848" cy="3066370"/>
                </a:xfrm>
                <a:prstGeom prst="rect">
                  <a:avLst/>
                </a:prstGeom>
              </p:spPr>
              <p:txBody>
                <a:bodyPr vert="horz"/>
                <a:lstStyle>
                  <a:lvl1pPr marL="342000" indent="-342900" algn="l" defTabSz="914400" rtl="0" eaLnBrk="1" latinLnBrk="0" hangingPunct="1">
                    <a:lnSpc>
                      <a:spcPct val="100000"/>
                    </a:lnSpc>
                    <a:spcBef>
                      <a:spcPts val="1800"/>
                    </a:spcBef>
                    <a:spcAft>
                      <a:spcPts val="400"/>
                    </a:spcAft>
                    <a:buClr>
                      <a:schemeClr val="accent6">
                        <a:lumMod val="75000"/>
                      </a:schemeClr>
                    </a:buClr>
                    <a:buSzPct val="140000"/>
                    <a:buFont typeface="ヒラギノ角ゴ ProN W3"/>
                    <a:buChar char="|"/>
                    <a:defRPr kumimoji="1" sz="28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1600" indent="-392400" algn="l" defTabSz="914400" rtl="0" eaLnBrk="1" latinLnBrk="0" hangingPunct="1">
                    <a:lnSpc>
                      <a:spcPct val="100000"/>
                    </a:lnSpc>
                    <a:spcBef>
                      <a:spcPts val="225"/>
                    </a:spcBef>
                    <a:buClr>
                      <a:schemeClr val="accent6">
                        <a:lumMod val="75000"/>
                      </a:schemeClr>
                    </a:buClr>
                    <a:buSzPct val="75000"/>
                    <a:buFont typeface="Wingdings" charset="2"/>
                    <a:buChar char="n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410400" algn="l" defTabSz="914400" rtl="0" eaLnBrk="1" latinLnBrk="0" hangingPunct="1">
                    <a:lnSpc>
                      <a:spcPct val="100000"/>
                    </a:lnSpc>
                    <a:spcBef>
                      <a:spcPts val="25"/>
                    </a:spcBef>
                    <a:buClr>
                      <a:schemeClr val="accent6">
                        <a:lumMod val="75000"/>
                      </a:schemeClr>
                    </a:buClr>
                    <a:buSzPct val="120000"/>
                    <a:buFont typeface="HiraKakuProN-W3" charset="-128"/>
                    <a:buChar char="−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100000"/>
                    </a:lnSpc>
                    <a:spcBef>
                      <a:spcPts val="25"/>
                    </a:spcBef>
                    <a:buClr>
                      <a:schemeClr val="accent6">
                        <a:lumMod val="75000"/>
                      </a:schemeClr>
                    </a:buClr>
                    <a:buFont typeface="Arial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100000"/>
                    </a:lnSpc>
                    <a:spcBef>
                      <a:spcPts val="25"/>
                    </a:spcBef>
                    <a:buClr>
                      <a:schemeClr val="accent6">
                        <a:lumMod val="75000"/>
                      </a:schemeClr>
                    </a:buClr>
                    <a:buFont typeface="Arial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2"/>
                  <a14:m>
                    <m:oMath xmlns:m="http://schemas.openxmlformats.org/officeDocument/2006/math">
                      <m:r>
                        <a:rPr lang="en-US" altLang="ja-JP" b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ja-JP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ja-JP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𝒏𝒆𝒂𝒓</m:t>
                          </m:r>
                        </m:sub>
                      </m:sSub>
                      <m:r>
                        <a:rPr lang="en-US" altLang="ja-JP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ja-JP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ja-JP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endParaRPr lang="ja-JP" altLang="en-US"/>
                </a:p>
              </p:txBody>
            </p:sp>
          </mc:Choice>
          <mc:Fallback xmlns="">
            <p:sp>
              <p:nvSpPr>
                <p:cNvPr id="7" name="テキスト プレースホルダー 2">
                  <a:extLst>
                    <a:ext uri="{FF2B5EF4-FFF2-40B4-BE49-F238E27FC236}">
                      <a16:creationId xmlns:a16="http://schemas.microsoft.com/office/drawing/2014/main" id="{789BEEEC-DEB5-8C08-B0AF-ACAEED3CDA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52319" y="1770447"/>
                  <a:ext cx="3747848" cy="3066370"/>
                </a:xfrm>
                <a:prstGeom prst="rect">
                  <a:avLst/>
                </a:prstGeom>
                <a:blipFill>
                  <a:blip r:embed="rId4"/>
                  <a:stretch>
                    <a:fillRect t="-537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33F49E6-3854-258C-B20E-E3F64CE5C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F6909-ABCB-BB45-AC56-A8377246EBB2}" type="slidenum">
              <a:rPr lang="ja-JP" altLang="en-US" smtClean="0"/>
              <a:pPr/>
              <a:t>38</a:t>
            </a:fld>
            <a:endParaRPr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0504BE-B196-369C-C32A-B3F5B2F7D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dirty="0"/>
              <a:t>Tokyo University of Science - Computational Materials Science Laboratory -</a:t>
            </a:r>
            <a:endParaRPr lang="ja-JP" altLang="en-US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0403BF3F-8DE4-564E-5BC2-769B9A02633C}"/>
              </a:ext>
            </a:extLst>
          </p:cNvPr>
          <p:cNvGrpSpPr/>
          <p:nvPr/>
        </p:nvGrpSpPr>
        <p:grpSpPr>
          <a:xfrm>
            <a:off x="-741699" y="2267042"/>
            <a:ext cx="10789604" cy="4305980"/>
            <a:chOff x="-759987" y="2267042"/>
            <a:chExt cx="10789604" cy="4305980"/>
          </a:xfrm>
        </p:grpSpPr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F3B4E412-1757-4D81-77E7-25F4A00ACAC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5400000">
              <a:off x="6529702" y="2833683"/>
              <a:ext cx="2486828" cy="3552612"/>
            </a:xfrm>
            <a:prstGeom prst="rect">
              <a:avLst/>
            </a:prstGeom>
          </p:spPr>
        </p:pic>
        <p:pic>
          <p:nvPicPr>
            <p:cNvPr id="12" name="図 11">
              <a:extLst>
                <a:ext uri="{FF2B5EF4-FFF2-40B4-BE49-F238E27FC236}">
                  <a16:creationId xmlns:a16="http://schemas.microsoft.com/office/drawing/2014/main" id="{430EAE2B-D00A-AC7D-09B3-811B43943D9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5400000">
              <a:off x="4800928" y="1344333"/>
              <a:ext cx="4305979" cy="6151399"/>
            </a:xfrm>
            <a:prstGeom prst="rect">
              <a:avLst/>
            </a:prstGeom>
          </p:spPr>
        </p:pic>
        <p:pic>
          <p:nvPicPr>
            <p:cNvPr id="15" name="図 14">
              <a:extLst>
                <a:ext uri="{FF2B5EF4-FFF2-40B4-BE49-F238E27FC236}">
                  <a16:creationId xmlns:a16="http://schemas.microsoft.com/office/drawing/2014/main" id="{EE383BC5-D228-6986-93B8-FF788DA2450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5400000">
              <a:off x="162722" y="1344333"/>
              <a:ext cx="4305979" cy="6151398"/>
            </a:xfrm>
            <a:prstGeom prst="rect">
              <a:avLst/>
            </a:prstGeom>
          </p:spPr>
        </p:pic>
        <p:pic>
          <p:nvPicPr>
            <p:cNvPr id="17" name="図 16">
              <a:extLst>
                <a:ext uri="{FF2B5EF4-FFF2-40B4-BE49-F238E27FC236}">
                  <a16:creationId xmlns:a16="http://schemas.microsoft.com/office/drawing/2014/main" id="{ED656AE2-3289-5AD5-2DCE-8A29C6F7F02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5400000">
              <a:off x="1894659" y="2830218"/>
              <a:ext cx="2489760" cy="3556800"/>
            </a:xfrm>
            <a:prstGeom prst="rect">
              <a:avLst/>
            </a:prstGeom>
          </p:spPr>
        </p:pic>
        <p:sp>
          <p:nvSpPr>
            <p:cNvPr id="18" name="円/楕円 17">
              <a:extLst>
                <a:ext uri="{FF2B5EF4-FFF2-40B4-BE49-F238E27FC236}">
                  <a16:creationId xmlns:a16="http://schemas.microsoft.com/office/drawing/2014/main" id="{0F1C3D59-9662-A35D-3B04-1E0FDA79B5EA}"/>
                </a:ext>
              </a:extLst>
            </p:cNvPr>
            <p:cNvSpPr/>
            <p:nvPr/>
          </p:nvSpPr>
          <p:spPr>
            <a:xfrm>
              <a:off x="2634870" y="3625639"/>
              <a:ext cx="95516" cy="955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円/楕円 19">
              <a:extLst>
                <a:ext uri="{FF2B5EF4-FFF2-40B4-BE49-F238E27FC236}">
                  <a16:creationId xmlns:a16="http://schemas.microsoft.com/office/drawing/2014/main" id="{5265D909-DB65-AD0C-FDB2-ABE0C27FEE42}"/>
                </a:ext>
              </a:extLst>
            </p:cNvPr>
            <p:cNvSpPr/>
            <p:nvPr/>
          </p:nvSpPr>
          <p:spPr>
            <a:xfrm>
              <a:off x="3678770" y="3641435"/>
              <a:ext cx="95516" cy="95516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円/楕円 20">
              <a:extLst>
                <a:ext uri="{FF2B5EF4-FFF2-40B4-BE49-F238E27FC236}">
                  <a16:creationId xmlns:a16="http://schemas.microsoft.com/office/drawing/2014/main" id="{F65E3813-F83B-7AF5-A1FC-EDCD4AAE9506}"/>
                </a:ext>
              </a:extLst>
            </p:cNvPr>
            <p:cNvSpPr/>
            <p:nvPr/>
          </p:nvSpPr>
          <p:spPr>
            <a:xfrm>
              <a:off x="2926859" y="3625639"/>
              <a:ext cx="95516" cy="955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円/楕円 21">
              <a:extLst>
                <a:ext uri="{FF2B5EF4-FFF2-40B4-BE49-F238E27FC236}">
                  <a16:creationId xmlns:a16="http://schemas.microsoft.com/office/drawing/2014/main" id="{97601A26-AE06-C6BD-DE98-B02B0F216EC1}"/>
                </a:ext>
              </a:extLst>
            </p:cNvPr>
            <p:cNvSpPr/>
            <p:nvPr/>
          </p:nvSpPr>
          <p:spPr>
            <a:xfrm>
              <a:off x="3157540" y="3625639"/>
              <a:ext cx="95516" cy="955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" name="円/楕円 22">
              <a:extLst>
                <a:ext uri="{FF2B5EF4-FFF2-40B4-BE49-F238E27FC236}">
                  <a16:creationId xmlns:a16="http://schemas.microsoft.com/office/drawing/2014/main" id="{DAD44E5D-C577-11E6-9765-8AA4F6EC7A19}"/>
                </a:ext>
              </a:extLst>
            </p:cNvPr>
            <p:cNvSpPr/>
            <p:nvPr/>
          </p:nvSpPr>
          <p:spPr>
            <a:xfrm>
              <a:off x="3344511" y="3625639"/>
              <a:ext cx="95516" cy="955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円/楕円 24">
              <a:extLst>
                <a:ext uri="{FF2B5EF4-FFF2-40B4-BE49-F238E27FC236}">
                  <a16:creationId xmlns:a16="http://schemas.microsoft.com/office/drawing/2014/main" id="{741C2932-A172-8077-36E7-86F6957A907B}"/>
                </a:ext>
              </a:extLst>
            </p:cNvPr>
            <p:cNvSpPr/>
            <p:nvPr/>
          </p:nvSpPr>
          <p:spPr>
            <a:xfrm>
              <a:off x="3479322" y="3625639"/>
              <a:ext cx="95516" cy="955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" name="円/楕円 25">
              <a:extLst>
                <a:ext uri="{FF2B5EF4-FFF2-40B4-BE49-F238E27FC236}">
                  <a16:creationId xmlns:a16="http://schemas.microsoft.com/office/drawing/2014/main" id="{3E0C2C22-859B-B61E-6D5E-9339C7D47A63}"/>
                </a:ext>
              </a:extLst>
            </p:cNvPr>
            <p:cNvSpPr/>
            <p:nvPr/>
          </p:nvSpPr>
          <p:spPr>
            <a:xfrm>
              <a:off x="3592760" y="3625639"/>
              <a:ext cx="95516" cy="955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" name="円/楕円 28">
              <a:extLst>
                <a:ext uri="{FF2B5EF4-FFF2-40B4-BE49-F238E27FC236}">
                  <a16:creationId xmlns:a16="http://schemas.microsoft.com/office/drawing/2014/main" id="{24464E21-420B-B113-2B31-D3E731B5A39F}"/>
                </a:ext>
              </a:extLst>
            </p:cNvPr>
            <p:cNvSpPr/>
            <p:nvPr/>
          </p:nvSpPr>
          <p:spPr>
            <a:xfrm>
              <a:off x="7157616" y="3625639"/>
              <a:ext cx="95516" cy="955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円/楕円 30">
              <a:extLst>
                <a:ext uri="{FF2B5EF4-FFF2-40B4-BE49-F238E27FC236}">
                  <a16:creationId xmlns:a16="http://schemas.microsoft.com/office/drawing/2014/main" id="{E03B0DD4-AEF3-4AA0-E80C-13163A3E3DD4}"/>
                </a:ext>
              </a:extLst>
            </p:cNvPr>
            <p:cNvSpPr/>
            <p:nvPr/>
          </p:nvSpPr>
          <p:spPr>
            <a:xfrm>
              <a:off x="8690415" y="3646751"/>
              <a:ext cx="95516" cy="95516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" name="円/楕円 31">
              <a:extLst>
                <a:ext uri="{FF2B5EF4-FFF2-40B4-BE49-F238E27FC236}">
                  <a16:creationId xmlns:a16="http://schemas.microsoft.com/office/drawing/2014/main" id="{577370E5-530B-DD5E-7761-A845428B8EE7}"/>
                </a:ext>
              </a:extLst>
            </p:cNvPr>
            <p:cNvSpPr/>
            <p:nvPr/>
          </p:nvSpPr>
          <p:spPr>
            <a:xfrm>
              <a:off x="7720541" y="3625639"/>
              <a:ext cx="95516" cy="955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" name="円/楕円 32">
              <a:extLst>
                <a:ext uri="{FF2B5EF4-FFF2-40B4-BE49-F238E27FC236}">
                  <a16:creationId xmlns:a16="http://schemas.microsoft.com/office/drawing/2014/main" id="{AFDEA018-5344-551A-0699-DB89DC458873}"/>
                </a:ext>
              </a:extLst>
            </p:cNvPr>
            <p:cNvSpPr/>
            <p:nvPr/>
          </p:nvSpPr>
          <p:spPr>
            <a:xfrm>
              <a:off x="8110709" y="3625639"/>
              <a:ext cx="95516" cy="955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" name="円/楕円 39">
              <a:extLst>
                <a:ext uri="{FF2B5EF4-FFF2-40B4-BE49-F238E27FC236}">
                  <a16:creationId xmlns:a16="http://schemas.microsoft.com/office/drawing/2014/main" id="{C02B725B-7E01-6E6A-A754-A1E39C6F2B6A}"/>
                </a:ext>
              </a:extLst>
            </p:cNvPr>
            <p:cNvSpPr/>
            <p:nvPr/>
          </p:nvSpPr>
          <p:spPr>
            <a:xfrm>
              <a:off x="8432491" y="3625639"/>
              <a:ext cx="95516" cy="955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73" name="テキスト プレースホルダー 2">
            <a:extLst>
              <a:ext uri="{FF2B5EF4-FFF2-40B4-BE49-F238E27FC236}">
                <a16:creationId xmlns:a16="http://schemas.microsoft.com/office/drawing/2014/main" id="{16E981F2-E3D5-DF96-610E-94612636D8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847360"/>
            <a:ext cx="9385996" cy="3066370"/>
          </a:xfrm>
        </p:spPr>
        <p:txBody>
          <a:bodyPr/>
          <a:lstStyle/>
          <a:p>
            <a:r>
              <a:rPr kumimoji="1" lang="en-US" altLang="ja-JP" dirty="0"/>
              <a:t>Sh</a:t>
            </a:r>
            <a:r>
              <a:rPr lang="en-US" altLang="ja-JP" dirty="0"/>
              <a:t>ear stress in microcrack </a:t>
            </a:r>
            <a:endParaRPr kumimoji="1" lang="en-US" altLang="ja-JP" dirty="0"/>
          </a:p>
          <a:p>
            <a:pPr marL="534988" lvl="1" indent="-354013"/>
            <a:r>
              <a:rPr kumimoji="1" lang="en-US" altLang="ja-JP" sz="2400" dirty="0"/>
              <a:t>Dislocation source on th</a:t>
            </a:r>
            <a:r>
              <a:rPr lang="en-US" altLang="ja-JP" sz="2400" dirty="0"/>
              <a:t>e far side from the macrocrack </a:t>
            </a:r>
            <a:endParaRPr kumimoji="1" lang="ja-JP" altLang="en-US" sz="2400"/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25314524-7FB5-5143-DD33-8C1F141C0D2E}"/>
              </a:ext>
            </a:extLst>
          </p:cNvPr>
          <p:cNvGrpSpPr/>
          <p:nvPr/>
        </p:nvGrpSpPr>
        <p:grpSpPr>
          <a:xfrm>
            <a:off x="5636087" y="114597"/>
            <a:ext cx="3452119" cy="1243173"/>
            <a:chOff x="5636086" y="29039"/>
            <a:chExt cx="3452119" cy="1243173"/>
          </a:xfrm>
        </p:grpSpPr>
        <p:sp>
          <p:nvSpPr>
            <p:cNvPr id="8" name="角丸四角形 7">
              <a:extLst>
                <a:ext uri="{FF2B5EF4-FFF2-40B4-BE49-F238E27FC236}">
                  <a16:creationId xmlns:a16="http://schemas.microsoft.com/office/drawing/2014/main" id="{1CCAFB6C-236E-5A0E-9F79-18F0CE30A0D5}"/>
                </a:ext>
              </a:extLst>
            </p:cNvPr>
            <p:cNvSpPr/>
            <p:nvPr/>
          </p:nvSpPr>
          <p:spPr>
            <a:xfrm>
              <a:off x="5636086" y="29039"/>
              <a:ext cx="3452119" cy="1243173"/>
            </a:xfrm>
            <a:prstGeom prst="roundRect">
              <a:avLst>
                <a:gd name="adj" fmla="val 8762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id="{46531FA0-DF50-589F-2952-430DF4B7951C}"/>
                </a:ext>
              </a:extLst>
            </p:cNvPr>
            <p:cNvGrpSpPr/>
            <p:nvPr/>
          </p:nvGrpSpPr>
          <p:grpSpPr>
            <a:xfrm>
              <a:off x="5802347" y="130527"/>
              <a:ext cx="3024077" cy="369332"/>
              <a:chOff x="811380" y="6225360"/>
              <a:chExt cx="3024077" cy="369332"/>
            </a:xfrm>
          </p:grpSpPr>
          <p:sp>
            <p:nvSpPr>
              <p:cNvPr id="27" name="円/楕円 26">
                <a:extLst>
                  <a:ext uri="{FF2B5EF4-FFF2-40B4-BE49-F238E27FC236}">
                    <a16:creationId xmlns:a16="http://schemas.microsoft.com/office/drawing/2014/main" id="{28143EC1-8348-C3DA-4AC8-2F2D87B11F19}"/>
                  </a:ext>
                </a:extLst>
              </p:cNvPr>
              <p:cNvSpPr/>
              <p:nvPr/>
            </p:nvSpPr>
            <p:spPr>
              <a:xfrm>
                <a:off x="811380" y="6225360"/>
                <a:ext cx="328455" cy="328455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E45FB73E-61D6-D7B8-19AC-AB96E6A4DB2F}"/>
                  </a:ext>
                </a:extLst>
              </p:cNvPr>
              <p:cNvSpPr txBox="1"/>
              <p:nvPr/>
            </p:nvSpPr>
            <p:spPr>
              <a:xfrm>
                <a:off x="1073162" y="6225360"/>
                <a:ext cx="27622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/>
                  <a:t>：</a:t>
                </a:r>
                <a:r>
                  <a:rPr lang="en-US" altLang="ja-JP" dirty="0"/>
                  <a:t>F</a:t>
                </a:r>
                <a:r>
                  <a:rPr kumimoji="1" lang="en-US" altLang="ja-JP" dirty="0"/>
                  <a:t>ar</a:t>
                </a:r>
                <a:r>
                  <a:rPr lang="en-US" altLang="ja-JP" dirty="0"/>
                  <a:t> dislocation emitted</a:t>
                </a:r>
                <a:endParaRPr kumimoji="1" lang="ja-JP" altLang="en-US"/>
              </a:p>
            </p:txBody>
          </p:sp>
        </p:grpSp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D07437DC-EE0B-3721-D7EA-1A8C25664A15}"/>
                </a:ext>
              </a:extLst>
            </p:cNvPr>
            <p:cNvGrpSpPr/>
            <p:nvPr/>
          </p:nvGrpSpPr>
          <p:grpSpPr>
            <a:xfrm>
              <a:off x="5797780" y="520598"/>
              <a:ext cx="3190789" cy="369332"/>
              <a:chOff x="811380" y="6225360"/>
              <a:chExt cx="3190789" cy="369332"/>
            </a:xfrm>
          </p:grpSpPr>
          <p:sp>
            <p:nvSpPr>
              <p:cNvPr id="19" name="円/楕円 18">
                <a:extLst>
                  <a:ext uri="{FF2B5EF4-FFF2-40B4-BE49-F238E27FC236}">
                    <a16:creationId xmlns:a16="http://schemas.microsoft.com/office/drawing/2014/main" id="{ADBF0CF7-4A59-3AC6-9F2E-D45BFD1A670D}"/>
                  </a:ext>
                </a:extLst>
              </p:cNvPr>
              <p:cNvSpPr/>
              <p:nvPr/>
            </p:nvSpPr>
            <p:spPr>
              <a:xfrm>
                <a:off x="811380" y="6225360"/>
                <a:ext cx="328455" cy="328455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6DF3FED9-81B3-0C7B-CC6D-B347A9A28284}"/>
                  </a:ext>
                </a:extLst>
              </p:cNvPr>
              <p:cNvSpPr txBox="1"/>
              <p:nvPr/>
            </p:nvSpPr>
            <p:spPr>
              <a:xfrm>
                <a:off x="1073162" y="6225360"/>
                <a:ext cx="292900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/>
                  <a:t>：</a:t>
                </a:r>
                <a:r>
                  <a:rPr lang="en-US" altLang="ja-JP" dirty="0"/>
                  <a:t>Ne</a:t>
                </a:r>
                <a:r>
                  <a:rPr kumimoji="1" lang="en-US" altLang="ja-JP" dirty="0"/>
                  <a:t>ar</a:t>
                </a:r>
                <a:r>
                  <a:rPr lang="en-US" altLang="ja-JP" dirty="0"/>
                  <a:t> dislocation emitted</a:t>
                </a:r>
                <a:endParaRPr kumimoji="1" lang="ja-JP" altLang="en-US"/>
              </a:p>
            </p:txBody>
          </p:sp>
        </p:grpSp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BAA56CC6-0592-3F6C-4D23-56B0DD4F2884}"/>
                </a:ext>
              </a:extLst>
            </p:cNvPr>
            <p:cNvGrpSpPr/>
            <p:nvPr/>
          </p:nvGrpSpPr>
          <p:grpSpPr>
            <a:xfrm>
              <a:off x="5842527" y="875980"/>
              <a:ext cx="1602749" cy="391582"/>
              <a:chOff x="6793992" y="1334524"/>
              <a:chExt cx="1602749" cy="39158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テキスト ボックス 13">
                    <a:extLst>
                      <a:ext uri="{FF2B5EF4-FFF2-40B4-BE49-F238E27FC236}">
                        <a16:creationId xmlns:a16="http://schemas.microsoft.com/office/drawing/2014/main" id="{C9CEFEB9-E625-5758-F87E-0A7F8BCEB158}"/>
                      </a:ext>
                    </a:extLst>
                  </p:cNvPr>
                  <p:cNvSpPr txBox="1"/>
                  <p:nvPr/>
                </p:nvSpPr>
                <p:spPr>
                  <a:xfrm>
                    <a:off x="7233987" y="1334524"/>
                    <a:ext cx="1162754" cy="39158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ja-JP" altLang="en-US"/>
                      <a:t>：</a:t>
                    </a:r>
                    <a14:m>
                      <m:oMath xmlns:m="http://schemas.openxmlformats.org/officeDocument/2006/math"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oMath>
                    </a14:m>
                    <a:endParaRPr kumimoji="1" lang="ja-JP" altLang="en-US"/>
                  </a:p>
                </p:txBody>
              </p:sp>
            </mc:Choice>
            <mc:Fallback xmlns="">
              <p:sp>
                <p:nvSpPr>
                  <p:cNvPr id="23" name="テキスト ボックス 22">
                    <a:extLst>
                      <a:ext uri="{FF2B5EF4-FFF2-40B4-BE49-F238E27FC236}">
                        <a16:creationId xmlns:a16="http://schemas.microsoft.com/office/drawing/2014/main" id="{C01F20C7-9A73-6DD7-C02C-AC7D0CFE621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33987" y="1334524"/>
                    <a:ext cx="1162754" cy="39158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4348" b="-25806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6" name="直線コネクタ 15">
                <a:extLst>
                  <a:ext uri="{FF2B5EF4-FFF2-40B4-BE49-F238E27FC236}">
                    <a16:creationId xmlns:a16="http://schemas.microsoft.com/office/drawing/2014/main" id="{FF0A39E9-1C5E-E4D3-431B-81A4CF193E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93992" y="1546057"/>
                <a:ext cx="544691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9404338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タイトル 1">
                <a:extLst>
                  <a:ext uri="{FF2B5EF4-FFF2-40B4-BE49-F238E27FC236}">
                    <a16:creationId xmlns:a16="http://schemas.microsoft.com/office/drawing/2014/main" id="{08A8535B-B2AD-F898-9E5C-12C8BCB2D75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kumimoji="1" lang="en-US" altLang="ja-JP" dirty="0"/>
                  <a:t>Crack position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𝑛𝑒𝑎𝑟</m:t>
                        </m:r>
                      </m:sub>
                    </m:sSub>
                  </m:oMath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2" name="タイトル 1">
                <a:extLst>
                  <a:ext uri="{FF2B5EF4-FFF2-40B4-BE49-F238E27FC236}">
                    <a16:creationId xmlns:a16="http://schemas.microsoft.com/office/drawing/2014/main" id="{08A8535B-B2AD-F898-9E5C-12C8BCB2D7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700" b="-3584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F451F49-7CF6-1744-8F58-08F4BE468F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-1" y="862496"/>
            <a:ext cx="9019713" cy="1001815"/>
          </a:xfrm>
        </p:spPr>
        <p:txBody>
          <a:bodyPr/>
          <a:lstStyle/>
          <a:p>
            <a:r>
              <a:rPr kumimoji="1" lang="en-US" altLang="ja-JP" dirty="0"/>
              <a:t>Stresses exerted by dislocation emitted from macrocrack on microcrack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684467A-DAAB-9C3F-E350-4BE01C84F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F6909-ABCB-BB45-AC56-A8377246EBB2}" type="slidenum">
              <a:rPr lang="ja-JP" altLang="en-US" smtClean="0"/>
              <a:pPr/>
              <a:t>39</a:t>
            </a:fld>
            <a:endParaRPr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6F03AC8-CDC6-C9C9-8BA5-53E538BA5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Tokyo University of Science - Computational Materials Science Laboratory -</a:t>
            </a:r>
            <a:endParaRPr lang="ja-JP" altLang="en-US" dirty="0"/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3694146B-A618-C530-A576-49ADFC0951A9}"/>
              </a:ext>
            </a:extLst>
          </p:cNvPr>
          <p:cNvGrpSpPr/>
          <p:nvPr/>
        </p:nvGrpSpPr>
        <p:grpSpPr>
          <a:xfrm>
            <a:off x="-539" y="1780468"/>
            <a:ext cx="8846103" cy="3070279"/>
            <a:chOff x="-72724" y="1766538"/>
            <a:chExt cx="8846103" cy="30702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テキスト プレースホルダー 2">
                  <a:extLst>
                    <a:ext uri="{FF2B5EF4-FFF2-40B4-BE49-F238E27FC236}">
                      <a16:creationId xmlns:a16="http://schemas.microsoft.com/office/drawing/2014/main" id="{E61A4ECD-0C1E-567B-1738-F3480964A105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72724" y="1766538"/>
                  <a:ext cx="4421111" cy="3066370"/>
                </a:xfrm>
                <a:prstGeom prst="rect">
                  <a:avLst/>
                </a:prstGeom>
              </p:spPr>
              <p:txBody>
                <a:bodyPr vert="horz"/>
                <a:lstStyle>
                  <a:lvl1pPr marL="342000" indent="-342900" algn="l" defTabSz="914400" rtl="0" eaLnBrk="1" latinLnBrk="0" hangingPunct="1">
                    <a:lnSpc>
                      <a:spcPct val="100000"/>
                    </a:lnSpc>
                    <a:spcBef>
                      <a:spcPts val="1800"/>
                    </a:spcBef>
                    <a:spcAft>
                      <a:spcPts val="400"/>
                    </a:spcAft>
                    <a:buClr>
                      <a:schemeClr val="accent6">
                        <a:lumMod val="75000"/>
                      </a:schemeClr>
                    </a:buClr>
                    <a:buSzPct val="140000"/>
                    <a:buFont typeface="ヒラギノ角ゴ ProN W3"/>
                    <a:buChar char="|"/>
                    <a:defRPr kumimoji="1" sz="28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1600" indent="-392400" algn="l" defTabSz="914400" rtl="0" eaLnBrk="1" latinLnBrk="0" hangingPunct="1">
                    <a:lnSpc>
                      <a:spcPct val="100000"/>
                    </a:lnSpc>
                    <a:spcBef>
                      <a:spcPts val="225"/>
                    </a:spcBef>
                    <a:buClr>
                      <a:schemeClr val="accent6">
                        <a:lumMod val="75000"/>
                      </a:schemeClr>
                    </a:buClr>
                    <a:buSzPct val="75000"/>
                    <a:buFont typeface="Wingdings" charset="2"/>
                    <a:buChar char="n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410400" algn="l" defTabSz="914400" rtl="0" eaLnBrk="1" latinLnBrk="0" hangingPunct="1">
                    <a:lnSpc>
                      <a:spcPct val="100000"/>
                    </a:lnSpc>
                    <a:spcBef>
                      <a:spcPts val="25"/>
                    </a:spcBef>
                    <a:buClr>
                      <a:schemeClr val="accent6">
                        <a:lumMod val="75000"/>
                      </a:schemeClr>
                    </a:buClr>
                    <a:buSzPct val="120000"/>
                    <a:buFont typeface="HiraKakuProN-W3" charset="-128"/>
                    <a:buChar char="−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100000"/>
                    </a:lnSpc>
                    <a:spcBef>
                      <a:spcPts val="25"/>
                    </a:spcBef>
                    <a:buClr>
                      <a:schemeClr val="accent6">
                        <a:lumMod val="75000"/>
                      </a:schemeClr>
                    </a:buClr>
                    <a:buFont typeface="Arial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100000"/>
                    </a:lnSpc>
                    <a:spcBef>
                      <a:spcPts val="25"/>
                    </a:spcBef>
                    <a:buClr>
                      <a:schemeClr val="accent6">
                        <a:lumMod val="75000"/>
                      </a:schemeClr>
                    </a:buClr>
                    <a:buFont typeface="Arial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2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ja-JP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𝑦𝑦</m:t>
                          </m:r>
                        </m:sub>
                      </m:sSub>
                    </m:oMath>
                  </a14:m>
                  <a:endParaRPr lang="ja-JP" altLang="en-US"/>
                </a:p>
              </p:txBody>
            </p:sp>
          </mc:Choice>
          <mc:Fallback xmlns="">
            <p:sp>
              <p:nvSpPr>
                <p:cNvPr id="7" name="テキスト プレースホルダー 2">
                  <a:extLst>
                    <a:ext uri="{FF2B5EF4-FFF2-40B4-BE49-F238E27FC236}">
                      <a16:creationId xmlns:a16="http://schemas.microsoft.com/office/drawing/2014/main" id="{E61A4ECD-0C1E-567B-1738-F3480964A1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72724" y="1766538"/>
                  <a:ext cx="4421111" cy="3066370"/>
                </a:xfrm>
                <a:prstGeom prst="rect">
                  <a:avLst/>
                </a:prstGeom>
                <a:blipFill>
                  <a:blip r:embed="rId3"/>
                  <a:stretch>
                    <a:fillRect t="-495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テキスト プレースホルダー 2">
                  <a:extLst>
                    <a:ext uri="{FF2B5EF4-FFF2-40B4-BE49-F238E27FC236}">
                      <a16:creationId xmlns:a16="http://schemas.microsoft.com/office/drawing/2014/main" id="{045808FF-88D7-CEFE-B2E3-348FFAF578ED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452318" y="1770447"/>
                  <a:ext cx="4321061" cy="3066370"/>
                </a:xfrm>
                <a:prstGeom prst="rect">
                  <a:avLst/>
                </a:prstGeom>
              </p:spPr>
              <p:txBody>
                <a:bodyPr vert="horz"/>
                <a:lstStyle>
                  <a:lvl1pPr marL="342000" indent="-342900" algn="l" defTabSz="914400" rtl="0" eaLnBrk="1" latinLnBrk="0" hangingPunct="1">
                    <a:lnSpc>
                      <a:spcPct val="100000"/>
                    </a:lnSpc>
                    <a:spcBef>
                      <a:spcPts val="1800"/>
                    </a:spcBef>
                    <a:spcAft>
                      <a:spcPts val="400"/>
                    </a:spcAft>
                    <a:buClr>
                      <a:schemeClr val="accent6">
                        <a:lumMod val="75000"/>
                      </a:schemeClr>
                    </a:buClr>
                    <a:buSzPct val="140000"/>
                    <a:buFont typeface="ヒラギノ角ゴ ProN W3"/>
                    <a:buChar char="|"/>
                    <a:defRPr kumimoji="1" sz="28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1600" indent="-392400" algn="l" defTabSz="914400" rtl="0" eaLnBrk="1" latinLnBrk="0" hangingPunct="1">
                    <a:lnSpc>
                      <a:spcPct val="100000"/>
                    </a:lnSpc>
                    <a:spcBef>
                      <a:spcPts val="225"/>
                    </a:spcBef>
                    <a:buClr>
                      <a:schemeClr val="accent6">
                        <a:lumMod val="75000"/>
                      </a:schemeClr>
                    </a:buClr>
                    <a:buSzPct val="75000"/>
                    <a:buFont typeface="Wingdings" charset="2"/>
                    <a:buChar char="n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410400" algn="l" defTabSz="914400" rtl="0" eaLnBrk="1" latinLnBrk="0" hangingPunct="1">
                    <a:lnSpc>
                      <a:spcPct val="100000"/>
                    </a:lnSpc>
                    <a:spcBef>
                      <a:spcPts val="25"/>
                    </a:spcBef>
                    <a:buClr>
                      <a:schemeClr val="accent6">
                        <a:lumMod val="75000"/>
                      </a:schemeClr>
                    </a:buClr>
                    <a:buSzPct val="120000"/>
                    <a:buFont typeface="HiraKakuProN-W3" charset="-128"/>
                    <a:buChar char="−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100000"/>
                    </a:lnSpc>
                    <a:spcBef>
                      <a:spcPts val="25"/>
                    </a:spcBef>
                    <a:buClr>
                      <a:schemeClr val="accent6">
                        <a:lumMod val="75000"/>
                      </a:schemeClr>
                    </a:buClr>
                    <a:buFont typeface="Arial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100000"/>
                    </a:lnSpc>
                    <a:spcBef>
                      <a:spcPts val="25"/>
                    </a:spcBef>
                    <a:buClr>
                      <a:schemeClr val="accent6">
                        <a:lumMod val="75000"/>
                      </a:schemeClr>
                    </a:buClr>
                    <a:buFont typeface="Arial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2"/>
                  <a14:m>
                    <m:oMath xmlns:m="http://schemas.openxmlformats.org/officeDocument/2006/math">
                      <m:r>
                        <a:rPr lang="ja-JP" altLang="en-US" i="1" smtClean="0">
                          <a:latin typeface="Cambria Math" panose="02040503050406030204" pitchFamily="18" charset="0"/>
                        </a:rPr>
                        <m:t>𝜏</m:t>
                      </m:r>
                    </m:oMath>
                  </a14:m>
                  <a:endParaRPr lang="ja-JP" altLang="en-US"/>
                </a:p>
              </p:txBody>
            </p:sp>
          </mc:Choice>
          <mc:Fallback xmlns="">
            <p:sp>
              <p:nvSpPr>
                <p:cNvPr id="8" name="テキスト プレースホルダー 2">
                  <a:extLst>
                    <a:ext uri="{FF2B5EF4-FFF2-40B4-BE49-F238E27FC236}">
                      <a16:creationId xmlns:a16="http://schemas.microsoft.com/office/drawing/2014/main" id="{045808FF-88D7-CEFE-B2E3-348FFAF578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52318" y="1770447"/>
                  <a:ext cx="4321061" cy="3066370"/>
                </a:xfrm>
                <a:prstGeom prst="rect">
                  <a:avLst/>
                </a:prstGeom>
                <a:blipFill>
                  <a:blip r:embed="rId4"/>
                  <a:stretch>
                    <a:fillRect t="-535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0" name="図 9">
            <a:extLst>
              <a:ext uri="{FF2B5EF4-FFF2-40B4-BE49-F238E27FC236}">
                <a16:creationId xmlns:a16="http://schemas.microsoft.com/office/drawing/2014/main" id="{2357B597-E1B1-26E3-63F4-DF42E4401C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89872" y="1406543"/>
            <a:ext cx="4252182" cy="6074545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82B39627-682A-9407-EE4D-126602B2EE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4777271" y="1406543"/>
            <a:ext cx="4252182" cy="6074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1793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タイトル 1">
                <a:extLst>
                  <a:ext uri="{FF2B5EF4-FFF2-40B4-BE49-F238E27FC236}">
                    <a16:creationId xmlns:a16="http://schemas.microsoft.com/office/drawing/2014/main" id="{08A8535B-B2AD-F898-9E5C-12C8BCB2D75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kumimoji="1" lang="en-US" altLang="ja-JP" dirty="0"/>
                  <a:t>Temperature 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2" name="タイトル 1">
                <a:extLst>
                  <a:ext uri="{FF2B5EF4-FFF2-40B4-BE49-F238E27FC236}">
                    <a16:creationId xmlns:a16="http://schemas.microsoft.com/office/drawing/2014/main" id="{08A8535B-B2AD-F898-9E5C-12C8BCB2D7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700" b="-3584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F451F49-7CF6-1744-8F58-08F4BE468F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-1" y="862496"/>
            <a:ext cx="9019713" cy="1001815"/>
          </a:xfrm>
        </p:spPr>
        <p:txBody>
          <a:bodyPr/>
          <a:lstStyle/>
          <a:p>
            <a:r>
              <a:rPr kumimoji="1" lang="en-US" altLang="ja-JP" dirty="0"/>
              <a:t>Stresses exerted by dislocation emitted from macrocrack on microcrack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684467A-DAAB-9C3F-E350-4BE01C84F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F6909-ABCB-BB45-AC56-A8377246EBB2}" type="slidenum">
              <a:rPr lang="ja-JP" altLang="en-US" smtClean="0"/>
              <a:pPr/>
              <a:t>40</a:t>
            </a:fld>
            <a:endParaRPr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6F03AC8-CDC6-C9C9-8BA5-53E538BA5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Tokyo University of Science - Computational Materials Science Laboratory -</a:t>
            </a:r>
            <a:endParaRPr lang="ja-JP" altLang="en-US" dirty="0"/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3694146B-A618-C530-A576-49ADFC0951A9}"/>
              </a:ext>
            </a:extLst>
          </p:cNvPr>
          <p:cNvGrpSpPr/>
          <p:nvPr/>
        </p:nvGrpSpPr>
        <p:grpSpPr>
          <a:xfrm>
            <a:off x="-539" y="1780468"/>
            <a:ext cx="8846103" cy="3070279"/>
            <a:chOff x="-72724" y="1766538"/>
            <a:chExt cx="8846103" cy="30702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テキスト プレースホルダー 2">
                  <a:extLst>
                    <a:ext uri="{FF2B5EF4-FFF2-40B4-BE49-F238E27FC236}">
                      <a16:creationId xmlns:a16="http://schemas.microsoft.com/office/drawing/2014/main" id="{E61A4ECD-0C1E-567B-1738-F3480964A105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72724" y="1766538"/>
                  <a:ext cx="4421111" cy="3066370"/>
                </a:xfrm>
                <a:prstGeom prst="rect">
                  <a:avLst/>
                </a:prstGeom>
              </p:spPr>
              <p:txBody>
                <a:bodyPr vert="horz"/>
                <a:lstStyle>
                  <a:lvl1pPr marL="342000" indent="-342900" algn="l" defTabSz="914400" rtl="0" eaLnBrk="1" latinLnBrk="0" hangingPunct="1">
                    <a:lnSpc>
                      <a:spcPct val="100000"/>
                    </a:lnSpc>
                    <a:spcBef>
                      <a:spcPts val="1800"/>
                    </a:spcBef>
                    <a:spcAft>
                      <a:spcPts val="400"/>
                    </a:spcAft>
                    <a:buClr>
                      <a:schemeClr val="accent6">
                        <a:lumMod val="75000"/>
                      </a:schemeClr>
                    </a:buClr>
                    <a:buSzPct val="140000"/>
                    <a:buFont typeface="ヒラギノ角ゴ ProN W3"/>
                    <a:buChar char="|"/>
                    <a:defRPr kumimoji="1" sz="28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1600" indent="-392400" algn="l" defTabSz="914400" rtl="0" eaLnBrk="1" latinLnBrk="0" hangingPunct="1">
                    <a:lnSpc>
                      <a:spcPct val="100000"/>
                    </a:lnSpc>
                    <a:spcBef>
                      <a:spcPts val="225"/>
                    </a:spcBef>
                    <a:buClr>
                      <a:schemeClr val="accent6">
                        <a:lumMod val="75000"/>
                      </a:schemeClr>
                    </a:buClr>
                    <a:buSzPct val="75000"/>
                    <a:buFont typeface="Wingdings" charset="2"/>
                    <a:buChar char="n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410400" algn="l" defTabSz="914400" rtl="0" eaLnBrk="1" latinLnBrk="0" hangingPunct="1">
                    <a:lnSpc>
                      <a:spcPct val="100000"/>
                    </a:lnSpc>
                    <a:spcBef>
                      <a:spcPts val="25"/>
                    </a:spcBef>
                    <a:buClr>
                      <a:schemeClr val="accent6">
                        <a:lumMod val="75000"/>
                      </a:schemeClr>
                    </a:buClr>
                    <a:buSzPct val="120000"/>
                    <a:buFont typeface="HiraKakuProN-W3" charset="-128"/>
                    <a:buChar char="−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100000"/>
                    </a:lnSpc>
                    <a:spcBef>
                      <a:spcPts val="25"/>
                    </a:spcBef>
                    <a:buClr>
                      <a:schemeClr val="accent6">
                        <a:lumMod val="75000"/>
                      </a:schemeClr>
                    </a:buClr>
                    <a:buFont typeface="Arial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100000"/>
                    </a:lnSpc>
                    <a:spcBef>
                      <a:spcPts val="25"/>
                    </a:spcBef>
                    <a:buClr>
                      <a:schemeClr val="accent6">
                        <a:lumMod val="75000"/>
                      </a:schemeClr>
                    </a:buClr>
                    <a:buFont typeface="Arial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2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ja-JP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𝑦𝑦</m:t>
                          </m:r>
                        </m:sub>
                      </m:sSub>
                    </m:oMath>
                  </a14:m>
                  <a:endParaRPr lang="ja-JP" altLang="en-US"/>
                </a:p>
              </p:txBody>
            </p:sp>
          </mc:Choice>
          <mc:Fallback xmlns="">
            <p:sp>
              <p:nvSpPr>
                <p:cNvPr id="7" name="テキスト プレースホルダー 2">
                  <a:extLst>
                    <a:ext uri="{FF2B5EF4-FFF2-40B4-BE49-F238E27FC236}">
                      <a16:creationId xmlns:a16="http://schemas.microsoft.com/office/drawing/2014/main" id="{E61A4ECD-0C1E-567B-1738-F3480964A1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72724" y="1766538"/>
                  <a:ext cx="4421111" cy="3066370"/>
                </a:xfrm>
                <a:prstGeom prst="rect">
                  <a:avLst/>
                </a:prstGeom>
                <a:blipFill>
                  <a:blip r:embed="rId3"/>
                  <a:stretch>
                    <a:fillRect t="-495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テキスト プレースホルダー 2">
                  <a:extLst>
                    <a:ext uri="{FF2B5EF4-FFF2-40B4-BE49-F238E27FC236}">
                      <a16:creationId xmlns:a16="http://schemas.microsoft.com/office/drawing/2014/main" id="{045808FF-88D7-CEFE-B2E3-348FFAF578ED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452318" y="1770447"/>
                  <a:ext cx="4321061" cy="3066370"/>
                </a:xfrm>
                <a:prstGeom prst="rect">
                  <a:avLst/>
                </a:prstGeom>
              </p:spPr>
              <p:txBody>
                <a:bodyPr vert="horz"/>
                <a:lstStyle>
                  <a:lvl1pPr marL="342000" indent="-342900" algn="l" defTabSz="914400" rtl="0" eaLnBrk="1" latinLnBrk="0" hangingPunct="1">
                    <a:lnSpc>
                      <a:spcPct val="100000"/>
                    </a:lnSpc>
                    <a:spcBef>
                      <a:spcPts val="1800"/>
                    </a:spcBef>
                    <a:spcAft>
                      <a:spcPts val="400"/>
                    </a:spcAft>
                    <a:buClr>
                      <a:schemeClr val="accent6">
                        <a:lumMod val="75000"/>
                      </a:schemeClr>
                    </a:buClr>
                    <a:buSzPct val="140000"/>
                    <a:buFont typeface="ヒラギノ角ゴ ProN W3"/>
                    <a:buChar char="|"/>
                    <a:defRPr kumimoji="1" sz="28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1600" indent="-392400" algn="l" defTabSz="914400" rtl="0" eaLnBrk="1" latinLnBrk="0" hangingPunct="1">
                    <a:lnSpc>
                      <a:spcPct val="100000"/>
                    </a:lnSpc>
                    <a:spcBef>
                      <a:spcPts val="225"/>
                    </a:spcBef>
                    <a:buClr>
                      <a:schemeClr val="accent6">
                        <a:lumMod val="75000"/>
                      </a:schemeClr>
                    </a:buClr>
                    <a:buSzPct val="75000"/>
                    <a:buFont typeface="Wingdings" charset="2"/>
                    <a:buChar char="n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410400" algn="l" defTabSz="914400" rtl="0" eaLnBrk="1" latinLnBrk="0" hangingPunct="1">
                    <a:lnSpc>
                      <a:spcPct val="100000"/>
                    </a:lnSpc>
                    <a:spcBef>
                      <a:spcPts val="25"/>
                    </a:spcBef>
                    <a:buClr>
                      <a:schemeClr val="accent6">
                        <a:lumMod val="75000"/>
                      </a:schemeClr>
                    </a:buClr>
                    <a:buSzPct val="120000"/>
                    <a:buFont typeface="HiraKakuProN-W3" charset="-128"/>
                    <a:buChar char="−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100000"/>
                    </a:lnSpc>
                    <a:spcBef>
                      <a:spcPts val="25"/>
                    </a:spcBef>
                    <a:buClr>
                      <a:schemeClr val="accent6">
                        <a:lumMod val="75000"/>
                      </a:schemeClr>
                    </a:buClr>
                    <a:buFont typeface="Arial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100000"/>
                    </a:lnSpc>
                    <a:spcBef>
                      <a:spcPts val="25"/>
                    </a:spcBef>
                    <a:buClr>
                      <a:schemeClr val="accent6">
                        <a:lumMod val="75000"/>
                      </a:schemeClr>
                    </a:buClr>
                    <a:buFont typeface="Arial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2"/>
                  <a14:m>
                    <m:oMath xmlns:m="http://schemas.openxmlformats.org/officeDocument/2006/math">
                      <m:r>
                        <a:rPr lang="ja-JP" altLang="en-US" i="1" smtClean="0">
                          <a:latin typeface="Cambria Math" panose="02040503050406030204" pitchFamily="18" charset="0"/>
                        </a:rPr>
                        <m:t>𝜏</m:t>
                      </m:r>
                    </m:oMath>
                  </a14:m>
                  <a:endParaRPr lang="ja-JP" altLang="en-US"/>
                </a:p>
              </p:txBody>
            </p:sp>
          </mc:Choice>
          <mc:Fallback xmlns="">
            <p:sp>
              <p:nvSpPr>
                <p:cNvPr id="8" name="テキスト プレースホルダー 2">
                  <a:extLst>
                    <a:ext uri="{FF2B5EF4-FFF2-40B4-BE49-F238E27FC236}">
                      <a16:creationId xmlns:a16="http://schemas.microsoft.com/office/drawing/2014/main" id="{045808FF-88D7-CEFE-B2E3-348FFAF578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52318" y="1770447"/>
                  <a:ext cx="4321061" cy="3066370"/>
                </a:xfrm>
                <a:prstGeom prst="rect">
                  <a:avLst/>
                </a:prstGeom>
                <a:blipFill>
                  <a:blip r:embed="rId4"/>
                  <a:stretch>
                    <a:fillRect t="-535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1" name="図 10">
            <a:extLst>
              <a:ext uri="{FF2B5EF4-FFF2-40B4-BE49-F238E27FC236}">
                <a16:creationId xmlns:a16="http://schemas.microsoft.com/office/drawing/2014/main" id="{E5B1777A-7898-1355-68D2-26E69B168E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278765" y="1463871"/>
            <a:ext cx="4204970" cy="60071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6C103855-E1AB-3B97-10D3-CF8C25B7D2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4860232" y="1509876"/>
            <a:ext cx="4204970" cy="600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6094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タイトル 1">
                <a:extLst>
                  <a:ext uri="{FF2B5EF4-FFF2-40B4-BE49-F238E27FC236}">
                    <a16:creationId xmlns:a16="http://schemas.microsoft.com/office/drawing/2014/main" id="{A8532964-DD30-9A83-9E7E-E422F1B96E3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kumimoji="1" lang="en-US" altLang="ja-JP" dirty="0"/>
                  <a:t>Temperature 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2" name="タイトル 1">
                <a:extLst>
                  <a:ext uri="{FF2B5EF4-FFF2-40B4-BE49-F238E27FC236}">
                    <a16:creationId xmlns:a16="http://schemas.microsoft.com/office/drawing/2014/main" id="{A8532964-DD30-9A83-9E7E-E422F1B96E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700" b="-3584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8" name="グループ化 67">
            <a:extLst>
              <a:ext uri="{FF2B5EF4-FFF2-40B4-BE49-F238E27FC236}">
                <a16:creationId xmlns:a16="http://schemas.microsoft.com/office/drawing/2014/main" id="{55F208F0-27DA-27EC-5183-03BE81E97701}"/>
              </a:ext>
            </a:extLst>
          </p:cNvPr>
          <p:cNvGrpSpPr/>
          <p:nvPr/>
        </p:nvGrpSpPr>
        <p:grpSpPr>
          <a:xfrm>
            <a:off x="-79791" y="1803518"/>
            <a:ext cx="8272891" cy="3070279"/>
            <a:chOff x="-72724" y="1766538"/>
            <a:chExt cx="8272891" cy="30702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テキスト プレースホルダー 2">
                  <a:extLst>
                    <a:ext uri="{FF2B5EF4-FFF2-40B4-BE49-F238E27FC236}">
                      <a16:creationId xmlns:a16="http://schemas.microsoft.com/office/drawing/2014/main" id="{0C95B55B-A7FB-6DD6-05A9-9B88E5F1453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72724" y="1766538"/>
                  <a:ext cx="4421111" cy="3066370"/>
                </a:xfrm>
                <a:prstGeom prst="rect">
                  <a:avLst/>
                </a:prstGeom>
              </p:spPr>
              <p:txBody>
                <a:bodyPr vert="horz"/>
                <a:lstStyle>
                  <a:lvl1pPr marL="342000" indent="-342900" algn="l" defTabSz="914400" rtl="0" eaLnBrk="1" latinLnBrk="0" hangingPunct="1">
                    <a:lnSpc>
                      <a:spcPct val="100000"/>
                    </a:lnSpc>
                    <a:spcBef>
                      <a:spcPts val="1800"/>
                    </a:spcBef>
                    <a:spcAft>
                      <a:spcPts val="400"/>
                    </a:spcAft>
                    <a:buClr>
                      <a:schemeClr val="accent6">
                        <a:lumMod val="75000"/>
                      </a:schemeClr>
                    </a:buClr>
                    <a:buSzPct val="140000"/>
                    <a:buFont typeface="ヒラギノ角ゴ ProN W3"/>
                    <a:buChar char="|"/>
                    <a:defRPr kumimoji="1" sz="28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1600" indent="-392400" algn="l" defTabSz="914400" rtl="0" eaLnBrk="1" latinLnBrk="0" hangingPunct="1">
                    <a:lnSpc>
                      <a:spcPct val="100000"/>
                    </a:lnSpc>
                    <a:spcBef>
                      <a:spcPts val="225"/>
                    </a:spcBef>
                    <a:buClr>
                      <a:schemeClr val="accent6">
                        <a:lumMod val="75000"/>
                      </a:schemeClr>
                    </a:buClr>
                    <a:buSzPct val="75000"/>
                    <a:buFont typeface="Wingdings" charset="2"/>
                    <a:buChar char="n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410400" algn="l" defTabSz="914400" rtl="0" eaLnBrk="1" latinLnBrk="0" hangingPunct="1">
                    <a:lnSpc>
                      <a:spcPct val="100000"/>
                    </a:lnSpc>
                    <a:spcBef>
                      <a:spcPts val="25"/>
                    </a:spcBef>
                    <a:buClr>
                      <a:schemeClr val="accent6">
                        <a:lumMod val="75000"/>
                      </a:schemeClr>
                    </a:buClr>
                    <a:buSzPct val="120000"/>
                    <a:buFont typeface="HiraKakuProN-W3" charset="-128"/>
                    <a:buChar char="−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100000"/>
                    </a:lnSpc>
                    <a:spcBef>
                      <a:spcPts val="25"/>
                    </a:spcBef>
                    <a:buClr>
                      <a:schemeClr val="accent6">
                        <a:lumMod val="75000"/>
                      </a:schemeClr>
                    </a:buClr>
                    <a:buFont typeface="Arial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100000"/>
                    </a:lnSpc>
                    <a:spcBef>
                      <a:spcPts val="25"/>
                    </a:spcBef>
                    <a:buClr>
                      <a:schemeClr val="accent6">
                        <a:lumMod val="75000"/>
                      </a:schemeClr>
                    </a:buClr>
                    <a:buFont typeface="Arial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2"/>
                  <a14:m>
                    <m:oMath xmlns:m="http://schemas.openxmlformats.org/officeDocument/2006/math">
                      <m:r>
                        <a:rPr lang="en-US" altLang="ja-JP" b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ja-JP" b="1" i="0" smtClean="0">
                          <a:latin typeface="Cambria Math" panose="02040503050406030204" pitchFamily="18" charset="0"/>
                        </a:rPr>
                        <m:t>𝟗𝟑</m:t>
                      </m:r>
                      <m:r>
                        <a:rPr lang="en-US" altLang="ja-JP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ja-JP" b="1" i="0" smtClean="0">
                          <a:latin typeface="Cambria Math" panose="02040503050406030204" pitchFamily="18" charset="0"/>
                        </a:rPr>
                        <m:t>𝐊</m:t>
                      </m:r>
                    </m:oMath>
                  </a14:m>
                  <a:endParaRPr lang="ja-JP" altLang="en-US"/>
                </a:p>
              </p:txBody>
            </p:sp>
          </mc:Choice>
          <mc:Fallback xmlns="">
            <p:sp>
              <p:nvSpPr>
                <p:cNvPr id="6" name="テキスト プレースホルダー 2">
                  <a:extLst>
                    <a:ext uri="{FF2B5EF4-FFF2-40B4-BE49-F238E27FC236}">
                      <a16:creationId xmlns:a16="http://schemas.microsoft.com/office/drawing/2014/main" id="{0C95B55B-A7FB-6DD6-05A9-9B88E5F145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72724" y="1766538"/>
                  <a:ext cx="4421111" cy="3066370"/>
                </a:xfrm>
                <a:prstGeom prst="rect">
                  <a:avLst/>
                </a:prstGeom>
                <a:blipFill>
                  <a:blip r:embed="rId3"/>
                  <a:stretch>
                    <a:fillRect t="-537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テキスト プレースホルダー 2">
                  <a:extLst>
                    <a:ext uri="{FF2B5EF4-FFF2-40B4-BE49-F238E27FC236}">
                      <a16:creationId xmlns:a16="http://schemas.microsoft.com/office/drawing/2014/main" id="{789BEEEC-DEB5-8C08-B0AF-ACAEED3CDAE6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452319" y="1770447"/>
                  <a:ext cx="3747848" cy="3066370"/>
                </a:xfrm>
                <a:prstGeom prst="rect">
                  <a:avLst/>
                </a:prstGeom>
              </p:spPr>
              <p:txBody>
                <a:bodyPr vert="horz"/>
                <a:lstStyle>
                  <a:lvl1pPr marL="342000" indent="-342900" algn="l" defTabSz="914400" rtl="0" eaLnBrk="1" latinLnBrk="0" hangingPunct="1">
                    <a:lnSpc>
                      <a:spcPct val="100000"/>
                    </a:lnSpc>
                    <a:spcBef>
                      <a:spcPts val="1800"/>
                    </a:spcBef>
                    <a:spcAft>
                      <a:spcPts val="400"/>
                    </a:spcAft>
                    <a:buClr>
                      <a:schemeClr val="accent6">
                        <a:lumMod val="75000"/>
                      </a:schemeClr>
                    </a:buClr>
                    <a:buSzPct val="140000"/>
                    <a:buFont typeface="ヒラギノ角ゴ ProN W3"/>
                    <a:buChar char="|"/>
                    <a:defRPr kumimoji="1" sz="28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1600" indent="-392400" algn="l" defTabSz="914400" rtl="0" eaLnBrk="1" latinLnBrk="0" hangingPunct="1">
                    <a:lnSpc>
                      <a:spcPct val="100000"/>
                    </a:lnSpc>
                    <a:spcBef>
                      <a:spcPts val="225"/>
                    </a:spcBef>
                    <a:buClr>
                      <a:schemeClr val="accent6">
                        <a:lumMod val="75000"/>
                      </a:schemeClr>
                    </a:buClr>
                    <a:buSzPct val="75000"/>
                    <a:buFont typeface="Wingdings" charset="2"/>
                    <a:buChar char="n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410400" algn="l" defTabSz="914400" rtl="0" eaLnBrk="1" latinLnBrk="0" hangingPunct="1">
                    <a:lnSpc>
                      <a:spcPct val="100000"/>
                    </a:lnSpc>
                    <a:spcBef>
                      <a:spcPts val="25"/>
                    </a:spcBef>
                    <a:buClr>
                      <a:schemeClr val="accent6">
                        <a:lumMod val="75000"/>
                      </a:schemeClr>
                    </a:buClr>
                    <a:buSzPct val="120000"/>
                    <a:buFont typeface="HiraKakuProN-W3" charset="-128"/>
                    <a:buChar char="−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100000"/>
                    </a:lnSpc>
                    <a:spcBef>
                      <a:spcPts val="25"/>
                    </a:spcBef>
                    <a:buClr>
                      <a:schemeClr val="accent6">
                        <a:lumMod val="75000"/>
                      </a:schemeClr>
                    </a:buClr>
                    <a:buFont typeface="Arial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100000"/>
                    </a:lnSpc>
                    <a:spcBef>
                      <a:spcPts val="25"/>
                    </a:spcBef>
                    <a:buClr>
                      <a:schemeClr val="accent6">
                        <a:lumMod val="75000"/>
                      </a:schemeClr>
                    </a:buClr>
                    <a:buFont typeface="Arial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2"/>
                  <a14:m>
                    <m:oMath xmlns:m="http://schemas.openxmlformats.org/officeDocument/2006/math">
                      <m:r>
                        <a:rPr lang="en-US" altLang="ja-JP" b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ja-JP" b="1" i="0" smtClean="0">
                          <a:latin typeface="Cambria Math" panose="02040503050406030204" pitchFamily="18" charset="0"/>
                        </a:rPr>
                        <m:t>𝟐𝟏𝟑</m:t>
                      </m:r>
                      <m:r>
                        <a:rPr lang="en-US" altLang="ja-JP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ja-JP" b="1" i="0" smtClean="0">
                          <a:latin typeface="Cambria Math" panose="02040503050406030204" pitchFamily="18" charset="0"/>
                        </a:rPr>
                        <m:t>𝐊</m:t>
                      </m:r>
                    </m:oMath>
                  </a14:m>
                  <a:endParaRPr lang="ja-JP" altLang="en-US"/>
                </a:p>
              </p:txBody>
            </p:sp>
          </mc:Choice>
          <mc:Fallback xmlns="">
            <p:sp>
              <p:nvSpPr>
                <p:cNvPr id="7" name="テキスト プレースホルダー 2">
                  <a:extLst>
                    <a:ext uri="{FF2B5EF4-FFF2-40B4-BE49-F238E27FC236}">
                      <a16:creationId xmlns:a16="http://schemas.microsoft.com/office/drawing/2014/main" id="{789BEEEC-DEB5-8C08-B0AF-ACAEED3CDA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52319" y="1770447"/>
                  <a:ext cx="3747848" cy="3066370"/>
                </a:xfrm>
                <a:prstGeom prst="rect">
                  <a:avLst/>
                </a:prstGeom>
                <a:blipFill>
                  <a:blip r:embed="rId4"/>
                  <a:stretch>
                    <a:fillRect t="-537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33F49E6-3854-258C-B20E-E3F64CE5C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F6909-ABCB-BB45-AC56-A8377246EBB2}" type="slidenum">
              <a:rPr lang="ja-JP" altLang="en-US" smtClean="0"/>
              <a:pPr/>
              <a:t>41</a:t>
            </a:fld>
            <a:endParaRPr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0504BE-B196-369C-C32A-B3F5B2F7D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dirty="0"/>
              <a:t>Tokyo University of Science - Computational Materials Science Laboratory -</a:t>
            </a:r>
            <a:endParaRPr lang="ja-JP" altLang="en-US" dirty="0"/>
          </a:p>
        </p:txBody>
      </p:sp>
      <p:grpSp>
        <p:nvGrpSpPr>
          <p:cNvPr id="53" name="グループ化 52">
            <a:extLst>
              <a:ext uri="{FF2B5EF4-FFF2-40B4-BE49-F238E27FC236}">
                <a16:creationId xmlns:a16="http://schemas.microsoft.com/office/drawing/2014/main" id="{82DF78A2-D5B8-93E3-C8A4-AA755BC487EE}"/>
              </a:ext>
            </a:extLst>
          </p:cNvPr>
          <p:cNvGrpSpPr/>
          <p:nvPr/>
        </p:nvGrpSpPr>
        <p:grpSpPr>
          <a:xfrm>
            <a:off x="-748777" y="2264965"/>
            <a:ext cx="10795024" cy="4307460"/>
            <a:chOff x="-748777" y="2264965"/>
            <a:chExt cx="10795024" cy="4307460"/>
          </a:xfrm>
        </p:grpSpPr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526A6189-0E44-F1B5-2030-25E77D070B6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5400000">
              <a:off x="173932" y="1343737"/>
              <a:ext cx="4305979" cy="6151398"/>
            </a:xfrm>
            <a:prstGeom prst="rect">
              <a:avLst/>
            </a:prstGeom>
          </p:spPr>
        </p:pic>
        <p:pic>
          <p:nvPicPr>
            <p:cNvPr id="13" name="図 12">
              <a:extLst>
                <a:ext uri="{FF2B5EF4-FFF2-40B4-BE49-F238E27FC236}">
                  <a16:creationId xmlns:a16="http://schemas.microsoft.com/office/drawing/2014/main" id="{838017F2-1B3E-F203-32EA-C9153D4BE74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5400000">
              <a:off x="1905869" y="2830217"/>
              <a:ext cx="2489761" cy="3556801"/>
            </a:xfrm>
            <a:prstGeom prst="rect">
              <a:avLst/>
            </a:prstGeom>
          </p:spPr>
        </p:pic>
        <p:pic>
          <p:nvPicPr>
            <p:cNvPr id="16" name="図 15">
              <a:extLst>
                <a:ext uri="{FF2B5EF4-FFF2-40B4-BE49-F238E27FC236}">
                  <a16:creationId xmlns:a16="http://schemas.microsoft.com/office/drawing/2014/main" id="{374A0D66-DAC5-8A45-B0B7-2FC7EA734E4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5400000">
              <a:off x="4817558" y="1342255"/>
              <a:ext cx="4305979" cy="6151399"/>
            </a:xfrm>
            <a:prstGeom prst="rect">
              <a:avLst/>
            </a:prstGeom>
          </p:spPr>
        </p:pic>
        <p:pic>
          <p:nvPicPr>
            <p:cNvPr id="24" name="図 23">
              <a:extLst>
                <a:ext uri="{FF2B5EF4-FFF2-40B4-BE49-F238E27FC236}">
                  <a16:creationId xmlns:a16="http://schemas.microsoft.com/office/drawing/2014/main" id="{B2F4631D-76C0-43F5-B3FD-7B6D1114648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5400000">
              <a:off x="6542418" y="2838679"/>
              <a:ext cx="2489760" cy="3556800"/>
            </a:xfrm>
            <a:prstGeom prst="rect">
              <a:avLst/>
            </a:prstGeom>
          </p:spPr>
        </p:pic>
        <p:pic>
          <p:nvPicPr>
            <p:cNvPr id="28" name="図 27">
              <a:extLst>
                <a:ext uri="{FF2B5EF4-FFF2-40B4-BE49-F238E27FC236}">
                  <a16:creationId xmlns:a16="http://schemas.microsoft.com/office/drawing/2014/main" id="{C00C6920-A878-54DF-5BC0-2284CAEAB7C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t="16303"/>
            <a:stretch/>
          </p:blipFill>
          <p:spPr>
            <a:xfrm rot="5400000">
              <a:off x="6251618" y="3127123"/>
              <a:ext cx="2489761" cy="2976950"/>
            </a:xfrm>
            <a:prstGeom prst="rect">
              <a:avLst/>
            </a:prstGeom>
            <a:solidFill>
              <a:schemeClr val="bg1"/>
            </a:solidFill>
          </p:spPr>
        </p:pic>
        <p:sp>
          <p:nvSpPr>
            <p:cNvPr id="30" name="円/楕円 29">
              <a:extLst>
                <a:ext uri="{FF2B5EF4-FFF2-40B4-BE49-F238E27FC236}">
                  <a16:creationId xmlns:a16="http://schemas.microsoft.com/office/drawing/2014/main" id="{09D3DC7E-FB61-C60A-4400-95F66224E034}"/>
                </a:ext>
              </a:extLst>
            </p:cNvPr>
            <p:cNvSpPr/>
            <p:nvPr/>
          </p:nvSpPr>
          <p:spPr>
            <a:xfrm>
              <a:off x="2890439" y="3625640"/>
              <a:ext cx="95516" cy="955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" name="円/楕円 33">
              <a:extLst>
                <a:ext uri="{FF2B5EF4-FFF2-40B4-BE49-F238E27FC236}">
                  <a16:creationId xmlns:a16="http://schemas.microsoft.com/office/drawing/2014/main" id="{7F5613CD-490C-7A2F-38C1-BFA8871CA591}"/>
                </a:ext>
              </a:extLst>
            </p:cNvPr>
            <p:cNvSpPr/>
            <p:nvPr/>
          </p:nvSpPr>
          <p:spPr>
            <a:xfrm>
              <a:off x="3150560" y="3631428"/>
              <a:ext cx="95516" cy="955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" name="円/楕円 34">
              <a:extLst>
                <a:ext uri="{FF2B5EF4-FFF2-40B4-BE49-F238E27FC236}">
                  <a16:creationId xmlns:a16="http://schemas.microsoft.com/office/drawing/2014/main" id="{D184C4DE-885E-F937-34C8-5C465D318E98}"/>
                </a:ext>
              </a:extLst>
            </p:cNvPr>
            <p:cNvSpPr/>
            <p:nvPr/>
          </p:nvSpPr>
          <p:spPr>
            <a:xfrm>
              <a:off x="3318783" y="3625640"/>
              <a:ext cx="95516" cy="955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" name="円/楕円 35">
              <a:extLst>
                <a:ext uri="{FF2B5EF4-FFF2-40B4-BE49-F238E27FC236}">
                  <a16:creationId xmlns:a16="http://schemas.microsoft.com/office/drawing/2014/main" id="{8F5D1772-DD45-A71B-4F3E-50899B379DA5}"/>
                </a:ext>
              </a:extLst>
            </p:cNvPr>
            <p:cNvSpPr/>
            <p:nvPr/>
          </p:nvSpPr>
          <p:spPr>
            <a:xfrm>
              <a:off x="3468833" y="3625640"/>
              <a:ext cx="95516" cy="955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" name="円/楕円 36">
              <a:extLst>
                <a:ext uri="{FF2B5EF4-FFF2-40B4-BE49-F238E27FC236}">
                  <a16:creationId xmlns:a16="http://schemas.microsoft.com/office/drawing/2014/main" id="{C09DE6D7-7F3D-B528-DC42-6A8E74EF0213}"/>
                </a:ext>
              </a:extLst>
            </p:cNvPr>
            <p:cNvSpPr/>
            <p:nvPr/>
          </p:nvSpPr>
          <p:spPr>
            <a:xfrm>
              <a:off x="3596825" y="3625640"/>
              <a:ext cx="95516" cy="955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" name="円/楕円 37">
              <a:extLst>
                <a:ext uri="{FF2B5EF4-FFF2-40B4-BE49-F238E27FC236}">
                  <a16:creationId xmlns:a16="http://schemas.microsoft.com/office/drawing/2014/main" id="{D6C58F25-F5F2-B9C8-5EBD-DB82378774E8}"/>
                </a:ext>
              </a:extLst>
            </p:cNvPr>
            <p:cNvSpPr/>
            <p:nvPr/>
          </p:nvSpPr>
          <p:spPr>
            <a:xfrm>
              <a:off x="3699608" y="3628404"/>
              <a:ext cx="95516" cy="95516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" name="円/楕円 45">
              <a:extLst>
                <a:ext uri="{FF2B5EF4-FFF2-40B4-BE49-F238E27FC236}">
                  <a16:creationId xmlns:a16="http://schemas.microsoft.com/office/drawing/2014/main" id="{BA2BE2FE-2571-21DC-1010-E3E13F08B3C9}"/>
                </a:ext>
              </a:extLst>
            </p:cNvPr>
            <p:cNvSpPr/>
            <p:nvPr/>
          </p:nvSpPr>
          <p:spPr>
            <a:xfrm>
              <a:off x="6991457" y="4413248"/>
              <a:ext cx="95516" cy="955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8" name="円/楕円 47">
              <a:extLst>
                <a:ext uri="{FF2B5EF4-FFF2-40B4-BE49-F238E27FC236}">
                  <a16:creationId xmlns:a16="http://schemas.microsoft.com/office/drawing/2014/main" id="{1103C8CC-A977-ABF1-7FF8-F04363DAA526}"/>
                </a:ext>
              </a:extLst>
            </p:cNvPr>
            <p:cNvSpPr/>
            <p:nvPr/>
          </p:nvSpPr>
          <p:spPr>
            <a:xfrm>
              <a:off x="7072611" y="4409407"/>
              <a:ext cx="95516" cy="9721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9" name="円/楕円 48">
              <a:extLst>
                <a:ext uri="{FF2B5EF4-FFF2-40B4-BE49-F238E27FC236}">
                  <a16:creationId xmlns:a16="http://schemas.microsoft.com/office/drawing/2014/main" id="{04DE7C5B-6F6D-5597-EB2D-4863E6E99F4B}"/>
                </a:ext>
              </a:extLst>
            </p:cNvPr>
            <p:cNvSpPr/>
            <p:nvPr/>
          </p:nvSpPr>
          <p:spPr>
            <a:xfrm>
              <a:off x="7200756" y="4413248"/>
              <a:ext cx="95516" cy="955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0" name="円/楕円 49">
              <a:extLst>
                <a:ext uri="{FF2B5EF4-FFF2-40B4-BE49-F238E27FC236}">
                  <a16:creationId xmlns:a16="http://schemas.microsoft.com/office/drawing/2014/main" id="{71632C12-FBA8-7CAF-F0FC-F8A1C1169621}"/>
                </a:ext>
              </a:extLst>
            </p:cNvPr>
            <p:cNvSpPr/>
            <p:nvPr/>
          </p:nvSpPr>
          <p:spPr>
            <a:xfrm>
              <a:off x="7318641" y="4411109"/>
              <a:ext cx="95516" cy="955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1" name="円/楕円 50">
              <a:extLst>
                <a:ext uri="{FF2B5EF4-FFF2-40B4-BE49-F238E27FC236}">
                  <a16:creationId xmlns:a16="http://schemas.microsoft.com/office/drawing/2014/main" id="{77D477EC-1A11-90E8-8481-46D375414C8C}"/>
                </a:ext>
              </a:extLst>
            </p:cNvPr>
            <p:cNvSpPr/>
            <p:nvPr/>
          </p:nvSpPr>
          <p:spPr>
            <a:xfrm>
              <a:off x="7394473" y="4408837"/>
              <a:ext cx="95516" cy="955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2" name="円/楕円 51">
              <a:extLst>
                <a:ext uri="{FF2B5EF4-FFF2-40B4-BE49-F238E27FC236}">
                  <a16:creationId xmlns:a16="http://schemas.microsoft.com/office/drawing/2014/main" id="{DBF6FB46-A66D-C5D6-B1A0-982242911F07}"/>
                </a:ext>
              </a:extLst>
            </p:cNvPr>
            <p:cNvSpPr/>
            <p:nvPr/>
          </p:nvSpPr>
          <p:spPr>
            <a:xfrm>
              <a:off x="7509840" y="4441208"/>
              <a:ext cx="95516" cy="95516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F8AB7EE6-7056-4309-DBB5-41AD96BEED15}"/>
              </a:ext>
            </a:extLst>
          </p:cNvPr>
          <p:cNvGrpSpPr/>
          <p:nvPr/>
        </p:nvGrpSpPr>
        <p:grpSpPr>
          <a:xfrm>
            <a:off x="5636087" y="114597"/>
            <a:ext cx="3452119" cy="1243173"/>
            <a:chOff x="5636086" y="29039"/>
            <a:chExt cx="3452119" cy="1243173"/>
          </a:xfrm>
        </p:grpSpPr>
        <p:sp>
          <p:nvSpPr>
            <p:cNvPr id="8" name="角丸四角形 7">
              <a:extLst>
                <a:ext uri="{FF2B5EF4-FFF2-40B4-BE49-F238E27FC236}">
                  <a16:creationId xmlns:a16="http://schemas.microsoft.com/office/drawing/2014/main" id="{1F30D3AC-7721-D7BE-3155-EF6EF2970EC0}"/>
                </a:ext>
              </a:extLst>
            </p:cNvPr>
            <p:cNvSpPr/>
            <p:nvPr/>
          </p:nvSpPr>
          <p:spPr>
            <a:xfrm>
              <a:off x="5636086" y="29039"/>
              <a:ext cx="3452119" cy="1243173"/>
            </a:xfrm>
            <a:prstGeom prst="roundRect">
              <a:avLst>
                <a:gd name="adj" fmla="val 8762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0" name="グループ化 9">
              <a:extLst>
                <a:ext uri="{FF2B5EF4-FFF2-40B4-BE49-F238E27FC236}">
                  <a16:creationId xmlns:a16="http://schemas.microsoft.com/office/drawing/2014/main" id="{DEE443F1-1607-A71D-663A-B8394008E765}"/>
                </a:ext>
              </a:extLst>
            </p:cNvPr>
            <p:cNvGrpSpPr/>
            <p:nvPr/>
          </p:nvGrpSpPr>
          <p:grpSpPr>
            <a:xfrm>
              <a:off x="5802347" y="130527"/>
              <a:ext cx="3024077" cy="369332"/>
              <a:chOff x="811380" y="6225360"/>
              <a:chExt cx="3024077" cy="369332"/>
            </a:xfrm>
          </p:grpSpPr>
          <p:sp>
            <p:nvSpPr>
              <p:cNvPr id="19" name="円/楕円 18">
                <a:extLst>
                  <a:ext uri="{FF2B5EF4-FFF2-40B4-BE49-F238E27FC236}">
                    <a16:creationId xmlns:a16="http://schemas.microsoft.com/office/drawing/2014/main" id="{695F04A5-BBE5-1B1A-32D8-6F370C47EE56}"/>
                  </a:ext>
                </a:extLst>
              </p:cNvPr>
              <p:cNvSpPr/>
              <p:nvPr/>
            </p:nvSpPr>
            <p:spPr>
              <a:xfrm>
                <a:off x="811380" y="6225360"/>
                <a:ext cx="328455" cy="328455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F2ACCFF0-20CE-6504-EB83-CAED0EF1A65B}"/>
                  </a:ext>
                </a:extLst>
              </p:cNvPr>
              <p:cNvSpPr txBox="1"/>
              <p:nvPr/>
            </p:nvSpPr>
            <p:spPr>
              <a:xfrm>
                <a:off x="1073162" y="6225360"/>
                <a:ext cx="27622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/>
                  <a:t>：</a:t>
                </a:r>
                <a:r>
                  <a:rPr lang="en-US" altLang="ja-JP" dirty="0"/>
                  <a:t>F</a:t>
                </a:r>
                <a:r>
                  <a:rPr kumimoji="1" lang="en-US" altLang="ja-JP" dirty="0"/>
                  <a:t>ar</a:t>
                </a:r>
                <a:r>
                  <a:rPr lang="en-US" altLang="ja-JP" dirty="0"/>
                  <a:t> dislocation emitted</a:t>
                </a:r>
                <a:endParaRPr kumimoji="1" lang="ja-JP" altLang="en-US"/>
              </a:p>
            </p:txBody>
          </p:sp>
        </p:grpSp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1808B57E-4B54-2F7C-FCBE-E829F60C1F26}"/>
                </a:ext>
              </a:extLst>
            </p:cNvPr>
            <p:cNvGrpSpPr/>
            <p:nvPr/>
          </p:nvGrpSpPr>
          <p:grpSpPr>
            <a:xfrm>
              <a:off x="5797780" y="520598"/>
              <a:ext cx="3190789" cy="369332"/>
              <a:chOff x="811380" y="6225360"/>
              <a:chExt cx="3190789" cy="369332"/>
            </a:xfrm>
          </p:grpSpPr>
          <p:sp>
            <p:nvSpPr>
              <p:cNvPr id="17" name="円/楕円 16">
                <a:extLst>
                  <a:ext uri="{FF2B5EF4-FFF2-40B4-BE49-F238E27FC236}">
                    <a16:creationId xmlns:a16="http://schemas.microsoft.com/office/drawing/2014/main" id="{923667EE-0A1E-C67F-CBCC-6E808B25F3AD}"/>
                  </a:ext>
                </a:extLst>
              </p:cNvPr>
              <p:cNvSpPr/>
              <p:nvPr/>
            </p:nvSpPr>
            <p:spPr>
              <a:xfrm>
                <a:off x="811380" y="6225360"/>
                <a:ext cx="328455" cy="328455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C3494F01-6804-99E0-B917-BA94509867BB}"/>
                  </a:ext>
                </a:extLst>
              </p:cNvPr>
              <p:cNvSpPr txBox="1"/>
              <p:nvPr/>
            </p:nvSpPr>
            <p:spPr>
              <a:xfrm>
                <a:off x="1073162" y="6225360"/>
                <a:ext cx="292900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/>
                  <a:t>：</a:t>
                </a:r>
                <a:r>
                  <a:rPr lang="en-US" altLang="ja-JP" dirty="0"/>
                  <a:t>Ne</a:t>
                </a:r>
                <a:r>
                  <a:rPr kumimoji="1" lang="en-US" altLang="ja-JP" dirty="0"/>
                  <a:t>ar</a:t>
                </a:r>
                <a:r>
                  <a:rPr lang="en-US" altLang="ja-JP" dirty="0"/>
                  <a:t> dislocation emitted</a:t>
                </a:r>
                <a:endParaRPr kumimoji="1" lang="ja-JP" altLang="en-US"/>
              </a:p>
            </p:txBody>
          </p:sp>
        </p:grpSp>
        <p:grpSp>
          <p:nvGrpSpPr>
            <p:cNvPr id="12" name="グループ化 11">
              <a:extLst>
                <a:ext uri="{FF2B5EF4-FFF2-40B4-BE49-F238E27FC236}">
                  <a16:creationId xmlns:a16="http://schemas.microsoft.com/office/drawing/2014/main" id="{411A9402-A681-91E2-08EB-33A4A51BEE14}"/>
                </a:ext>
              </a:extLst>
            </p:cNvPr>
            <p:cNvGrpSpPr/>
            <p:nvPr/>
          </p:nvGrpSpPr>
          <p:grpSpPr>
            <a:xfrm>
              <a:off x="5842527" y="875980"/>
              <a:ext cx="1602749" cy="391582"/>
              <a:chOff x="6793992" y="1334524"/>
              <a:chExt cx="1602749" cy="39158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テキスト ボックス 13">
                    <a:extLst>
                      <a:ext uri="{FF2B5EF4-FFF2-40B4-BE49-F238E27FC236}">
                        <a16:creationId xmlns:a16="http://schemas.microsoft.com/office/drawing/2014/main" id="{5FE581F4-38DA-B08D-79B9-54D9FAC1072B}"/>
                      </a:ext>
                    </a:extLst>
                  </p:cNvPr>
                  <p:cNvSpPr txBox="1"/>
                  <p:nvPr/>
                </p:nvSpPr>
                <p:spPr>
                  <a:xfrm>
                    <a:off x="7233987" y="1334524"/>
                    <a:ext cx="1162754" cy="39158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ja-JP" altLang="en-US"/>
                      <a:t>：</a:t>
                    </a:r>
                    <a14:m>
                      <m:oMath xmlns:m="http://schemas.openxmlformats.org/officeDocument/2006/math"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oMath>
                    </a14:m>
                    <a:endParaRPr kumimoji="1" lang="ja-JP" altLang="en-US"/>
                  </a:p>
                </p:txBody>
              </p:sp>
            </mc:Choice>
            <mc:Fallback xmlns="">
              <p:sp>
                <p:nvSpPr>
                  <p:cNvPr id="23" name="テキスト ボックス 22">
                    <a:extLst>
                      <a:ext uri="{FF2B5EF4-FFF2-40B4-BE49-F238E27FC236}">
                        <a16:creationId xmlns:a16="http://schemas.microsoft.com/office/drawing/2014/main" id="{C01F20C7-9A73-6DD7-C02C-AC7D0CFE621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33987" y="1334524"/>
                    <a:ext cx="1162754" cy="39158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4348" b="-25806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5" name="直線コネクタ 14">
                <a:extLst>
                  <a:ext uri="{FF2B5EF4-FFF2-40B4-BE49-F238E27FC236}">
                    <a16:creationId xmlns:a16="http://schemas.microsoft.com/office/drawing/2014/main" id="{81E1616C-1F0B-CA6A-83AE-F0E98818A7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93992" y="1546057"/>
                <a:ext cx="544691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" name="テキスト プレースホルダー 2">
            <a:extLst>
              <a:ext uri="{FF2B5EF4-FFF2-40B4-BE49-F238E27FC236}">
                <a16:creationId xmlns:a16="http://schemas.microsoft.com/office/drawing/2014/main" id="{CD61ADCC-CC76-AD38-1BD8-0FB0024107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-1" y="847360"/>
            <a:ext cx="9383737" cy="3066370"/>
          </a:xfrm>
        </p:spPr>
        <p:txBody>
          <a:bodyPr/>
          <a:lstStyle/>
          <a:p>
            <a:r>
              <a:rPr kumimoji="1" lang="en-US" altLang="ja-JP" dirty="0"/>
              <a:t>Shear stress in microcrack</a:t>
            </a:r>
          </a:p>
          <a:p>
            <a:pPr marL="534988" lvl="1" indent="-354013"/>
            <a:r>
              <a:rPr kumimoji="1" lang="en-US" altLang="ja-JP" sz="2400" dirty="0"/>
              <a:t>Dislocation source on th</a:t>
            </a:r>
            <a:r>
              <a:rPr lang="en-US" altLang="ja-JP" sz="2400" dirty="0"/>
              <a:t>e far side from the macrocrack </a:t>
            </a:r>
            <a:endParaRPr kumimoji="1" lang="ja-JP" altLang="en-US" sz="2400"/>
          </a:p>
        </p:txBody>
      </p:sp>
    </p:spTree>
    <p:extLst>
      <p:ext uri="{BB962C8B-B14F-4D97-AF65-F5344CB8AC3E}">
        <p14:creationId xmlns:p14="http://schemas.microsoft.com/office/powerpoint/2010/main" val="36226785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タイトル 1">
                <a:extLst>
                  <a:ext uri="{FF2B5EF4-FFF2-40B4-BE49-F238E27FC236}">
                    <a16:creationId xmlns:a16="http://schemas.microsoft.com/office/drawing/2014/main" id="{A966D7EF-02F2-E392-CCB2-806819E5F47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kumimoji="1" lang="en-US" altLang="ja-JP" dirty="0"/>
                  <a:t>Temperature 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2" name="タイトル 1">
                <a:extLst>
                  <a:ext uri="{FF2B5EF4-FFF2-40B4-BE49-F238E27FC236}">
                    <a16:creationId xmlns:a16="http://schemas.microsoft.com/office/drawing/2014/main" id="{A966D7EF-02F2-E392-CCB2-806819E5F4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770" b="-3853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558CA9C-4440-770D-F4F6-AE700F202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F6909-ABCB-BB45-AC56-A8377246EBB2}" type="slidenum">
              <a:rPr lang="ja-JP" altLang="en-US" smtClean="0"/>
              <a:pPr/>
              <a:t>42</a:t>
            </a:fld>
            <a:endParaRPr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1A0DCA4-086F-2EB4-B20E-5F5F83A3C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Tokyo University of Science - Computational Materials Science Laboratory -</a:t>
            </a:r>
            <a:endParaRPr lang="ja-JP" altLang="en-US" dirty="0"/>
          </a:p>
        </p:txBody>
      </p:sp>
      <p:pic>
        <p:nvPicPr>
          <p:cNvPr id="25" name="図 24" descr="ダイアグラム&#10;&#10;自動的に生成された説明">
            <a:extLst>
              <a:ext uri="{FF2B5EF4-FFF2-40B4-BE49-F238E27FC236}">
                <a16:creationId xmlns:a16="http://schemas.microsoft.com/office/drawing/2014/main" id="{CCF245CA-F52F-1FE4-76B6-8D0CE970DA3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52681" y="810909"/>
            <a:ext cx="6227016" cy="4637790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CC2619A0-DA41-9761-F891-35A8122127C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968166" y="5301131"/>
            <a:ext cx="3869657" cy="428263"/>
          </a:xfrm>
          <a:prstGeom prst="rect">
            <a:avLst/>
          </a:prstGeom>
        </p:spPr>
      </p:pic>
      <p:pic>
        <p:nvPicPr>
          <p:cNvPr id="27" name="図 26" descr="背景パターン&#10;&#10;中程度の精度で自動的に生成された説明">
            <a:extLst>
              <a:ext uri="{FF2B5EF4-FFF2-40B4-BE49-F238E27FC236}">
                <a16:creationId xmlns:a16="http://schemas.microsoft.com/office/drawing/2014/main" id="{47FF8309-52C4-4059-45F1-E20F32609537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91695" y="1319303"/>
            <a:ext cx="609790" cy="3163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1592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タイトル 1">
                <a:extLst>
                  <a:ext uri="{FF2B5EF4-FFF2-40B4-BE49-F238E27FC236}">
                    <a16:creationId xmlns:a16="http://schemas.microsoft.com/office/drawing/2014/main" id="{16F1DFEC-93FC-E6BD-FF87-19F7A40A16F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kumimoji="1" lang="en-US" altLang="ja-JP" dirty="0"/>
                  <a:t>Crack position  </a:t>
                </a:r>
                <a14:m>
                  <m:oMath xmlns:m="http://schemas.openxmlformats.org/officeDocument/2006/math">
                    <m:r>
                      <a:rPr lang="en-US" altLang="ja-JP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kumimoji="1" lang="en-US" altLang="ja-JP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𝑛𝑒𝑎𝑟</m:t>
                        </m:r>
                      </m:sub>
                    </m:sSub>
                    <m:r>
                      <a:rPr kumimoji="1" lang="en-US" altLang="ja-JP" b="0" i="0" smtClean="0">
                        <a:latin typeface="Cambria Math" panose="02040503050406030204" pitchFamily="18" charset="0"/>
                      </a:rPr>
                      <m:t>=1.0 </m:t>
                    </m:r>
                    <m:r>
                      <m:rPr>
                        <m:sty m:val="p"/>
                      </m:rPr>
                      <a:rPr kumimoji="1" lang="el-GR" altLang="ja-JP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kumimoji="1" lang="en-US" altLang="ja-JP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</m:t>
                    </m:r>
                    <m:r>
                      <a:rPr kumimoji="1" lang="en-US" altLang="ja-JP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</m:oMath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2" name="タイトル 1">
                <a:extLst>
                  <a:ext uri="{FF2B5EF4-FFF2-40B4-BE49-F238E27FC236}">
                    <a16:creationId xmlns:a16="http://schemas.microsoft.com/office/drawing/2014/main" id="{16F1DFEC-93FC-E6BD-FF87-19F7A40A16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5"/>
                <a:stretch>
                  <a:fillRect l="-1700" b="-3584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A17597C-125D-063D-1373-F30443BB1A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780" y="782710"/>
            <a:ext cx="7463705" cy="3066370"/>
          </a:xfrm>
        </p:spPr>
        <p:txBody>
          <a:bodyPr/>
          <a:lstStyle/>
          <a:p>
            <a:r>
              <a:rPr lang="en-US" altLang="ja-JP" dirty="0"/>
              <a:t>Effects from dislocations emitted from macrocrack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21C8EE7-6170-36DE-065D-45E457EF3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F6909-ABCB-BB45-AC56-A8377246EBB2}" type="slidenum">
              <a:rPr lang="ja-JP" altLang="en-US" smtClean="0"/>
              <a:pPr/>
              <a:t>43</a:t>
            </a:fld>
            <a:endParaRPr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B275676-35A4-FD82-B75B-21EFD12D5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Tokyo University of Science - Computational Materials Science Laboratory -</a:t>
            </a:r>
            <a:endParaRPr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プレースホルダー 2">
                <a:extLst>
                  <a:ext uri="{FF2B5EF4-FFF2-40B4-BE49-F238E27FC236}">
                    <a16:creationId xmlns:a16="http://schemas.microsoft.com/office/drawing/2014/main" id="{34CCD73F-1F02-4481-59E2-6153AB3AB54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651873" y="1786332"/>
                <a:ext cx="7463705" cy="3066370"/>
              </a:xfrm>
              <a:prstGeom prst="rect">
                <a:avLst/>
              </a:prstGeom>
            </p:spPr>
            <p:txBody>
              <a:bodyPr vert="horz"/>
              <a:lstStyle>
                <a:lvl1pPr marL="342000" indent="-342900" algn="l" defTabSz="914400" rtl="0" eaLnBrk="1" latinLnBrk="0" hangingPunct="1">
                  <a:lnSpc>
                    <a:spcPct val="100000"/>
                  </a:lnSpc>
                  <a:spcBef>
                    <a:spcPts val="1800"/>
                  </a:spcBef>
                  <a:spcAft>
                    <a:spcPts val="400"/>
                  </a:spcAft>
                  <a:buClr>
                    <a:schemeClr val="accent6">
                      <a:lumMod val="75000"/>
                    </a:schemeClr>
                  </a:buClr>
                  <a:buSzPct val="140000"/>
                  <a:buFont typeface="ヒラギノ角ゴ ProN W3"/>
                  <a:buChar char="|"/>
                  <a:defRPr kumimoji="1"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1600" indent="-392400" algn="l" defTabSz="914400" rtl="0" eaLnBrk="1" latinLnBrk="0" hangingPunct="1">
                  <a:lnSpc>
                    <a:spcPct val="100000"/>
                  </a:lnSpc>
                  <a:spcBef>
                    <a:spcPts val="225"/>
                  </a:spcBef>
                  <a:buClr>
                    <a:schemeClr val="accent6">
                      <a:lumMod val="75000"/>
                    </a:schemeClr>
                  </a:buClr>
                  <a:buSzPct val="75000"/>
                  <a:buFont typeface="Wingdings" charset="2"/>
                  <a:buChar char="n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410400" algn="l" defTabSz="914400" rtl="0" eaLnBrk="1" latinLnBrk="0" hangingPunct="1">
                  <a:lnSpc>
                    <a:spcPct val="100000"/>
                  </a:lnSpc>
                  <a:spcBef>
                    <a:spcPts val="25"/>
                  </a:spcBef>
                  <a:buClr>
                    <a:schemeClr val="accent6">
                      <a:lumMod val="75000"/>
                    </a:schemeClr>
                  </a:buClr>
                  <a:buSzPct val="120000"/>
                  <a:buFont typeface="HiraKakuProN-W3" charset="-128"/>
                  <a:buChar char="−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00000"/>
                  </a:lnSpc>
                  <a:spcBef>
                    <a:spcPts val="25"/>
                  </a:spcBef>
                  <a:buClr>
                    <a:schemeClr val="accent6">
                      <a:lumMod val="75000"/>
                    </a:schemeClr>
                  </a:buClr>
                  <a:buFont typeface="Arial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00000"/>
                  </a:lnSpc>
                  <a:spcBef>
                    <a:spcPts val="25"/>
                  </a:spcBef>
                  <a:buClr>
                    <a:schemeClr val="accent6">
                      <a:lumMod val="75000"/>
                    </a:schemeClr>
                  </a:buClr>
                  <a:buFont typeface="Arial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2"/>
                <a:r>
                  <a:rPr lang="en-US" altLang="ja-JP" sz="2200" dirty="0">
                    <a:latin typeface="+mj-ea"/>
                    <a:ea typeface="+mj-ea"/>
                  </a:rPr>
                  <a:t>Dislocations working in the </a:t>
                </a:r>
                <a:br>
                  <a:rPr lang="en-US" altLang="ja-JP" sz="2200" dirty="0">
                    <a:latin typeface="+mj-ea"/>
                    <a:ea typeface="+mj-ea"/>
                  </a:rPr>
                </a:br>
                <a:r>
                  <a:rPr lang="en-US" altLang="ja-JP" sz="2200" dirty="0">
                    <a:solidFill>
                      <a:srgbClr val="C00000"/>
                    </a:solidFill>
                    <a:latin typeface="+mj-ea"/>
                    <a:ea typeface="+mj-ea"/>
                  </a:rPr>
                  <a:t>shielding direction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2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ja-JP" sz="22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𝜎</m:t>
                        </m:r>
                      </m:e>
                      <m:sub>
                        <m:r>
                          <a:rPr lang="en-US" altLang="ja-JP" sz="2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𝑦𝑦</m:t>
                        </m:r>
                      </m:sub>
                    </m:sSub>
                    <m:r>
                      <a:rPr lang="en-US" altLang="ja-JP" sz="2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+mj-ea"/>
                      </a:rPr>
                      <m:t>&lt;0)</m:t>
                    </m:r>
                  </m:oMath>
                </a14:m>
                <a:br>
                  <a:rPr lang="en-US" altLang="ja-JP" sz="2200" dirty="0">
                    <a:solidFill>
                      <a:srgbClr val="C00000"/>
                    </a:solidFill>
                    <a:latin typeface="+mj-ea"/>
                    <a:ea typeface="+mj-ea"/>
                  </a:rPr>
                </a:br>
                <a:endParaRPr lang="ja-JP" altLang="en-US" sz="2200"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6" name="テキスト プレースホルダー 2">
                <a:extLst>
                  <a:ext uri="{FF2B5EF4-FFF2-40B4-BE49-F238E27FC236}">
                    <a16:creationId xmlns:a16="http://schemas.microsoft.com/office/drawing/2014/main" id="{34CCD73F-1F02-4481-59E2-6153AB3AB5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51873" y="1786332"/>
                <a:ext cx="7463705" cy="3066370"/>
              </a:xfrm>
              <a:prstGeom prst="rect">
                <a:avLst/>
              </a:prstGeom>
              <a:blipFill>
                <a:blip r:embed="rId6"/>
                <a:stretch>
                  <a:fillRect t="-493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テキスト プレースホルダー 2">
                <a:extLst>
                  <a:ext uri="{FF2B5EF4-FFF2-40B4-BE49-F238E27FC236}">
                    <a16:creationId xmlns:a16="http://schemas.microsoft.com/office/drawing/2014/main" id="{8E3E1E57-6575-A6E4-B9BB-43B03700743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52006" y="1794888"/>
                <a:ext cx="6169861" cy="3066370"/>
              </a:xfrm>
              <a:prstGeom prst="rect">
                <a:avLst/>
              </a:prstGeom>
            </p:spPr>
            <p:txBody>
              <a:bodyPr vert="horz"/>
              <a:lstStyle>
                <a:lvl1pPr marL="342000" indent="-342900" algn="l" defTabSz="914400" rtl="0" eaLnBrk="1" latinLnBrk="0" hangingPunct="1">
                  <a:lnSpc>
                    <a:spcPct val="100000"/>
                  </a:lnSpc>
                  <a:spcBef>
                    <a:spcPts val="1800"/>
                  </a:spcBef>
                  <a:spcAft>
                    <a:spcPts val="400"/>
                  </a:spcAft>
                  <a:buClr>
                    <a:schemeClr val="accent6">
                      <a:lumMod val="75000"/>
                    </a:schemeClr>
                  </a:buClr>
                  <a:buSzPct val="140000"/>
                  <a:buFont typeface="ヒラギノ角ゴ ProN W3"/>
                  <a:buChar char="|"/>
                  <a:defRPr kumimoji="1"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1600" indent="-392400" algn="l" defTabSz="914400" rtl="0" eaLnBrk="1" latinLnBrk="0" hangingPunct="1">
                  <a:lnSpc>
                    <a:spcPct val="100000"/>
                  </a:lnSpc>
                  <a:spcBef>
                    <a:spcPts val="225"/>
                  </a:spcBef>
                  <a:buClr>
                    <a:schemeClr val="accent6">
                      <a:lumMod val="75000"/>
                    </a:schemeClr>
                  </a:buClr>
                  <a:buSzPct val="75000"/>
                  <a:buFont typeface="Wingdings" charset="2"/>
                  <a:buChar char="n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410400" algn="l" defTabSz="914400" rtl="0" eaLnBrk="1" latinLnBrk="0" hangingPunct="1">
                  <a:lnSpc>
                    <a:spcPct val="100000"/>
                  </a:lnSpc>
                  <a:spcBef>
                    <a:spcPts val="25"/>
                  </a:spcBef>
                  <a:buClr>
                    <a:schemeClr val="accent6">
                      <a:lumMod val="75000"/>
                    </a:schemeClr>
                  </a:buClr>
                  <a:buSzPct val="120000"/>
                  <a:buFont typeface="HiraKakuProN-W3" charset="-128"/>
                  <a:buChar char="−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00000"/>
                  </a:lnSpc>
                  <a:spcBef>
                    <a:spcPts val="25"/>
                  </a:spcBef>
                  <a:buClr>
                    <a:schemeClr val="accent6">
                      <a:lumMod val="75000"/>
                    </a:schemeClr>
                  </a:buClr>
                  <a:buFont typeface="Arial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00000"/>
                  </a:lnSpc>
                  <a:spcBef>
                    <a:spcPts val="25"/>
                  </a:spcBef>
                  <a:buClr>
                    <a:schemeClr val="accent6">
                      <a:lumMod val="75000"/>
                    </a:schemeClr>
                  </a:buClr>
                  <a:buFont typeface="Arial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20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ja-JP" sz="2200" b="0" i="1" smtClean="0">
                            <a:latin typeface="Cambria Math" panose="02040503050406030204" pitchFamily="18" charset="0"/>
                          </a:rPr>
                          <m:t>𝑦𝑦</m:t>
                        </m:r>
                      </m:sub>
                    </m:sSub>
                  </m:oMath>
                </a14:m>
                <a:r>
                  <a:rPr lang="en-US" altLang="ja-JP" sz="2200" dirty="0">
                    <a:latin typeface="+mn-ea"/>
                  </a:rPr>
                  <a:t>(Black</a:t>
                </a:r>
                <a:r>
                  <a:rPr lang="ja-JP" altLang="en-US" sz="2200">
                    <a:latin typeface="+mn-ea"/>
                  </a:rPr>
                  <a:t>：</a:t>
                </a:r>
                <a:r>
                  <a:rPr lang="en-US" altLang="ja-JP" sz="2200" dirty="0">
                    <a:latin typeface="+mn-ea"/>
                  </a:rPr>
                  <a:t>positive</a:t>
                </a:r>
                <a:br>
                  <a:rPr lang="en-US" altLang="ja-JP" sz="2200" dirty="0">
                    <a:latin typeface="+mn-ea"/>
                  </a:rPr>
                </a:br>
                <a:r>
                  <a:rPr lang="ja-JP" altLang="en-US" sz="2200">
                    <a:latin typeface="+mn-ea"/>
                  </a:rPr>
                  <a:t>　</a:t>
                </a:r>
                <a:r>
                  <a:rPr lang="en-US" altLang="ja-JP" sz="2200" dirty="0">
                    <a:latin typeface="+mn-ea"/>
                  </a:rPr>
                  <a:t>   Red</a:t>
                </a:r>
                <a:r>
                  <a:rPr lang="ja-JP" altLang="en-US" sz="2200">
                    <a:latin typeface="+mn-ea"/>
                  </a:rPr>
                  <a:t>：</a:t>
                </a:r>
                <a:r>
                  <a:rPr lang="en-US" altLang="ja-JP" sz="2200" dirty="0">
                    <a:latin typeface="+mn-ea"/>
                  </a:rPr>
                  <a:t>negative)</a:t>
                </a:r>
                <a:endParaRPr lang="ja-JP" altLang="en-US" sz="2200">
                  <a:latin typeface="+mn-ea"/>
                </a:endParaRPr>
              </a:p>
            </p:txBody>
          </p:sp>
        </mc:Choice>
        <mc:Fallback xmlns="">
          <p:sp>
            <p:nvSpPr>
              <p:cNvPr id="15" name="テキスト プレースホルダー 2">
                <a:extLst>
                  <a:ext uri="{FF2B5EF4-FFF2-40B4-BE49-F238E27FC236}">
                    <a16:creationId xmlns:a16="http://schemas.microsoft.com/office/drawing/2014/main" id="{8E3E1E57-6575-A6E4-B9BB-43B0370074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2006" y="1794888"/>
                <a:ext cx="6169861" cy="3066370"/>
              </a:xfrm>
              <a:prstGeom prst="rect">
                <a:avLst/>
              </a:prstGeom>
              <a:blipFill>
                <a:blip r:embed="rId7"/>
                <a:stretch>
                  <a:fillRect t="-413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2DD">
            <a:hlinkClick r:id="" action="ppaction://media"/>
            <a:extLst>
              <a:ext uri="{FF2B5EF4-FFF2-40B4-BE49-F238E27FC236}">
                <a16:creationId xmlns:a16="http://schemas.microsoft.com/office/drawing/2014/main" id="{7C057BC7-47ED-C262-19A3-CA969FC3A9D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475601" y="2638025"/>
            <a:ext cx="3622705" cy="362270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C5305FA6-D00B-F356-9309-AD6BCA572508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52006" y="2438419"/>
            <a:ext cx="5151202" cy="4281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686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45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タイトル 1">
                <a:extLst>
                  <a:ext uri="{FF2B5EF4-FFF2-40B4-BE49-F238E27FC236}">
                    <a16:creationId xmlns:a16="http://schemas.microsoft.com/office/drawing/2014/main" id="{16F1DFEC-93FC-E6BD-FF87-19F7A40A16F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kumimoji="1" lang="en-US" altLang="ja-JP" dirty="0"/>
                  <a:t>Crack position  </a:t>
                </a:r>
                <a14:m>
                  <m:oMath xmlns:m="http://schemas.openxmlformats.org/officeDocument/2006/math">
                    <m:r>
                      <a:rPr kumimoji="1" lang="en-US" altLang="ja-JP" b="0" i="0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kumimoji="1" lang="en-US" altLang="ja-JP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𝑛𝑒𝑎𝑟</m:t>
                        </m:r>
                      </m:sub>
                    </m:sSub>
                    <m:r>
                      <a:rPr kumimoji="1" lang="en-US" altLang="ja-JP" b="0" i="0" smtClean="0">
                        <a:latin typeface="Cambria Math" panose="02040503050406030204" pitchFamily="18" charset="0"/>
                      </a:rPr>
                      <m:t>=3.0 </m:t>
                    </m:r>
                    <m:r>
                      <m:rPr>
                        <m:sty m:val="p"/>
                      </m:rPr>
                      <a:rPr kumimoji="1" lang="el-GR" altLang="ja-JP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kumimoji="1" lang="en-US" altLang="ja-JP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</m:t>
                    </m:r>
                    <m:r>
                      <a:rPr kumimoji="1" lang="en-US" altLang="ja-JP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</m:oMath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2" name="タイトル 1">
                <a:extLst>
                  <a:ext uri="{FF2B5EF4-FFF2-40B4-BE49-F238E27FC236}">
                    <a16:creationId xmlns:a16="http://schemas.microsoft.com/office/drawing/2014/main" id="{16F1DFEC-93FC-E6BD-FF87-19F7A40A16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4"/>
                <a:stretch>
                  <a:fillRect l="-1700" b="-3584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21C8EE7-6170-36DE-065D-45E457EF3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F6909-ABCB-BB45-AC56-A8377246EBB2}" type="slidenum">
              <a:rPr lang="ja-JP" altLang="en-US" smtClean="0"/>
              <a:pPr/>
              <a:t>44</a:t>
            </a:fld>
            <a:endParaRPr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B275676-35A4-FD82-B75B-21EFD12D5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Tokyo University of Science - Computational Materials Science Laboratory -</a:t>
            </a:r>
            <a:endParaRPr lang="ja-JP" altLang="en-US" dirty="0"/>
          </a:p>
        </p:txBody>
      </p:sp>
      <p:pic>
        <p:nvPicPr>
          <p:cNvPr id="12" name="図 11" descr="グラフ, ダイアグラム&#10;&#10;自動的に生成された説明">
            <a:extLst>
              <a:ext uri="{FF2B5EF4-FFF2-40B4-BE49-F238E27FC236}">
                <a16:creationId xmlns:a16="http://schemas.microsoft.com/office/drawing/2014/main" id="{CA87F188-AD36-45AB-82F8-B85801F324E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128744" y="2496766"/>
            <a:ext cx="5058961" cy="4264258"/>
          </a:xfrm>
          <a:prstGeom prst="rect">
            <a:avLst/>
          </a:prstGeom>
        </p:spPr>
      </p:pic>
      <p:pic>
        <p:nvPicPr>
          <p:cNvPr id="14" name="2DD">
            <a:hlinkClick r:id="" action="ppaction://media"/>
            <a:extLst>
              <a:ext uri="{FF2B5EF4-FFF2-40B4-BE49-F238E27FC236}">
                <a16:creationId xmlns:a16="http://schemas.microsoft.com/office/drawing/2014/main" id="{88CD4F2A-EEEC-30C0-F519-847550A0A1E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33531" y="2717847"/>
            <a:ext cx="3664371" cy="366437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テキスト プレースホルダー 2">
            <a:extLst>
              <a:ext uri="{FF2B5EF4-FFF2-40B4-BE49-F238E27FC236}">
                <a16:creationId xmlns:a16="http://schemas.microsoft.com/office/drawing/2014/main" id="{B92B2238-1255-4604-8EBD-CE0FD41B2F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780" y="782710"/>
            <a:ext cx="7463705" cy="3066370"/>
          </a:xfrm>
        </p:spPr>
        <p:txBody>
          <a:bodyPr/>
          <a:lstStyle/>
          <a:p>
            <a:r>
              <a:rPr lang="en-US" altLang="ja-JP" dirty="0"/>
              <a:t>Effects from dislocations emitted from macrocrack</a:t>
            </a:r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テキスト プレースホルダー 2">
                <a:extLst>
                  <a:ext uri="{FF2B5EF4-FFF2-40B4-BE49-F238E27FC236}">
                    <a16:creationId xmlns:a16="http://schemas.microsoft.com/office/drawing/2014/main" id="{B44AEEFB-9BBF-91DB-2215-8DBB178441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651873" y="1786332"/>
                <a:ext cx="7463705" cy="3066370"/>
              </a:xfrm>
              <a:prstGeom prst="rect">
                <a:avLst/>
              </a:prstGeom>
            </p:spPr>
            <p:txBody>
              <a:bodyPr vert="horz"/>
              <a:lstStyle>
                <a:lvl1pPr marL="342000" indent="-342900" algn="l" defTabSz="914400" rtl="0" eaLnBrk="1" latinLnBrk="0" hangingPunct="1">
                  <a:lnSpc>
                    <a:spcPct val="100000"/>
                  </a:lnSpc>
                  <a:spcBef>
                    <a:spcPts val="1800"/>
                  </a:spcBef>
                  <a:spcAft>
                    <a:spcPts val="400"/>
                  </a:spcAft>
                  <a:buClr>
                    <a:schemeClr val="accent6">
                      <a:lumMod val="75000"/>
                    </a:schemeClr>
                  </a:buClr>
                  <a:buSzPct val="140000"/>
                  <a:buFont typeface="ヒラギノ角ゴ ProN W3"/>
                  <a:buChar char="|"/>
                  <a:defRPr kumimoji="1"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1600" indent="-392400" algn="l" defTabSz="914400" rtl="0" eaLnBrk="1" latinLnBrk="0" hangingPunct="1">
                  <a:lnSpc>
                    <a:spcPct val="100000"/>
                  </a:lnSpc>
                  <a:spcBef>
                    <a:spcPts val="225"/>
                  </a:spcBef>
                  <a:buClr>
                    <a:schemeClr val="accent6">
                      <a:lumMod val="75000"/>
                    </a:schemeClr>
                  </a:buClr>
                  <a:buSzPct val="75000"/>
                  <a:buFont typeface="Wingdings" charset="2"/>
                  <a:buChar char="n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410400" algn="l" defTabSz="914400" rtl="0" eaLnBrk="1" latinLnBrk="0" hangingPunct="1">
                  <a:lnSpc>
                    <a:spcPct val="100000"/>
                  </a:lnSpc>
                  <a:spcBef>
                    <a:spcPts val="25"/>
                  </a:spcBef>
                  <a:buClr>
                    <a:schemeClr val="accent6">
                      <a:lumMod val="75000"/>
                    </a:schemeClr>
                  </a:buClr>
                  <a:buSzPct val="120000"/>
                  <a:buFont typeface="HiraKakuProN-W3" charset="-128"/>
                  <a:buChar char="−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00000"/>
                  </a:lnSpc>
                  <a:spcBef>
                    <a:spcPts val="25"/>
                  </a:spcBef>
                  <a:buClr>
                    <a:schemeClr val="accent6">
                      <a:lumMod val="75000"/>
                    </a:schemeClr>
                  </a:buClr>
                  <a:buFont typeface="Arial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00000"/>
                  </a:lnSpc>
                  <a:spcBef>
                    <a:spcPts val="25"/>
                  </a:spcBef>
                  <a:buClr>
                    <a:schemeClr val="accent6">
                      <a:lumMod val="75000"/>
                    </a:schemeClr>
                  </a:buClr>
                  <a:buFont typeface="Arial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2"/>
                <a:r>
                  <a:rPr lang="en-US" altLang="ja-JP" sz="2200" dirty="0">
                    <a:latin typeface="+mj-ea"/>
                    <a:ea typeface="+mj-ea"/>
                  </a:rPr>
                  <a:t>Dislocations working in the </a:t>
                </a:r>
                <a:br>
                  <a:rPr lang="en-US" altLang="ja-JP" sz="2200" dirty="0">
                    <a:latin typeface="+mj-ea"/>
                    <a:ea typeface="+mj-ea"/>
                  </a:rPr>
                </a:br>
                <a:r>
                  <a:rPr lang="en-US" altLang="ja-JP" sz="2200" dirty="0">
                    <a:solidFill>
                      <a:srgbClr val="C00000"/>
                    </a:solidFill>
                    <a:latin typeface="+mj-ea"/>
                    <a:ea typeface="+mj-ea"/>
                  </a:rPr>
                  <a:t>shielding direction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2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ja-JP" sz="22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𝜎</m:t>
                        </m:r>
                      </m:e>
                      <m:sub>
                        <m:r>
                          <a:rPr lang="en-US" altLang="ja-JP" sz="2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𝑦𝑦</m:t>
                        </m:r>
                      </m:sub>
                    </m:sSub>
                    <m:r>
                      <a:rPr lang="en-US" altLang="ja-JP" sz="2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+mj-ea"/>
                      </a:rPr>
                      <m:t>&lt;0)</m:t>
                    </m:r>
                  </m:oMath>
                </a14:m>
                <a:br>
                  <a:rPr lang="en-US" altLang="ja-JP" sz="2200" dirty="0">
                    <a:solidFill>
                      <a:srgbClr val="C00000"/>
                    </a:solidFill>
                    <a:latin typeface="+mj-ea"/>
                    <a:ea typeface="+mj-ea"/>
                  </a:rPr>
                </a:br>
                <a:endParaRPr lang="ja-JP" altLang="en-US" sz="2200"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10" name="テキスト プレースホルダー 2">
                <a:extLst>
                  <a:ext uri="{FF2B5EF4-FFF2-40B4-BE49-F238E27FC236}">
                    <a16:creationId xmlns:a16="http://schemas.microsoft.com/office/drawing/2014/main" id="{B44AEEFB-9BBF-91DB-2215-8DBB17844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51873" y="1786332"/>
                <a:ext cx="7463705" cy="3066370"/>
              </a:xfrm>
              <a:prstGeom prst="rect">
                <a:avLst/>
              </a:prstGeom>
              <a:blipFill>
                <a:blip r:embed="rId7"/>
                <a:stretch>
                  <a:fillRect t="-493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プレースホルダー 2">
                <a:extLst>
                  <a:ext uri="{FF2B5EF4-FFF2-40B4-BE49-F238E27FC236}">
                    <a16:creationId xmlns:a16="http://schemas.microsoft.com/office/drawing/2014/main" id="{4334B8B6-A0A5-7D7B-FBCC-94821163384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52006" y="1794888"/>
                <a:ext cx="6169861" cy="3066370"/>
              </a:xfrm>
              <a:prstGeom prst="rect">
                <a:avLst/>
              </a:prstGeom>
            </p:spPr>
            <p:txBody>
              <a:bodyPr vert="horz"/>
              <a:lstStyle>
                <a:lvl1pPr marL="342000" indent="-342900" algn="l" defTabSz="914400" rtl="0" eaLnBrk="1" latinLnBrk="0" hangingPunct="1">
                  <a:lnSpc>
                    <a:spcPct val="100000"/>
                  </a:lnSpc>
                  <a:spcBef>
                    <a:spcPts val="1800"/>
                  </a:spcBef>
                  <a:spcAft>
                    <a:spcPts val="400"/>
                  </a:spcAft>
                  <a:buClr>
                    <a:schemeClr val="accent6">
                      <a:lumMod val="75000"/>
                    </a:schemeClr>
                  </a:buClr>
                  <a:buSzPct val="140000"/>
                  <a:buFont typeface="ヒラギノ角ゴ ProN W3"/>
                  <a:buChar char="|"/>
                  <a:defRPr kumimoji="1"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1600" indent="-392400" algn="l" defTabSz="914400" rtl="0" eaLnBrk="1" latinLnBrk="0" hangingPunct="1">
                  <a:lnSpc>
                    <a:spcPct val="100000"/>
                  </a:lnSpc>
                  <a:spcBef>
                    <a:spcPts val="225"/>
                  </a:spcBef>
                  <a:buClr>
                    <a:schemeClr val="accent6">
                      <a:lumMod val="75000"/>
                    </a:schemeClr>
                  </a:buClr>
                  <a:buSzPct val="75000"/>
                  <a:buFont typeface="Wingdings" charset="2"/>
                  <a:buChar char="n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410400" algn="l" defTabSz="914400" rtl="0" eaLnBrk="1" latinLnBrk="0" hangingPunct="1">
                  <a:lnSpc>
                    <a:spcPct val="100000"/>
                  </a:lnSpc>
                  <a:spcBef>
                    <a:spcPts val="25"/>
                  </a:spcBef>
                  <a:buClr>
                    <a:schemeClr val="accent6">
                      <a:lumMod val="75000"/>
                    </a:schemeClr>
                  </a:buClr>
                  <a:buSzPct val="120000"/>
                  <a:buFont typeface="HiraKakuProN-W3" charset="-128"/>
                  <a:buChar char="−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00000"/>
                  </a:lnSpc>
                  <a:spcBef>
                    <a:spcPts val="25"/>
                  </a:spcBef>
                  <a:buClr>
                    <a:schemeClr val="accent6">
                      <a:lumMod val="75000"/>
                    </a:schemeClr>
                  </a:buClr>
                  <a:buFont typeface="Arial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00000"/>
                  </a:lnSpc>
                  <a:spcBef>
                    <a:spcPts val="25"/>
                  </a:spcBef>
                  <a:buClr>
                    <a:schemeClr val="accent6">
                      <a:lumMod val="75000"/>
                    </a:schemeClr>
                  </a:buClr>
                  <a:buFont typeface="Arial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20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ja-JP" sz="2200" b="0" i="1" smtClean="0">
                            <a:latin typeface="Cambria Math" panose="02040503050406030204" pitchFamily="18" charset="0"/>
                          </a:rPr>
                          <m:t>𝑦𝑦</m:t>
                        </m:r>
                      </m:sub>
                    </m:sSub>
                  </m:oMath>
                </a14:m>
                <a:r>
                  <a:rPr lang="en-US" altLang="ja-JP" sz="2200" dirty="0">
                    <a:latin typeface="+mn-ea"/>
                  </a:rPr>
                  <a:t>(Black</a:t>
                </a:r>
                <a:r>
                  <a:rPr lang="ja-JP" altLang="en-US" sz="2200">
                    <a:latin typeface="+mn-ea"/>
                  </a:rPr>
                  <a:t>：</a:t>
                </a:r>
                <a:r>
                  <a:rPr lang="en-US" altLang="ja-JP" sz="2200" dirty="0">
                    <a:latin typeface="+mn-ea"/>
                  </a:rPr>
                  <a:t>positive</a:t>
                </a:r>
                <a:br>
                  <a:rPr lang="en-US" altLang="ja-JP" sz="2200" dirty="0">
                    <a:latin typeface="+mn-ea"/>
                  </a:rPr>
                </a:br>
                <a:r>
                  <a:rPr lang="ja-JP" altLang="en-US" sz="2200">
                    <a:latin typeface="+mn-ea"/>
                  </a:rPr>
                  <a:t>　</a:t>
                </a:r>
                <a:r>
                  <a:rPr lang="en-US" altLang="ja-JP" sz="2200" dirty="0">
                    <a:latin typeface="+mn-ea"/>
                  </a:rPr>
                  <a:t>   Red</a:t>
                </a:r>
                <a:r>
                  <a:rPr lang="ja-JP" altLang="en-US" sz="2200">
                    <a:latin typeface="+mn-ea"/>
                  </a:rPr>
                  <a:t>：</a:t>
                </a:r>
                <a:r>
                  <a:rPr lang="en-US" altLang="ja-JP" sz="2200" dirty="0">
                    <a:latin typeface="+mn-ea"/>
                  </a:rPr>
                  <a:t>negative)</a:t>
                </a:r>
                <a:endParaRPr lang="ja-JP" altLang="en-US" sz="2200">
                  <a:latin typeface="+mn-ea"/>
                </a:endParaRPr>
              </a:p>
            </p:txBody>
          </p:sp>
        </mc:Choice>
        <mc:Fallback xmlns="">
          <p:sp>
            <p:nvSpPr>
              <p:cNvPr id="11" name="テキスト プレースホルダー 2">
                <a:extLst>
                  <a:ext uri="{FF2B5EF4-FFF2-40B4-BE49-F238E27FC236}">
                    <a16:creationId xmlns:a16="http://schemas.microsoft.com/office/drawing/2014/main" id="{4334B8B6-A0A5-7D7B-FBCC-9482116338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2006" y="1794888"/>
                <a:ext cx="6169861" cy="3066370"/>
              </a:xfrm>
              <a:prstGeom prst="rect">
                <a:avLst/>
              </a:prstGeom>
              <a:blipFill>
                <a:blip r:embed="rId8"/>
                <a:stretch>
                  <a:fillRect t="-413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D779FC0-736C-53FD-1BDF-E6192DC499CC}"/>
              </a:ext>
            </a:extLst>
          </p:cNvPr>
          <p:cNvSpPr txBox="1"/>
          <p:nvPr/>
        </p:nvSpPr>
        <p:spPr>
          <a:xfrm>
            <a:off x="5159352" y="5533158"/>
            <a:ext cx="34435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" altLang="ja-JP" u="sng" dirty="0">
                <a:solidFill>
                  <a:srgbClr val="C00000"/>
                </a:solidFill>
                <a:latin typeface="+mj-ea"/>
                <a:ea typeface="+mj-ea"/>
              </a:rPr>
              <a:t>Dislocations acting in the </a:t>
            </a:r>
            <a:br>
              <a:rPr lang="en" altLang="ja-JP" u="sng" dirty="0">
                <a:solidFill>
                  <a:srgbClr val="C00000"/>
                </a:solidFill>
                <a:latin typeface="+mj-ea"/>
                <a:ea typeface="+mj-ea"/>
              </a:rPr>
            </a:br>
            <a:r>
              <a:rPr lang="en" altLang="ja-JP" u="sng" dirty="0">
                <a:solidFill>
                  <a:srgbClr val="C00000"/>
                </a:solidFill>
                <a:latin typeface="+mj-ea"/>
                <a:ea typeface="+mj-ea"/>
              </a:rPr>
              <a:t>shielding direction </a:t>
            </a:r>
            <a:r>
              <a:rPr lang="en" altLang="ja-JP" b="1" u="sng" dirty="0">
                <a:solidFill>
                  <a:srgbClr val="C00000"/>
                </a:solidFill>
                <a:latin typeface="+mj-ea"/>
                <a:ea typeface="+mj-ea"/>
              </a:rPr>
              <a:t>increase</a:t>
            </a:r>
            <a:endParaRPr kumimoji="1" lang="ja-JP" altLang="en-US" b="1" u="sng">
              <a:solidFill>
                <a:srgbClr val="C0000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994510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330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タイトル 1">
                <a:extLst>
                  <a:ext uri="{FF2B5EF4-FFF2-40B4-BE49-F238E27FC236}">
                    <a16:creationId xmlns:a16="http://schemas.microsoft.com/office/drawing/2014/main" id="{BD5638BF-F8F1-85D1-E2A9-4F1AB743A45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kumimoji="1" lang="en-US" altLang="ja-JP" dirty="0"/>
                  <a:t>Crack position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𝑛𝑒𝑎𝑟</m:t>
                        </m:r>
                      </m:sub>
                    </m:sSub>
                  </m:oMath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2" name="タイトル 1">
                <a:extLst>
                  <a:ext uri="{FF2B5EF4-FFF2-40B4-BE49-F238E27FC236}">
                    <a16:creationId xmlns:a16="http://schemas.microsoft.com/office/drawing/2014/main" id="{BD5638BF-F8F1-85D1-E2A9-4F1AB743A4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700" b="-3584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EF8E9EC-2B42-BC01-C7E4-E03CBEFFC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F6909-ABCB-BB45-AC56-A8377246EBB2}" type="slidenum">
              <a:rPr lang="ja-JP" altLang="en-US" smtClean="0"/>
              <a:pPr/>
              <a:t>45</a:t>
            </a:fld>
            <a:endParaRPr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F546A6B-AA33-1B6C-5B1B-42A11C058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Tokyo University of Science - Computational Materials Science Laboratory -</a:t>
            </a:r>
            <a:endParaRPr lang="ja-JP" altLang="en-US" dirty="0"/>
          </a:p>
        </p:txBody>
      </p: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09E42EF6-0E8D-9409-1C8E-82FA5D3DDB92}"/>
              </a:ext>
            </a:extLst>
          </p:cNvPr>
          <p:cNvGrpSpPr/>
          <p:nvPr/>
        </p:nvGrpSpPr>
        <p:grpSpPr>
          <a:xfrm>
            <a:off x="1215358" y="686393"/>
            <a:ext cx="6452630" cy="4681519"/>
            <a:chOff x="1215358" y="686393"/>
            <a:chExt cx="6452630" cy="4681519"/>
          </a:xfrm>
        </p:grpSpPr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E13CC554-C803-88E0-06BB-32412BD1A6C1}"/>
                </a:ext>
              </a:extLst>
            </p:cNvPr>
            <p:cNvSpPr txBox="1"/>
            <p:nvPr/>
          </p:nvSpPr>
          <p:spPr>
            <a:xfrm>
              <a:off x="2947089" y="5060135"/>
              <a:ext cx="12490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l-GR" altLang="ja-JP" sz="14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σ</a:t>
              </a:r>
              <a:r>
                <a:rPr lang="en" altLang="ja-JP" sz="1400" baseline="-250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app</a:t>
              </a:r>
              <a:r>
                <a:rPr lang="en-US" altLang="ja-JP" sz="14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[MPa]</a:t>
              </a:r>
              <a:endParaRPr kumimoji="1" lang="ja-JP" altLang="en-US" sz="14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7" name="グループ化 26">
              <a:extLst>
                <a:ext uri="{FF2B5EF4-FFF2-40B4-BE49-F238E27FC236}">
                  <a16:creationId xmlns:a16="http://schemas.microsoft.com/office/drawing/2014/main" id="{82B7125A-E3E4-ACDE-79DB-ACBCE94E0D81}"/>
                </a:ext>
              </a:extLst>
            </p:cNvPr>
            <p:cNvGrpSpPr/>
            <p:nvPr/>
          </p:nvGrpSpPr>
          <p:grpSpPr>
            <a:xfrm>
              <a:off x="1215358" y="686393"/>
              <a:ext cx="6452630" cy="4410600"/>
              <a:chOff x="1445879" y="1060432"/>
              <a:chExt cx="6010043" cy="4108076"/>
            </a:xfrm>
          </p:grpSpPr>
          <p:pic>
            <p:nvPicPr>
              <p:cNvPr id="6" name="図 5" descr="ダイアグラム&#10;&#10;自動的に生成された説明">
                <a:extLst>
                  <a:ext uri="{FF2B5EF4-FFF2-40B4-BE49-F238E27FC236}">
                    <a16:creationId xmlns:a16="http://schemas.microsoft.com/office/drawing/2014/main" id="{6EC5F299-F1CD-5CCA-AF52-D8DA3AAC21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1753285" y="1060432"/>
                <a:ext cx="5589865" cy="3964177"/>
              </a:xfrm>
              <a:prstGeom prst="rect">
                <a:avLst/>
              </a:prstGeom>
            </p:spPr>
          </p:pic>
          <p:pic>
            <p:nvPicPr>
              <p:cNvPr id="15" name="図 14">
                <a:extLst>
                  <a:ext uri="{FF2B5EF4-FFF2-40B4-BE49-F238E27FC236}">
                    <a16:creationId xmlns:a16="http://schemas.microsoft.com/office/drawing/2014/main" id="{66270E76-6AEC-D54C-ED3C-8E77D4448B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45879" y="1539285"/>
                <a:ext cx="368276" cy="3006472"/>
              </a:xfrm>
              <a:prstGeom prst="rect">
                <a:avLst/>
              </a:prstGeom>
            </p:spPr>
          </p:pic>
          <p:pic>
            <p:nvPicPr>
              <p:cNvPr id="24" name="図 23">
                <a:extLst>
                  <a:ext uri="{FF2B5EF4-FFF2-40B4-BE49-F238E27FC236}">
                    <a16:creationId xmlns:a16="http://schemas.microsoft.com/office/drawing/2014/main" id="{0E0B87A4-2A95-9A9D-D207-5A7917FB6B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2139630" y="4880709"/>
                <a:ext cx="5316292" cy="287799"/>
              </a:xfrm>
              <a:prstGeom prst="rect">
                <a:avLst/>
              </a:prstGeom>
            </p:spPr>
          </p:pic>
        </p:grp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9D199D81-CAC9-50C5-3FC5-A561BCB9C4DF}"/>
                </a:ext>
              </a:extLst>
            </p:cNvPr>
            <p:cNvSpPr txBox="1"/>
            <p:nvPr/>
          </p:nvSpPr>
          <p:spPr>
            <a:xfrm>
              <a:off x="5575029" y="5054419"/>
              <a:ext cx="12490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l-GR" altLang="ja-JP" sz="14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σ</a:t>
              </a:r>
              <a:r>
                <a:rPr lang="en" altLang="ja-JP" sz="1400" baseline="-250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app</a:t>
              </a:r>
              <a:r>
                <a:rPr lang="en-US" altLang="ja-JP" sz="14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[MPa]</a:t>
              </a:r>
              <a:endParaRPr kumimoji="1" lang="ja-JP" altLang="en-US" sz="14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541FD585-6A8C-FE97-433A-87A804D98330}"/>
              </a:ext>
            </a:extLst>
          </p:cNvPr>
          <p:cNvSpPr/>
          <p:nvPr/>
        </p:nvSpPr>
        <p:spPr>
          <a:xfrm>
            <a:off x="1062009" y="5657491"/>
            <a:ext cx="7208360" cy="84963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11150" lvl="2" indent="-311150" algn="ctr"/>
            <a:r>
              <a:rPr lang="en-US" altLang="ja-JP" sz="2400" u="sng" dirty="0">
                <a:solidFill>
                  <a:schemeClr val="tx1"/>
                </a:solidFill>
                <a:latin typeface="+mj-ea"/>
                <a:ea typeface="+mj-ea"/>
              </a:rPr>
              <a:t>When microcrack is far away from macrocrack, </a:t>
            </a:r>
            <a:br>
              <a:rPr lang="en-US" altLang="ja-JP" sz="2400" u="sng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ja-JP" sz="2400" u="sng" dirty="0">
                <a:solidFill>
                  <a:schemeClr val="tx1"/>
                </a:solidFill>
                <a:latin typeface="+mj-ea"/>
                <a:ea typeface="+mj-ea"/>
              </a:rPr>
              <a:t>the ratio of shielding effect to load is large</a:t>
            </a:r>
          </a:p>
        </p:txBody>
      </p: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A36895D1-D928-7518-4DFA-6E7AC0536D4D}"/>
              </a:ext>
            </a:extLst>
          </p:cNvPr>
          <p:cNvGrpSpPr/>
          <p:nvPr/>
        </p:nvGrpSpPr>
        <p:grpSpPr>
          <a:xfrm rot="10800000">
            <a:off x="3517082" y="1310544"/>
            <a:ext cx="370410" cy="500203"/>
            <a:chOff x="10010090" y="3948102"/>
            <a:chExt cx="370410" cy="500203"/>
          </a:xfrm>
        </p:grpSpPr>
        <p:cxnSp>
          <p:nvCxnSpPr>
            <p:cNvPr id="30" name="直線矢印コネクタ 29">
              <a:extLst>
                <a:ext uri="{FF2B5EF4-FFF2-40B4-BE49-F238E27FC236}">
                  <a16:creationId xmlns:a16="http://schemas.microsoft.com/office/drawing/2014/main" id="{8854B633-C292-256B-64BE-4360A58C3F05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10195118" y="4122150"/>
              <a:ext cx="0" cy="15368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円/楕円 30">
              <a:extLst>
                <a:ext uri="{FF2B5EF4-FFF2-40B4-BE49-F238E27FC236}">
                  <a16:creationId xmlns:a16="http://schemas.microsoft.com/office/drawing/2014/main" id="{8831A334-BAD2-E290-62B5-57941367166A}"/>
                </a:ext>
              </a:extLst>
            </p:cNvPr>
            <p:cNvSpPr/>
            <p:nvPr/>
          </p:nvSpPr>
          <p:spPr>
            <a:xfrm>
              <a:off x="10010090" y="3948102"/>
              <a:ext cx="370410" cy="500203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D5AAEE59-DD83-E812-294A-926016737146}"/>
                  </a:ext>
                </a:extLst>
              </p:cNvPr>
              <p:cNvSpPr txBox="1"/>
              <p:nvPr/>
            </p:nvSpPr>
            <p:spPr>
              <a:xfrm>
                <a:off x="5271247" y="220177"/>
                <a:ext cx="4072721" cy="3716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sz="1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ja-JP" sz="1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ja-JP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𝑎𝑝𝑝</m:t>
                          </m:r>
                        </m:sub>
                      </m:sSub>
                      <m:r>
                        <a:rPr lang="en-US" altLang="ja-JP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ja-JP" sz="1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altLang="ja-JP" sz="1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ja-JP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𝑦𝑦</m:t>
                          </m:r>
                        </m:sub>
                        <m:sup>
                          <m:r>
                            <a:rPr lang="en-US" altLang="ja-JP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𝑚𝑎𝑐𝑟𝑜𝑐𝑟𝑎𝑐𝑘</m:t>
                          </m:r>
                        </m:sup>
                      </m:sSubSup>
                      <m:r>
                        <a:rPr lang="en-US" altLang="ja-JP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ja-JP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altLang="ja-JP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ja-JP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𝑦𝑦</m:t>
                          </m:r>
                        </m:sub>
                        <m:sup>
                          <m:r>
                            <a:rPr lang="en-US" altLang="ja-JP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𝑚𝑎𝑐𝑟𝑜</m:t>
                          </m:r>
                          <m:r>
                            <a:rPr lang="en-US" altLang="ja-JP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n-US" altLang="ja-JP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𝑑𝑖𝑠𝑙𝑜𝑐𝑎𝑡𝑖𝑜𝑛𝑠</m:t>
                          </m:r>
                        </m:sup>
                      </m:sSubSup>
                    </m:oMath>
                  </m:oMathPara>
                </a14:m>
                <a:endParaRPr kumimoji="1" lang="ja-JP" altLang="en-US" sz="16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D5AAEE59-DD83-E812-294A-9260167371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1247" y="220177"/>
                <a:ext cx="4072721" cy="37164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4C8468A0-63BD-A2FC-10B6-3C5BDB1C6BE3}"/>
              </a:ext>
            </a:extLst>
          </p:cNvPr>
          <p:cNvSpPr/>
          <p:nvPr/>
        </p:nvSpPr>
        <p:spPr>
          <a:xfrm>
            <a:off x="2045164" y="750243"/>
            <a:ext cx="2711253" cy="201501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2206252"/>
      </p:ext>
    </p:extLst>
  </p:cSld>
  <p:clrMapOvr>
    <a:masterClrMapping/>
  </p:clrMapOvr>
</p:sld>
</file>

<file path=ppt/theme/theme1.xml><?xml version="1.0" encoding="utf-8"?>
<a:theme xmlns:a="http://schemas.openxmlformats.org/drawingml/2006/main" name="takalab_theme_160315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akalab_theme_font_160315">
      <a:majorFont>
        <a:latin typeface="Helvetica Light"/>
        <a:ea typeface="メイリオ"/>
        <a:cs typeface=""/>
      </a:majorFont>
      <a:minorFont>
        <a:latin typeface="Helvetica Light"/>
        <a:ea typeface="メイリオ"/>
        <a:cs typeface=""/>
      </a:minorFont>
    </a:fontScheme>
    <a:fmtScheme name="ホワイ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kumimoji="1" sz="240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akalab_theme_160315" id="{B54A7E4A-1E6C-DA4C-BF26-A76FBCBE825D}" vid="{B1DEBFC3-D685-EF4B-8C5A-0536FAB9B1D1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takalab_theme</Template>
  <TotalTime>66566</TotalTime>
  <Words>2689</Words>
  <Application>Microsoft Macintosh PowerPoint</Application>
  <PresentationFormat>画面に合わせる (4:3)</PresentationFormat>
  <Paragraphs>544</Paragraphs>
  <Slides>45</Slides>
  <Notes>12</Notes>
  <HiddenSlides>17</HiddenSlides>
  <MMClips>13</MMClips>
  <ScaleCrop>false</ScaleCrop>
  <HeadingPairs>
    <vt:vector size="6" baseType="variant">
      <vt:variant>
        <vt:lpstr>使用されているフォント</vt:lpstr>
      </vt:variant>
      <vt:variant>
        <vt:i4>10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45</vt:i4>
      </vt:variant>
    </vt:vector>
  </HeadingPairs>
  <TitlesOfParts>
    <vt:vector size="56" baseType="lpstr">
      <vt:lpstr>.AppleSystemUIFont</vt:lpstr>
      <vt:lpstr>HiraKakuProN-W3</vt:lpstr>
      <vt:lpstr>ヒラギノ角ゴ ProN W3</vt:lpstr>
      <vt:lpstr>メイリオ</vt:lpstr>
      <vt:lpstr>游ゴシック</vt:lpstr>
      <vt:lpstr>Arial</vt:lpstr>
      <vt:lpstr>Cambria Math</vt:lpstr>
      <vt:lpstr>Helvetica Light</vt:lpstr>
      <vt:lpstr>Times New Roman</vt:lpstr>
      <vt:lpstr>Wingdings</vt:lpstr>
      <vt:lpstr>takalab_theme_160315</vt:lpstr>
      <vt:lpstr>Study on fracture toughness and ductile-brittle transition based on interaction of cracks and dislocations</vt:lpstr>
      <vt:lpstr>PowerPoint プレゼンテーション</vt:lpstr>
      <vt:lpstr>2D dislocation simulation of BDT </vt:lpstr>
      <vt:lpstr>Decouple model and coupled model</vt:lpstr>
      <vt:lpstr>Objectives</vt:lpstr>
      <vt:lpstr>Analysis procedure </vt:lpstr>
      <vt:lpstr>Coupled model</vt:lpstr>
      <vt:lpstr>Three fracture types of microcrack</vt:lpstr>
      <vt:lpstr>Classification of fracture type</vt:lpstr>
      <vt:lpstr>Three fracture types of microcrack</vt:lpstr>
      <vt:lpstr>Fracture type mapping</vt:lpstr>
      <vt:lpstr>BDTT </vt:lpstr>
      <vt:lpstr>Why does fracture type shift?</vt:lpstr>
      <vt:lpstr>Main factors that shift the type of fracture</vt:lpstr>
      <vt:lpstr>Temperature T</vt:lpstr>
      <vt:lpstr>Temperature &lt;T=93 K&gt;</vt:lpstr>
      <vt:lpstr>Temperature &lt;T=213 K&gt;</vt:lpstr>
      <vt:lpstr>Temperature T</vt:lpstr>
      <vt:lpstr>Temperature T</vt:lpstr>
      <vt:lpstr>Main factors that shift the type of fracture</vt:lpstr>
      <vt:lpstr>Crack length 2a</vt:lpstr>
      <vt:lpstr>Crack length 2a</vt:lpstr>
      <vt:lpstr>Crack length 2a</vt:lpstr>
      <vt:lpstr>Main factors that shift the type of fracture</vt:lpstr>
      <vt:lpstr>Crack position X_near</vt:lpstr>
      <vt:lpstr>Crack position X_near</vt:lpstr>
      <vt:lpstr>Conclusions</vt:lpstr>
      <vt:lpstr>Conclusions</vt:lpstr>
      <vt:lpstr>Low-temperature embrittlement</vt:lpstr>
      <vt:lpstr>Crack-dislocation interaction</vt:lpstr>
      <vt:lpstr>Crack-tip blunting</vt:lpstr>
      <vt:lpstr>Macrocrack model</vt:lpstr>
      <vt:lpstr>Temperature dependence of dislocation</vt:lpstr>
      <vt:lpstr>Microcrack model</vt:lpstr>
      <vt:lpstr>Crack position X_near</vt:lpstr>
      <vt:lpstr>Crack position X_near</vt:lpstr>
      <vt:lpstr>Crack position X_near</vt:lpstr>
      <vt:lpstr>Crack position X_near</vt:lpstr>
      <vt:lpstr>Crack position X_near</vt:lpstr>
      <vt:lpstr>Temperature T</vt:lpstr>
      <vt:lpstr>Temperature T</vt:lpstr>
      <vt:lpstr>Temperature T</vt:lpstr>
      <vt:lpstr>Crack position  &lt;X_near=1.0 μm&gt;</vt:lpstr>
      <vt:lpstr>Crack position  &lt;X_near=3.0 μm&gt;</vt:lpstr>
      <vt:lpstr>Crack position X_near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Taiki</dc:creator>
  <cp:lastModifiedBy>Akiyuki TAKAHASHI</cp:lastModifiedBy>
  <cp:revision>1438</cp:revision>
  <dcterms:created xsi:type="dcterms:W3CDTF">2018-05-10T14:32:03Z</dcterms:created>
  <dcterms:modified xsi:type="dcterms:W3CDTF">2023-05-18T08:13:25Z</dcterms:modified>
</cp:coreProperties>
</file>